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ptos" charset="1" panose="020B0004020202020204"/>
      <p:regular r:id="rId24"/>
    </p:embeddedFont>
    <p:embeddedFont>
      <p:font typeface="Aptos Bold" charset="1" panose="020B0004020202020204"/>
      <p:regular r:id="rId25"/>
    </p:embeddedFont>
    <p:embeddedFont>
      <p:font typeface="Aptos Italics" charset="1" panose="020B000402020209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fonts/font27.fntdata" Type="http://schemas.openxmlformats.org/officeDocument/2006/relationships/font"/><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571117" y="1542210"/>
            <a:ext cx="6811583" cy="1752757"/>
            <a:chOff x="0" y="0"/>
            <a:chExt cx="9082111" cy="2337010"/>
          </a:xfrm>
        </p:grpSpPr>
        <p:sp>
          <p:nvSpPr>
            <p:cNvPr name="Freeform 3" id="3"/>
            <p:cNvSpPr/>
            <p:nvPr/>
          </p:nvSpPr>
          <p:spPr>
            <a:xfrm flipH="false" flipV="false" rot="0">
              <a:off x="0" y="0"/>
              <a:ext cx="9082112" cy="2337010"/>
            </a:xfrm>
            <a:custGeom>
              <a:avLst/>
              <a:gdLst/>
              <a:ahLst/>
              <a:cxnLst/>
              <a:rect r="r" b="b" t="t" l="l"/>
              <a:pathLst>
                <a:path h="2337010" w="9082112">
                  <a:moveTo>
                    <a:pt x="0" y="0"/>
                  </a:moveTo>
                  <a:lnTo>
                    <a:pt x="9082112" y="0"/>
                  </a:lnTo>
                  <a:lnTo>
                    <a:pt x="9082112" y="2337010"/>
                  </a:lnTo>
                  <a:lnTo>
                    <a:pt x="0" y="2337010"/>
                  </a:lnTo>
                  <a:close/>
                </a:path>
              </a:pathLst>
            </a:custGeom>
            <a:blipFill>
              <a:blip r:embed="rId3">
                <a:alphaModFix amt="0"/>
              </a:blip>
              <a:stretch>
                <a:fillRect l="0" t="-57825" r="-40954" b="-55643"/>
              </a:stretch>
            </a:blipFill>
          </p:spPr>
        </p:sp>
        <p:sp>
          <p:nvSpPr>
            <p:cNvPr name="TextBox 4" id="4"/>
            <p:cNvSpPr txBox="true"/>
            <p:nvPr/>
          </p:nvSpPr>
          <p:spPr>
            <a:xfrm>
              <a:off x="0" y="0"/>
              <a:ext cx="9082111" cy="2337010"/>
            </a:xfrm>
            <a:prstGeom prst="rect">
              <a:avLst/>
            </a:prstGeom>
          </p:spPr>
          <p:txBody>
            <a:bodyPr anchor="ctr" rtlCol="false" tIns="0" lIns="0" bIns="0" rIns="0"/>
            <a:lstStyle/>
            <a:p>
              <a:pPr algn="l">
                <a:lnSpc>
                  <a:spcPts val="6179"/>
                </a:lnSpc>
              </a:pPr>
              <a:r>
                <a:rPr lang="en-US" sz="5149">
                  <a:solidFill>
                    <a:srgbClr val="051D3A"/>
                  </a:solidFill>
                  <a:latin typeface="Aptos"/>
                  <a:ea typeface="Aptos"/>
                  <a:cs typeface="Aptos"/>
                  <a:sym typeface="Aptos"/>
                </a:rPr>
                <a:t>Opti-Money at Bank Hapoalim, Israel</a:t>
              </a:r>
            </a:p>
          </p:txBody>
        </p:sp>
      </p:grpSp>
      <p:sp>
        <p:nvSpPr>
          <p:cNvPr name="AutoShape 5" id="5"/>
          <p:cNvSpPr/>
          <p:nvPr/>
        </p:nvSpPr>
        <p:spPr>
          <a:xfrm flipV="true">
            <a:off x="548512" y="5143500"/>
            <a:ext cx="9659041" cy="4762"/>
          </a:xfrm>
          <a:prstGeom prst="line">
            <a:avLst/>
          </a:prstGeom>
          <a:ln cap="rnd" w="9525">
            <a:solidFill>
              <a:srgbClr val="3371A5"/>
            </a:solidFill>
            <a:prstDash val="solid"/>
            <a:headEnd type="none" len="sm" w="sm"/>
            <a:tailEnd type="none" len="sm" w="sm"/>
          </a:ln>
        </p:spPr>
      </p:sp>
      <p:grpSp>
        <p:nvGrpSpPr>
          <p:cNvPr name="Group 6" id="6"/>
          <p:cNvGrpSpPr/>
          <p:nvPr/>
        </p:nvGrpSpPr>
        <p:grpSpPr>
          <a:xfrm rot="0">
            <a:off x="548512" y="5428577"/>
            <a:ext cx="4370032" cy="3297949"/>
            <a:chOff x="0" y="0"/>
            <a:chExt cx="5826709" cy="4397265"/>
          </a:xfrm>
        </p:grpSpPr>
        <p:sp>
          <p:nvSpPr>
            <p:cNvPr name="Freeform 7" id="7"/>
            <p:cNvSpPr/>
            <p:nvPr/>
          </p:nvSpPr>
          <p:spPr>
            <a:xfrm flipH="false" flipV="false" rot="0">
              <a:off x="0" y="0"/>
              <a:ext cx="5826710" cy="4397265"/>
            </a:xfrm>
            <a:custGeom>
              <a:avLst/>
              <a:gdLst/>
              <a:ahLst/>
              <a:cxnLst/>
              <a:rect r="r" b="b" t="t" l="l"/>
              <a:pathLst>
                <a:path h="4397265" w="5826710">
                  <a:moveTo>
                    <a:pt x="0" y="0"/>
                  </a:moveTo>
                  <a:lnTo>
                    <a:pt x="5826710" y="0"/>
                  </a:lnTo>
                  <a:lnTo>
                    <a:pt x="5826710" y="4397265"/>
                  </a:lnTo>
                  <a:lnTo>
                    <a:pt x="0" y="4397265"/>
                  </a:lnTo>
                  <a:close/>
                </a:path>
              </a:pathLst>
            </a:custGeom>
            <a:blipFill>
              <a:blip r:embed="rId3">
                <a:alphaModFix amt="0"/>
              </a:blip>
              <a:stretch>
                <a:fillRect l="0" t="-61768" r="-173062" b="20763"/>
              </a:stretch>
            </a:blipFill>
          </p:spPr>
        </p:sp>
        <p:sp>
          <p:nvSpPr>
            <p:cNvPr name="TextBox 8" id="8"/>
            <p:cNvSpPr txBox="true"/>
            <p:nvPr/>
          </p:nvSpPr>
          <p:spPr>
            <a:xfrm>
              <a:off x="0" y="0"/>
              <a:ext cx="5826709" cy="4397265"/>
            </a:xfrm>
            <a:prstGeom prst="rect">
              <a:avLst/>
            </a:prstGeom>
          </p:spPr>
          <p:txBody>
            <a:bodyPr anchor="ctr" rtlCol="false" tIns="0" lIns="0" bIns="0" rIns="0"/>
            <a:lstStyle/>
            <a:p>
              <a:pPr algn="l" marL="568889" indent="-284445" lvl="1">
                <a:lnSpc>
                  <a:spcPts val="3161"/>
                </a:lnSpc>
                <a:buFont typeface="Arial"/>
                <a:buChar char="•"/>
              </a:pPr>
              <a:r>
                <a:rPr lang="en-US" sz="2634">
                  <a:solidFill>
                    <a:srgbClr val="000000"/>
                  </a:solidFill>
                  <a:latin typeface="Aptos"/>
                  <a:ea typeface="Aptos"/>
                  <a:cs typeface="Aptos"/>
                  <a:sym typeface="Aptos"/>
                </a:rPr>
                <a:t>Scope </a:t>
              </a:r>
            </a:p>
            <a:p>
              <a:pPr algn="l" marL="568889" indent="-284445" lvl="1">
                <a:lnSpc>
                  <a:spcPts val="3161"/>
                </a:lnSpc>
                <a:buFont typeface="Arial"/>
                <a:buChar char="•"/>
              </a:pPr>
              <a:r>
                <a:rPr lang="en-US" sz="2634">
                  <a:solidFill>
                    <a:srgbClr val="000000"/>
                  </a:solidFill>
                  <a:latin typeface="Aptos"/>
                  <a:ea typeface="Aptos"/>
                  <a:cs typeface="Aptos"/>
                  <a:sym typeface="Aptos"/>
                </a:rPr>
                <a:t>Decision problems</a:t>
              </a:r>
            </a:p>
            <a:p>
              <a:pPr algn="l" marL="568889" indent="-284445" lvl="1">
                <a:lnSpc>
                  <a:spcPts val="3161"/>
                </a:lnSpc>
                <a:buFont typeface="Arial"/>
                <a:buChar char="•"/>
              </a:pPr>
              <a:r>
                <a:rPr lang="en-US" sz="2634">
                  <a:solidFill>
                    <a:srgbClr val="000000"/>
                  </a:solidFill>
                  <a:latin typeface="Aptos"/>
                  <a:ea typeface="Aptos"/>
                  <a:cs typeface="Aptos"/>
                  <a:sym typeface="Aptos"/>
                </a:rPr>
                <a:t>Methodology</a:t>
              </a:r>
            </a:p>
            <a:p>
              <a:pPr algn="l" marL="568889" indent="-284445" lvl="1">
                <a:lnSpc>
                  <a:spcPts val="3161"/>
                </a:lnSpc>
                <a:buFont typeface="Arial"/>
                <a:buChar char="•"/>
              </a:pPr>
              <a:r>
                <a:rPr lang="en-US" sz="2634">
                  <a:solidFill>
                    <a:srgbClr val="000000"/>
                  </a:solidFill>
                  <a:latin typeface="Aptos"/>
                  <a:ea typeface="Aptos"/>
                  <a:cs typeface="Aptos"/>
                  <a:sym typeface="Aptos"/>
                </a:rPr>
                <a:t>Data</a:t>
              </a:r>
            </a:p>
            <a:p>
              <a:pPr algn="l" marL="568889" indent="-284445" lvl="1">
                <a:lnSpc>
                  <a:spcPts val="3161"/>
                </a:lnSpc>
                <a:buFont typeface="Arial"/>
                <a:buChar char="•"/>
              </a:pPr>
              <a:r>
                <a:rPr lang="en-US" sz="2634">
                  <a:solidFill>
                    <a:srgbClr val="000000"/>
                  </a:solidFill>
                  <a:latin typeface="Aptos"/>
                  <a:ea typeface="Aptos"/>
                  <a:cs typeface="Aptos"/>
                  <a:sym typeface="Aptos"/>
                </a:rPr>
                <a:t>Objective &amp; constraints </a:t>
              </a:r>
            </a:p>
            <a:p>
              <a:pPr algn="l" marL="568889" indent="-284445" lvl="1">
                <a:lnSpc>
                  <a:spcPts val="3161"/>
                </a:lnSpc>
                <a:buFont typeface="Arial"/>
                <a:buChar char="•"/>
              </a:pPr>
              <a:r>
                <a:rPr lang="en-US" sz="2634">
                  <a:solidFill>
                    <a:srgbClr val="000000"/>
                  </a:solidFill>
                  <a:latin typeface="Aptos"/>
                  <a:ea typeface="Aptos"/>
                  <a:cs typeface="Aptos"/>
                  <a:sym typeface="Aptos"/>
                </a:rPr>
                <a:t>Users </a:t>
              </a:r>
            </a:p>
            <a:p>
              <a:pPr algn="l" marL="568889" indent="-284445" lvl="1">
                <a:lnSpc>
                  <a:spcPts val="3161"/>
                </a:lnSpc>
                <a:buFont typeface="Arial"/>
                <a:buChar char="•"/>
              </a:pPr>
              <a:r>
                <a:rPr lang="en-US" sz="2634">
                  <a:solidFill>
                    <a:srgbClr val="000000"/>
                  </a:solidFill>
                  <a:latin typeface="Aptos"/>
                  <a:ea typeface="Aptos"/>
                  <a:cs typeface="Aptos"/>
                  <a:sym typeface="Aptos"/>
                </a:rPr>
                <a:t>Benefits </a:t>
              </a:r>
            </a:p>
            <a:p>
              <a:pPr algn="l" marL="568889" indent="-284445" lvl="1">
                <a:lnSpc>
                  <a:spcPts val="3161"/>
                </a:lnSpc>
                <a:buFont typeface="Arial"/>
                <a:buChar char="•"/>
              </a:pPr>
              <a:r>
                <a:rPr lang="en-US" sz="2634">
                  <a:solidFill>
                    <a:srgbClr val="000000"/>
                  </a:solidFill>
                  <a:latin typeface="Aptos"/>
                  <a:ea typeface="Aptos"/>
                  <a:cs typeface="Aptos"/>
                  <a:sym typeface="Aptos"/>
                </a:rPr>
                <a:t>Limitations</a:t>
              </a:r>
            </a:p>
          </p:txBody>
        </p:sp>
      </p:grpSp>
      <p:grpSp>
        <p:nvGrpSpPr>
          <p:cNvPr name="Group 9" id="9"/>
          <p:cNvGrpSpPr/>
          <p:nvPr/>
        </p:nvGrpSpPr>
        <p:grpSpPr>
          <a:xfrm rot="0">
            <a:off x="850392" y="8532005"/>
            <a:ext cx="9485725" cy="1668562"/>
            <a:chOff x="0" y="0"/>
            <a:chExt cx="12647633" cy="2224750"/>
          </a:xfrm>
        </p:grpSpPr>
        <p:sp>
          <p:nvSpPr>
            <p:cNvPr name="Freeform 10" id="10"/>
            <p:cNvSpPr/>
            <p:nvPr/>
          </p:nvSpPr>
          <p:spPr>
            <a:xfrm flipH="false" flipV="false" rot="0">
              <a:off x="0" y="0"/>
              <a:ext cx="12647633" cy="2224749"/>
            </a:xfrm>
            <a:custGeom>
              <a:avLst/>
              <a:gdLst/>
              <a:ahLst/>
              <a:cxnLst/>
              <a:rect r="r" b="b" t="t" l="l"/>
              <a:pathLst>
                <a:path h="2224749" w="12647633">
                  <a:moveTo>
                    <a:pt x="0" y="0"/>
                  </a:moveTo>
                  <a:lnTo>
                    <a:pt x="12647633" y="0"/>
                  </a:lnTo>
                  <a:lnTo>
                    <a:pt x="12647633" y="2224749"/>
                  </a:lnTo>
                  <a:lnTo>
                    <a:pt x="0" y="2224749"/>
                  </a:lnTo>
                  <a:close/>
                </a:path>
              </a:pathLst>
            </a:custGeom>
            <a:blipFill>
              <a:blip r:embed="rId3">
                <a:alphaModFix amt="0"/>
              </a:blip>
              <a:stretch>
                <a:fillRect l="0" t="-52886" r="39269" b="18342"/>
              </a:stretch>
            </a:blipFill>
          </p:spPr>
        </p:sp>
        <p:sp>
          <p:nvSpPr>
            <p:cNvPr name="TextBox 11" id="11"/>
            <p:cNvSpPr txBox="true"/>
            <p:nvPr/>
          </p:nvSpPr>
          <p:spPr>
            <a:xfrm>
              <a:off x="0" y="9525"/>
              <a:ext cx="12647633" cy="2215225"/>
            </a:xfrm>
            <a:prstGeom prst="rect">
              <a:avLst/>
            </a:prstGeom>
          </p:spPr>
          <p:txBody>
            <a:bodyPr anchor="ctr" rtlCol="false" tIns="0" lIns="0" bIns="0" rIns="0"/>
            <a:lstStyle/>
            <a:p>
              <a:pPr algn="l">
                <a:lnSpc>
                  <a:spcPts val="2585"/>
                </a:lnSpc>
              </a:pPr>
              <a:r>
                <a:rPr lang="en-US" sz="2154">
                  <a:solidFill>
                    <a:srgbClr val="000000"/>
                  </a:solidFill>
                  <a:latin typeface="Aptos"/>
                  <a:ea typeface="Aptos"/>
                  <a:cs typeface="Aptos"/>
                  <a:sym typeface="Aptos"/>
                </a:rPr>
                <a:t>Avriel • Pri-Zan • Meiri • Peretz   Interfaces, 2004</a:t>
              </a:r>
            </a:p>
          </p:txBody>
        </p:sp>
      </p:grpSp>
      <p:sp>
        <p:nvSpPr>
          <p:cNvPr name="AutoShape 12" id="12"/>
          <p:cNvSpPr/>
          <p:nvPr/>
        </p:nvSpPr>
        <p:spPr>
          <a:xfrm>
            <a:off x="842776" y="9620949"/>
            <a:ext cx="12751251" cy="89979"/>
          </a:xfrm>
          <a:prstGeom prst="line">
            <a:avLst/>
          </a:prstGeom>
          <a:ln cap="rnd" w="9525">
            <a:solidFill>
              <a:srgbClr val="D5D0C5"/>
            </a:solidFill>
            <a:prstDash val="solid"/>
            <a:headEnd type="none" len="sm" w="sm"/>
            <a:tailEnd type="none" len="sm" w="sm"/>
          </a:ln>
        </p:spPr>
      </p:sp>
      <p:grpSp>
        <p:nvGrpSpPr>
          <p:cNvPr name="Group 13" id="13"/>
          <p:cNvGrpSpPr/>
          <p:nvPr/>
        </p:nvGrpSpPr>
        <p:grpSpPr>
          <a:xfrm rot="0">
            <a:off x="850392" y="9710928"/>
            <a:ext cx="14950440" cy="451540"/>
            <a:chOff x="0" y="0"/>
            <a:chExt cx="19933920" cy="602053"/>
          </a:xfrm>
        </p:grpSpPr>
        <p:sp>
          <p:nvSpPr>
            <p:cNvPr name="Freeform 14" id="14"/>
            <p:cNvSpPr/>
            <p:nvPr/>
          </p:nvSpPr>
          <p:spPr>
            <a:xfrm flipH="false" flipV="false" rot="0">
              <a:off x="0" y="0"/>
              <a:ext cx="19933920" cy="602053"/>
            </a:xfrm>
            <a:custGeom>
              <a:avLst/>
              <a:gdLst/>
              <a:ahLst/>
              <a:cxnLst/>
              <a:rect r="r" b="b" t="t" l="l"/>
              <a:pathLst>
                <a:path h="602053" w="19933920">
                  <a:moveTo>
                    <a:pt x="0" y="0"/>
                  </a:moveTo>
                  <a:lnTo>
                    <a:pt x="19933920" y="0"/>
                  </a:lnTo>
                  <a:lnTo>
                    <a:pt x="19933920" y="602053"/>
                  </a:lnTo>
                  <a:lnTo>
                    <a:pt x="0" y="602053"/>
                  </a:lnTo>
                  <a:close/>
                </a:path>
              </a:pathLst>
            </a:custGeom>
            <a:blipFill>
              <a:blip r:embed="rId3">
                <a:alphaModFix amt="0"/>
              </a:blip>
              <a:stretch>
                <a:fillRect l="0" t="-617809" r="0" b="-572486"/>
              </a:stretch>
            </a:blipFill>
          </p:spPr>
        </p:sp>
        <p:sp>
          <p:nvSpPr>
            <p:cNvPr name="TextBox 15" id="15"/>
            <p:cNvSpPr txBox="true"/>
            <p:nvPr/>
          </p:nvSpPr>
          <p:spPr>
            <a:xfrm>
              <a:off x="0" y="-9525"/>
              <a:ext cx="19933920" cy="611578"/>
            </a:xfrm>
            <a:prstGeom prst="rect">
              <a:avLst/>
            </a:prstGeom>
          </p:spPr>
          <p:txBody>
            <a:bodyPr anchor="ctr" rtlCol="false" tIns="0" lIns="0" bIns="0" rIns="0"/>
            <a:lstStyle/>
            <a:p>
              <a:pPr algn="l">
                <a:lnSpc>
                  <a:spcPts val="2903"/>
                </a:lnSpc>
              </a:pPr>
              <a:r>
                <a:rPr lang="en-US" sz="2419">
                  <a:solidFill>
                    <a:srgbClr val="000000"/>
                  </a:solidFill>
                  <a:latin typeface="Aptos"/>
                  <a:ea typeface="Aptos"/>
                  <a:cs typeface="Aptos"/>
                  <a:sym typeface="Aptos"/>
                </a:rPr>
                <a:t>Source: Avriel, Pri-Zan, Meiri &amp; Peretz (2004), Interfaces 34(1), pp. 39–50 · Bank Hapoalim, Israel</a:t>
              </a:r>
            </a:p>
          </p:txBody>
        </p:sp>
      </p:grpSp>
      <p:sp>
        <p:nvSpPr>
          <p:cNvPr name="TextBox 16" id="16"/>
          <p:cNvSpPr txBox="true"/>
          <p:nvPr/>
        </p:nvSpPr>
        <p:spPr>
          <a:xfrm rot="0">
            <a:off x="15812578" y="8010618"/>
            <a:ext cx="1746799" cy="1465376"/>
          </a:xfrm>
          <a:prstGeom prst="rect">
            <a:avLst/>
          </a:prstGeom>
        </p:spPr>
        <p:txBody>
          <a:bodyPr anchor="t" rtlCol="false" tIns="0" lIns="0" bIns="0" rIns="0">
            <a:spAutoFit/>
          </a:bodyPr>
          <a:lstStyle/>
          <a:p>
            <a:pPr algn="ctr">
              <a:lnSpc>
                <a:spcPts val="2320"/>
              </a:lnSpc>
            </a:pPr>
            <a:r>
              <a:rPr lang="en-US" sz="1934">
                <a:solidFill>
                  <a:srgbClr val="2B3541"/>
                </a:solidFill>
                <a:latin typeface="Aptos"/>
                <a:ea typeface="Aptos"/>
                <a:cs typeface="Aptos"/>
                <a:sym typeface="Aptos"/>
              </a:rPr>
              <a:t>Aditya Tarle</a:t>
            </a:r>
          </a:p>
          <a:p>
            <a:pPr algn="ctr">
              <a:lnSpc>
                <a:spcPts val="2320"/>
              </a:lnSpc>
            </a:pPr>
            <a:r>
              <a:rPr lang="en-US" sz="1934">
                <a:solidFill>
                  <a:srgbClr val="2B3541"/>
                </a:solidFill>
                <a:latin typeface="Aptos"/>
                <a:ea typeface="Aptos"/>
                <a:cs typeface="Aptos"/>
                <a:sym typeface="Aptos"/>
              </a:rPr>
              <a:t>Akshat Jindal</a:t>
            </a:r>
          </a:p>
          <a:p>
            <a:pPr algn="ctr">
              <a:lnSpc>
                <a:spcPts val="2320"/>
              </a:lnSpc>
            </a:pPr>
            <a:r>
              <a:rPr lang="en-US" sz="1934">
                <a:solidFill>
                  <a:srgbClr val="2B3541"/>
                </a:solidFill>
                <a:latin typeface="Aptos"/>
                <a:ea typeface="Aptos"/>
                <a:cs typeface="Aptos"/>
                <a:sym typeface="Aptos"/>
              </a:rPr>
              <a:t>Guneesh Gupta</a:t>
            </a:r>
          </a:p>
          <a:p>
            <a:pPr algn="ctr">
              <a:lnSpc>
                <a:spcPts val="2320"/>
              </a:lnSpc>
            </a:pPr>
            <a:r>
              <a:rPr lang="en-US" sz="1934">
                <a:solidFill>
                  <a:srgbClr val="2B3541"/>
                </a:solidFill>
                <a:latin typeface="Aptos"/>
                <a:ea typeface="Aptos"/>
                <a:cs typeface="Aptos"/>
                <a:sym typeface="Aptos"/>
              </a:rPr>
              <a:t>Harshit Gupta</a:t>
            </a:r>
          </a:p>
          <a:p>
            <a:pPr algn="ctr">
              <a:lnSpc>
                <a:spcPts val="2320"/>
              </a:lnSpc>
              <a:spcBef>
                <a:spcPct val="0"/>
              </a:spcBef>
            </a:pPr>
            <a:r>
              <a:rPr lang="en-US" sz="1934">
                <a:solidFill>
                  <a:srgbClr val="2B3541"/>
                </a:solidFill>
                <a:latin typeface="Aptos"/>
                <a:ea typeface="Aptos"/>
                <a:cs typeface="Aptos"/>
                <a:sym typeface="Aptos"/>
              </a:rPr>
              <a:t>Sarthak Agarwal</a:t>
            </a:r>
          </a:p>
        </p:txBody>
      </p:sp>
      <p:grpSp>
        <p:nvGrpSpPr>
          <p:cNvPr name="Group 17" id="17"/>
          <p:cNvGrpSpPr/>
          <p:nvPr/>
        </p:nvGrpSpPr>
        <p:grpSpPr>
          <a:xfrm rot="0">
            <a:off x="14794171" y="7353110"/>
            <a:ext cx="3493829" cy="2933890"/>
            <a:chOff x="0" y="0"/>
            <a:chExt cx="5445264" cy="4572579"/>
          </a:xfrm>
        </p:grpSpPr>
        <p:sp>
          <p:nvSpPr>
            <p:cNvPr name="Freeform 18" id="18"/>
            <p:cNvSpPr/>
            <p:nvPr/>
          </p:nvSpPr>
          <p:spPr>
            <a:xfrm flipH="false" flipV="false" rot="0">
              <a:off x="0" y="0"/>
              <a:ext cx="5445264" cy="4572579"/>
            </a:xfrm>
            <a:custGeom>
              <a:avLst/>
              <a:gdLst/>
              <a:ahLst/>
              <a:cxnLst/>
              <a:rect r="r" b="b" t="t" l="l"/>
              <a:pathLst>
                <a:path h="4572579" w="5445264">
                  <a:moveTo>
                    <a:pt x="0" y="378518"/>
                  </a:moveTo>
                  <a:cubicBezTo>
                    <a:pt x="0" y="169411"/>
                    <a:pt x="93344" y="0"/>
                    <a:pt x="208560" y="0"/>
                  </a:cubicBezTo>
                  <a:lnTo>
                    <a:pt x="5236704" y="0"/>
                  </a:lnTo>
                  <a:cubicBezTo>
                    <a:pt x="5351920" y="0"/>
                    <a:pt x="5445264" y="169411"/>
                    <a:pt x="5445264" y="378518"/>
                  </a:cubicBezTo>
                  <a:lnTo>
                    <a:pt x="5445264" y="4194061"/>
                  </a:lnTo>
                  <a:cubicBezTo>
                    <a:pt x="5445264" y="4403168"/>
                    <a:pt x="5351920" y="4572579"/>
                    <a:pt x="5236704" y="4572579"/>
                  </a:cubicBezTo>
                  <a:lnTo>
                    <a:pt x="208560" y="4572579"/>
                  </a:lnTo>
                  <a:cubicBezTo>
                    <a:pt x="93344" y="4572579"/>
                    <a:pt x="0" y="4403168"/>
                    <a:pt x="0" y="4194061"/>
                  </a:cubicBezTo>
                  <a:close/>
                </a:path>
              </a:pathLst>
            </a:custGeom>
            <a:solidFill>
              <a:srgbClr val="B7D9F4"/>
            </a:solidFill>
            <a:ln w="38100" cap="sq">
              <a:solidFill>
                <a:srgbClr val="3371A5"/>
              </a:solidFill>
              <a:prstDash val="solid"/>
              <a:miter/>
            </a:ln>
          </p:spPr>
        </p:sp>
      </p:grpSp>
      <p:grpSp>
        <p:nvGrpSpPr>
          <p:cNvPr name="Group 19" id="19"/>
          <p:cNvGrpSpPr/>
          <p:nvPr/>
        </p:nvGrpSpPr>
        <p:grpSpPr>
          <a:xfrm rot="0">
            <a:off x="12846395" y="4610697"/>
            <a:ext cx="891540" cy="817880"/>
            <a:chOff x="0" y="0"/>
            <a:chExt cx="1188720" cy="1090507"/>
          </a:xfrm>
        </p:grpSpPr>
        <p:sp>
          <p:nvSpPr>
            <p:cNvPr name="Freeform 20" id="20"/>
            <p:cNvSpPr/>
            <p:nvPr/>
          </p:nvSpPr>
          <p:spPr>
            <a:xfrm flipH="false" flipV="false" rot="0">
              <a:off x="0" y="0"/>
              <a:ext cx="1188720" cy="1090507"/>
            </a:xfrm>
            <a:custGeom>
              <a:avLst/>
              <a:gdLst/>
              <a:ahLst/>
              <a:cxnLst/>
              <a:rect r="r" b="b" t="t" l="l"/>
              <a:pathLst>
                <a:path h="1090507" w="1188720">
                  <a:moveTo>
                    <a:pt x="0" y="0"/>
                  </a:moveTo>
                  <a:lnTo>
                    <a:pt x="1188720" y="0"/>
                  </a:lnTo>
                  <a:lnTo>
                    <a:pt x="1188720" y="1090507"/>
                  </a:lnTo>
                  <a:lnTo>
                    <a:pt x="0" y="1090507"/>
                  </a:lnTo>
                  <a:close/>
                </a:path>
              </a:pathLst>
            </a:custGeom>
            <a:blipFill>
              <a:blip r:embed="rId3">
                <a:alphaModFix amt="0"/>
              </a:blip>
              <a:stretch>
                <a:fillRect l="0" t="-1115" r="0" b="58635"/>
              </a:stretch>
            </a:blipFill>
          </p:spPr>
        </p:sp>
        <p:sp>
          <p:nvSpPr>
            <p:cNvPr name="TextBox 21" id="21"/>
            <p:cNvSpPr txBox="true"/>
            <p:nvPr/>
          </p:nvSpPr>
          <p:spPr>
            <a:xfrm>
              <a:off x="0" y="-9525"/>
              <a:ext cx="1188720" cy="1100032"/>
            </a:xfrm>
            <a:prstGeom prst="rect">
              <a:avLst/>
            </a:prstGeom>
          </p:spPr>
          <p:txBody>
            <a:bodyPr anchor="ctr" rtlCol="false" tIns="0" lIns="0" bIns="0" rIns="0"/>
            <a:lstStyle/>
            <a:p>
              <a:pPr algn="l">
                <a:lnSpc>
                  <a:spcPts val="1530"/>
                </a:lnSpc>
              </a:pPr>
            </a:p>
          </p:txBody>
        </p:sp>
      </p:grpSp>
      <p:grpSp>
        <p:nvGrpSpPr>
          <p:cNvPr name="Group 22" id="22"/>
          <p:cNvGrpSpPr/>
          <p:nvPr/>
        </p:nvGrpSpPr>
        <p:grpSpPr>
          <a:xfrm rot="0">
            <a:off x="15390078" y="7412709"/>
            <a:ext cx="2667999" cy="559809"/>
            <a:chOff x="0" y="0"/>
            <a:chExt cx="3557332" cy="746412"/>
          </a:xfrm>
        </p:grpSpPr>
        <p:sp>
          <p:nvSpPr>
            <p:cNvPr name="Freeform 23" id="23"/>
            <p:cNvSpPr/>
            <p:nvPr/>
          </p:nvSpPr>
          <p:spPr>
            <a:xfrm flipH="false" flipV="false" rot="0">
              <a:off x="0" y="0"/>
              <a:ext cx="3557332" cy="746412"/>
            </a:xfrm>
            <a:custGeom>
              <a:avLst/>
              <a:gdLst/>
              <a:ahLst/>
              <a:cxnLst/>
              <a:rect r="r" b="b" t="t" l="l"/>
              <a:pathLst>
                <a:path h="746412" w="3557332">
                  <a:moveTo>
                    <a:pt x="0" y="0"/>
                  </a:moveTo>
                  <a:lnTo>
                    <a:pt x="3557332" y="0"/>
                  </a:lnTo>
                  <a:lnTo>
                    <a:pt x="3557332" y="746412"/>
                  </a:lnTo>
                  <a:lnTo>
                    <a:pt x="0" y="746412"/>
                  </a:lnTo>
                  <a:close/>
                </a:path>
              </a:pathLst>
            </a:custGeom>
            <a:blipFill>
              <a:blip r:embed="rId3">
                <a:alphaModFix amt="0"/>
              </a:blip>
              <a:stretch>
                <a:fillRect l="0" t="-1630" r="66583" b="39567"/>
              </a:stretch>
            </a:blipFill>
          </p:spPr>
        </p:sp>
        <p:sp>
          <p:nvSpPr>
            <p:cNvPr name="TextBox 24" id="24"/>
            <p:cNvSpPr txBox="true"/>
            <p:nvPr/>
          </p:nvSpPr>
          <p:spPr>
            <a:xfrm>
              <a:off x="0" y="0"/>
              <a:ext cx="3557332" cy="746412"/>
            </a:xfrm>
            <a:prstGeom prst="rect">
              <a:avLst/>
            </a:prstGeom>
          </p:spPr>
          <p:txBody>
            <a:bodyPr anchor="ctr" rtlCol="false" tIns="0" lIns="0" bIns="0" rIns="0"/>
            <a:lstStyle/>
            <a:p>
              <a:pPr algn="l">
                <a:lnSpc>
                  <a:spcPts val="2849"/>
                </a:lnSpc>
              </a:pPr>
              <a:r>
                <a:rPr lang="en-US" b="true" sz="2374" u="sng">
                  <a:solidFill>
                    <a:srgbClr val="3371A5"/>
                  </a:solidFill>
                  <a:latin typeface="Aptos Bold"/>
                  <a:ea typeface="Aptos Bold"/>
                  <a:cs typeface="Aptos Bold"/>
                  <a:sym typeface="Aptos Bold"/>
                </a:rPr>
                <a:t>THE SYNDICATE</a:t>
              </a:r>
            </a:p>
          </p:txBody>
        </p:sp>
      </p:grpSp>
      <p:grpSp>
        <p:nvGrpSpPr>
          <p:cNvPr name="Group 25" id="25"/>
          <p:cNvGrpSpPr/>
          <p:nvPr/>
        </p:nvGrpSpPr>
        <p:grpSpPr>
          <a:xfrm rot="0">
            <a:off x="641234" y="559802"/>
            <a:ext cx="6187473" cy="631472"/>
            <a:chOff x="0" y="0"/>
            <a:chExt cx="5169477" cy="527579"/>
          </a:xfrm>
        </p:grpSpPr>
        <p:sp>
          <p:nvSpPr>
            <p:cNvPr name="Freeform 26" id="26"/>
            <p:cNvSpPr/>
            <p:nvPr/>
          </p:nvSpPr>
          <p:spPr>
            <a:xfrm flipH="false" flipV="false" rot="0">
              <a:off x="0" y="0"/>
              <a:ext cx="5169477" cy="527579"/>
            </a:xfrm>
            <a:custGeom>
              <a:avLst/>
              <a:gdLst/>
              <a:ahLst/>
              <a:cxnLst/>
              <a:rect r="r" b="b" t="t" l="l"/>
              <a:pathLst>
                <a:path h="527579" w="5169477">
                  <a:moveTo>
                    <a:pt x="0" y="175820"/>
                  </a:moveTo>
                  <a:cubicBezTo>
                    <a:pt x="0" y="78784"/>
                    <a:pt x="136371" y="0"/>
                    <a:pt x="304339" y="0"/>
                  </a:cubicBezTo>
                  <a:lnTo>
                    <a:pt x="4865138" y="0"/>
                  </a:lnTo>
                  <a:cubicBezTo>
                    <a:pt x="5033309" y="0"/>
                    <a:pt x="5169477" y="78784"/>
                    <a:pt x="5169477" y="175820"/>
                  </a:cubicBezTo>
                  <a:lnTo>
                    <a:pt x="5169477" y="351759"/>
                  </a:lnTo>
                  <a:cubicBezTo>
                    <a:pt x="5169477" y="448913"/>
                    <a:pt x="5033106" y="527579"/>
                    <a:pt x="4865138" y="527579"/>
                  </a:cubicBezTo>
                  <a:lnTo>
                    <a:pt x="304339" y="527579"/>
                  </a:lnTo>
                  <a:cubicBezTo>
                    <a:pt x="136371" y="527579"/>
                    <a:pt x="0" y="448795"/>
                    <a:pt x="0" y="351759"/>
                  </a:cubicBezTo>
                  <a:close/>
                </a:path>
              </a:pathLst>
            </a:custGeom>
            <a:solidFill>
              <a:srgbClr val="FAF5EB"/>
            </a:solidFill>
            <a:ln w="15240" cap="sq">
              <a:solidFill>
                <a:srgbClr val="3371A5"/>
              </a:solidFill>
              <a:prstDash val="solid"/>
              <a:miter/>
            </a:ln>
          </p:spPr>
        </p:sp>
      </p:grpSp>
      <p:grpSp>
        <p:nvGrpSpPr>
          <p:cNvPr name="Group 27" id="27"/>
          <p:cNvGrpSpPr/>
          <p:nvPr/>
        </p:nvGrpSpPr>
        <p:grpSpPr>
          <a:xfrm rot="0">
            <a:off x="869385" y="418885"/>
            <a:ext cx="5871373" cy="951840"/>
            <a:chOff x="0" y="0"/>
            <a:chExt cx="5286481" cy="857020"/>
          </a:xfrm>
        </p:grpSpPr>
        <p:sp>
          <p:nvSpPr>
            <p:cNvPr name="Freeform 28" id="28"/>
            <p:cNvSpPr/>
            <p:nvPr/>
          </p:nvSpPr>
          <p:spPr>
            <a:xfrm flipH="false" flipV="false" rot="0">
              <a:off x="0" y="0"/>
              <a:ext cx="5286481" cy="857020"/>
            </a:xfrm>
            <a:custGeom>
              <a:avLst/>
              <a:gdLst/>
              <a:ahLst/>
              <a:cxnLst/>
              <a:rect r="r" b="b" t="t" l="l"/>
              <a:pathLst>
                <a:path h="857020" w="5286481">
                  <a:moveTo>
                    <a:pt x="0" y="0"/>
                  </a:moveTo>
                  <a:lnTo>
                    <a:pt x="5286481" y="0"/>
                  </a:lnTo>
                  <a:lnTo>
                    <a:pt x="5286481" y="857020"/>
                  </a:lnTo>
                  <a:lnTo>
                    <a:pt x="0" y="857020"/>
                  </a:lnTo>
                  <a:close/>
                </a:path>
              </a:pathLst>
            </a:custGeom>
            <a:blipFill>
              <a:blip r:embed="rId3">
                <a:alphaModFix amt="0"/>
              </a:blip>
              <a:stretch>
                <a:fillRect l="0" t="-36707" r="46379" b="7811"/>
              </a:stretch>
            </a:blipFill>
          </p:spPr>
        </p:sp>
        <p:sp>
          <p:nvSpPr>
            <p:cNvPr name="TextBox 29" id="29"/>
            <p:cNvSpPr txBox="true"/>
            <p:nvPr/>
          </p:nvSpPr>
          <p:spPr>
            <a:xfrm>
              <a:off x="0" y="0"/>
              <a:ext cx="5286481" cy="857020"/>
            </a:xfrm>
            <a:prstGeom prst="rect">
              <a:avLst/>
            </a:prstGeom>
          </p:spPr>
          <p:txBody>
            <a:bodyPr anchor="ctr" rtlCol="false" tIns="0" lIns="0" bIns="0" rIns="0"/>
            <a:lstStyle/>
            <a:p>
              <a:pPr algn="l">
                <a:lnSpc>
                  <a:spcPts val="3120"/>
                </a:lnSpc>
              </a:pPr>
              <a:r>
                <a:rPr lang="en-US" sz="2600" b="true">
                  <a:solidFill>
                    <a:srgbClr val="3371A5"/>
                  </a:solidFill>
                  <a:latin typeface="Aptos Bold"/>
                  <a:ea typeface="Aptos Bold"/>
                  <a:cs typeface="Aptos Bold"/>
                  <a:sym typeface="Aptos Bold"/>
                </a:rPr>
                <a:t>OPERATIONS RESEARCH CASE STUDY</a:t>
              </a:r>
            </a:p>
          </p:txBody>
        </p:sp>
      </p:grpSp>
      <p:sp>
        <p:nvSpPr>
          <p:cNvPr name="Freeform 30" id="30"/>
          <p:cNvSpPr/>
          <p:nvPr/>
        </p:nvSpPr>
        <p:spPr>
          <a:xfrm flipH="false" flipV="false" rot="0">
            <a:off x="10769973" y="5814575"/>
            <a:ext cx="2730760" cy="2525953"/>
          </a:xfrm>
          <a:custGeom>
            <a:avLst/>
            <a:gdLst/>
            <a:ahLst/>
            <a:cxnLst/>
            <a:rect r="r" b="b" t="t" l="l"/>
            <a:pathLst>
              <a:path h="2525953" w="2730760">
                <a:moveTo>
                  <a:pt x="0" y="0"/>
                </a:moveTo>
                <a:lnTo>
                  <a:pt x="2730759" y="0"/>
                </a:lnTo>
                <a:lnTo>
                  <a:pt x="2730759" y="2525953"/>
                </a:lnTo>
                <a:lnTo>
                  <a:pt x="0" y="25259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6740758" y="5837293"/>
            <a:ext cx="2735776" cy="2503235"/>
          </a:xfrm>
          <a:custGeom>
            <a:avLst/>
            <a:gdLst/>
            <a:ahLst/>
            <a:cxnLst/>
            <a:rect r="r" b="b" t="t" l="l"/>
            <a:pathLst>
              <a:path h="2503235" w="2735776">
                <a:moveTo>
                  <a:pt x="0" y="0"/>
                </a:moveTo>
                <a:lnTo>
                  <a:pt x="2735776" y="0"/>
                </a:lnTo>
                <a:lnTo>
                  <a:pt x="2735776" y="2503235"/>
                </a:lnTo>
                <a:lnTo>
                  <a:pt x="0" y="2503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12417445" y="418885"/>
            <a:ext cx="4841855" cy="4966006"/>
          </a:xfrm>
          <a:custGeom>
            <a:avLst/>
            <a:gdLst/>
            <a:ahLst/>
            <a:cxnLst/>
            <a:rect r="r" b="b" t="t" l="l"/>
            <a:pathLst>
              <a:path h="4966006" w="4841855">
                <a:moveTo>
                  <a:pt x="0" y="0"/>
                </a:moveTo>
                <a:lnTo>
                  <a:pt x="4841855" y="0"/>
                </a:lnTo>
                <a:lnTo>
                  <a:pt x="4841855" y="4966006"/>
                </a:lnTo>
                <a:lnTo>
                  <a:pt x="0" y="4966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3" id="33"/>
          <p:cNvSpPr txBox="true"/>
          <p:nvPr/>
        </p:nvSpPr>
        <p:spPr>
          <a:xfrm rot="0">
            <a:off x="641234" y="3637868"/>
            <a:ext cx="9566319" cy="1257300"/>
          </a:xfrm>
          <a:prstGeom prst="rect">
            <a:avLst/>
          </a:prstGeom>
        </p:spPr>
        <p:txBody>
          <a:bodyPr anchor="t" rtlCol="false" tIns="0" lIns="0" bIns="0" rIns="0">
            <a:spAutoFit/>
          </a:bodyPr>
          <a:lstStyle/>
          <a:p>
            <a:pPr algn="l">
              <a:lnSpc>
                <a:spcPts val="3359"/>
              </a:lnSpc>
            </a:pPr>
            <a:r>
              <a:rPr lang="en-US" sz="2799" b="true">
                <a:solidFill>
                  <a:srgbClr val="2B3541"/>
                </a:solidFill>
                <a:latin typeface="Aptos Bold"/>
                <a:ea typeface="Aptos Bold"/>
                <a:cs typeface="Aptos Bold"/>
                <a:sym typeface="Aptos Bold"/>
              </a:rPr>
              <a:t>A model-based investment decision-support system for individual customers built to give every client a personalized, data-driven portfolio recommendation.</a:t>
            </a:r>
          </a:p>
        </p:txBody>
      </p:sp>
      <p:sp>
        <p:nvSpPr>
          <p:cNvPr name="TextBox 34" id="34"/>
          <p:cNvSpPr txBox="true"/>
          <p:nvPr/>
        </p:nvSpPr>
        <p:spPr>
          <a:xfrm rot="0">
            <a:off x="15402155" y="8010618"/>
            <a:ext cx="3038245" cy="2514600"/>
          </a:xfrm>
          <a:prstGeom prst="rect">
            <a:avLst/>
          </a:prstGeom>
        </p:spPr>
        <p:txBody>
          <a:bodyPr anchor="t" rtlCol="false" tIns="0" lIns="0" bIns="0" rIns="0">
            <a:spAutoFit/>
          </a:bodyPr>
          <a:lstStyle/>
          <a:p>
            <a:pPr algn="l" marL="0" indent="0" lvl="0">
              <a:lnSpc>
                <a:spcPts val="3359"/>
              </a:lnSpc>
              <a:spcBef>
                <a:spcPct val="0"/>
              </a:spcBef>
            </a:pPr>
            <a:r>
              <a:rPr lang="en-US" sz="2799" strike="noStrike" u="none">
                <a:solidFill>
                  <a:srgbClr val="051D3A"/>
                </a:solidFill>
                <a:latin typeface="Aptos"/>
                <a:ea typeface="Aptos"/>
                <a:cs typeface="Aptos"/>
                <a:sym typeface="Aptos"/>
              </a:rPr>
              <a:t>Aditya Tarle</a:t>
            </a:r>
          </a:p>
          <a:p>
            <a:pPr algn="l" marL="0" indent="0" lvl="0">
              <a:lnSpc>
                <a:spcPts val="3359"/>
              </a:lnSpc>
              <a:spcBef>
                <a:spcPct val="0"/>
              </a:spcBef>
            </a:pPr>
            <a:r>
              <a:rPr lang="en-US" sz="2799" strike="noStrike" u="none">
                <a:solidFill>
                  <a:srgbClr val="051D3A"/>
                </a:solidFill>
                <a:latin typeface="Aptos"/>
                <a:ea typeface="Aptos"/>
                <a:cs typeface="Aptos"/>
                <a:sym typeface="Aptos"/>
              </a:rPr>
              <a:t>Akshat Jindal</a:t>
            </a:r>
          </a:p>
          <a:p>
            <a:pPr algn="l" marL="0" indent="0" lvl="0">
              <a:lnSpc>
                <a:spcPts val="3359"/>
              </a:lnSpc>
              <a:spcBef>
                <a:spcPct val="0"/>
              </a:spcBef>
            </a:pPr>
            <a:r>
              <a:rPr lang="en-US" sz="2799" strike="noStrike" u="none">
                <a:solidFill>
                  <a:srgbClr val="051D3A"/>
                </a:solidFill>
                <a:latin typeface="Aptos"/>
                <a:ea typeface="Aptos"/>
                <a:cs typeface="Aptos"/>
                <a:sym typeface="Aptos"/>
              </a:rPr>
              <a:t>Guneesh Gupta</a:t>
            </a:r>
          </a:p>
          <a:p>
            <a:pPr algn="l" marL="0" indent="0" lvl="0">
              <a:lnSpc>
                <a:spcPts val="3359"/>
              </a:lnSpc>
              <a:spcBef>
                <a:spcPct val="0"/>
              </a:spcBef>
            </a:pPr>
            <a:r>
              <a:rPr lang="en-US" sz="2799" strike="noStrike" u="none">
                <a:solidFill>
                  <a:srgbClr val="051D3A"/>
                </a:solidFill>
                <a:latin typeface="Aptos"/>
                <a:ea typeface="Aptos"/>
                <a:cs typeface="Aptos"/>
                <a:sym typeface="Aptos"/>
              </a:rPr>
              <a:t>Harshit Gupta</a:t>
            </a:r>
          </a:p>
          <a:p>
            <a:pPr algn="l" marL="0" indent="0" lvl="0">
              <a:lnSpc>
                <a:spcPts val="3359"/>
              </a:lnSpc>
              <a:spcBef>
                <a:spcPct val="0"/>
              </a:spcBef>
            </a:pPr>
            <a:r>
              <a:rPr lang="en-US" sz="2799" strike="noStrike" u="none">
                <a:solidFill>
                  <a:srgbClr val="051D3A"/>
                </a:solidFill>
                <a:latin typeface="Aptos"/>
                <a:ea typeface="Aptos"/>
                <a:cs typeface="Aptos"/>
                <a:sym typeface="Aptos"/>
              </a:rPr>
              <a:t>Sarthak Agarwal</a:t>
            </a:r>
          </a:p>
          <a:p>
            <a:pPr algn="l" marL="0" indent="0" lvl="0">
              <a:lnSpc>
                <a:spcPts val="335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42772" y="406457"/>
            <a:ext cx="5014590" cy="688537"/>
            <a:chOff x="0" y="0"/>
            <a:chExt cx="6170537" cy="847257"/>
          </a:xfrm>
        </p:grpSpPr>
        <p:sp>
          <p:nvSpPr>
            <p:cNvPr name="Freeform 3" id="3"/>
            <p:cNvSpPr/>
            <p:nvPr/>
          </p:nvSpPr>
          <p:spPr>
            <a:xfrm flipH="false" flipV="false" rot="0">
              <a:off x="0" y="0"/>
              <a:ext cx="6170361" cy="847257"/>
            </a:xfrm>
            <a:custGeom>
              <a:avLst/>
              <a:gdLst/>
              <a:ahLst/>
              <a:cxnLst/>
              <a:rect r="r" b="b" t="t" l="l"/>
              <a:pathLst>
                <a:path h="847257" w="6170361">
                  <a:moveTo>
                    <a:pt x="0" y="282356"/>
                  </a:moveTo>
                  <a:cubicBezTo>
                    <a:pt x="0" y="126521"/>
                    <a:pt x="146778" y="0"/>
                    <a:pt x="327562" y="0"/>
                  </a:cubicBezTo>
                  <a:lnTo>
                    <a:pt x="5842799" y="0"/>
                  </a:lnTo>
                  <a:cubicBezTo>
                    <a:pt x="6023803" y="0"/>
                    <a:pt x="6170361" y="126521"/>
                    <a:pt x="6170361" y="282356"/>
                  </a:cubicBezTo>
                  <a:lnTo>
                    <a:pt x="6170361" y="564901"/>
                  </a:lnTo>
                  <a:cubicBezTo>
                    <a:pt x="6170361" y="720925"/>
                    <a:pt x="6023583" y="847257"/>
                    <a:pt x="5842799" y="847257"/>
                  </a:cubicBezTo>
                  <a:lnTo>
                    <a:pt x="327562" y="847257"/>
                  </a:lnTo>
                  <a:cubicBezTo>
                    <a:pt x="146778" y="847257"/>
                    <a:pt x="0" y="720735"/>
                    <a:pt x="0" y="564901"/>
                  </a:cubicBezTo>
                  <a:close/>
                </a:path>
              </a:pathLst>
            </a:custGeom>
            <a:solidFill>
              <a:srgbClr val="FAF5EB"/>
            </a:solidFill>
            <a:ln w="15240" cap="sq">
              <a:solidFill>
                <a:srgbClr val="3371A5"/>
              </a:solidFill>
              <a:prstDash val="solid"/>
              <a:miter/>
            </a:ln>
          </p:spPr>
        </p:sp>
      </p:grpSp>
      <p:grpSp>
        <p:nvGrpSpPr>
          <p:cNvPr name="Group 4" id="4"/>
          <p:cNvGrpSpPr/>
          <p:nvPr/>
        </p:nvGrpSpPr>
        <p:grpSpPr>
          <a:xfrm rot="0">
            <a:off x="1070923" y="256311"/>
            <a:ext cx="4929083" cy="951840"/>
            <a:chOff x="0" y="0"/>
            <a:chExt cx="4438060" cy="857020"/>
          </a:xfrm>
        </p:grpSpPr>
        <p:sp>
          <p:nvSpPr>
            <p:cNvPr name="Freeform 5" id="5"/>
            <p:cNvSpPr/>
            <p:nvPr/>
          </p:nvSpPr>
          <p:spPr>
            <a:xfrm flipH="false" flipV="false" rot="0">
              <a:off x="0" y="0"/>
              <a:ext cx="4438060" cy="857020"/>
            </a:xfrm>
            <a:custGeom>
              <a:avLst/>
              <a:gdLst/>
              <a:ahLst/>
              <a:cxnLst/>
              <a:rect r="r" b="b" t="t" l="l"/>
              <a:pathLst>
                <a:path h="857020" w="4438060">
                  <a:moveTo>
                    <a:pt x="0" y="0"/>
                  </a:moveTo>
                  <a:lnTo>
                    <a:pt x="4438060" y="0"/>
                  </a:lnTo>
                  <a:lnTo>
                    <a:pt x="4438060" y="857020"/>
                  </a:lnTo>
                  <a:lnTo>
                    <a:pt x="0" y="857020"/>
                  </a:lnTo>
                  <a:close/>
                </a:path>
              </a:pathLst>
            </a:custGeom>
            <a:blipFill>
              <a:blip r:embed="rId3">
                <a:alphaModFix amt="0"/>
              </a:blip>
              <a:stretch>
                <a:fillRect l="0" t="-36707" r="36128" b="7811"/>
              </a:stretch>
            </a:blipFill>
          </p:spPr>
        </p:sp>
        <p:sp>
          <p:nvSpPr>
            <p:cNvPr name="TextBox 6" id="6"/>
            <p:cNvSpPr txBox="true"/>
            <p:nvPr/>
          </p:nvSpPr>
          <p:spPr>
            <a:xfrm>
              <a:off x="0" y="0"/>
              <a:ext cx="4438060" cy="857020"/>
            </a:xfrm>
            <a:prstGeom prst="rect">
              <a:avLst/>
            </a:prstGeom>
          </p:spPr>
          <p:txBody>
            <a:bodyPr anchor="ctr" rtlCol="false" tIns="0" lIns="0" bIns="0" rIns="0"/>
            <a:lstStyle/>
            <a:p>
              <a:pPr algn="l">
                <a:lnSpc>
                  <a:spcPts val="3120"/>
                </a:lnSpc>
              </a:pPr>
              <a:r>
                <a:rPr lang="en-US" sz="2600" b="true">
                  <a:solidFill>
                    <a:srgbClr val="3371A5"/>
                  </a:solidFill>
                  <a:latin typeface="Aptos Bold"/>
                  <a:ea typeface="Aptos Bold"/>
                  <a:cs typeface="Aptos Bold"/>
                  <a:sym typeface="Aptos Bold"/>
                </a:rPr>
                <a:t>SECTION 1 — PROJECT SCOPE</a:t>
              </a:r>
            </a:p>
          </p:txBody>
        </p:sp>
      </p:grpSp>
      <p:grpSp>
        <p:nvGrpSpPr>
          <p:cNvPr name="Group 7" id="7"/>
          <p:cNvGrpSpPr/>
          <p:nvPr/>
        </p:nvGrpSpPr>
        <p:grpSpPr>
          <a:xfrm rot="0">
            <a:off x="850392" y="1094994"/>
            <a:ext cx="16596360" cy="713232"/>
            <a:chOff x="0" y="0"/>
            <a:chExt cx="22128480" cy="950976"/>
          </a:xfrm>
        </p:grpSpPr>
        <p:sp>
          <p:nvSpPr>
            <p:cNvPr name="Freeform 8" id="8"/>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9" id="9"/>
            <p:cNvSpPr txBox="true"/>
            <p:nvPr/>
          </p:nvSpPr>
          <p:spPr>
            <a:xfrm>
              <a:off x="0" y="0"/>
              <a:ext cx="22128480" cy="950976"/>
            </a:xfrm>
            <a:prstGeom prst="rect">
              <a:avLst/>
            </a:prstGeom>
          </p:spPr>
          <p:txBody>
            <a:bodyPr anchor="ctr" rtlCol="false" tIns="0" lIns="0" bIns="0" rIns="0"/>
            <a:lstStyle/>
            <a:p>
              <a:pPr algn="l">
                <a:lnSpc>
                  <a:spcPts val="3600"/>
                </a:lnSpc>
              </a:pPr>
              <a:r>
                <a:rPr lang="en-US" b="true" sz="3000" u="sng">
                  <a:solidFill>
                    <a:srgbClr val="051D3A"/>
                  </a:solidFill>
                  <a:latin typeface="Aptos Bold"/>
                  <a:ea typeface="Aptos Bold"/>
                  <a:cs typeface="Aptos Bold"/>
                  <a:sym typeface="Aptos Bold"/>
                </a:rPr>
                <a:t>What Opti-Money Was Built to Do</a:t>
              </a:r>
            </a:p>
          </p:txBody>
        </p:sp>
      </p:grpSp>
      <p:sp>
        <p:nvSpPr>
          <p:cNvPr name="TextBox 10" id="10"/>
          <p:cNvSpPr txBox="true"/>
          <p:nvPr/>
        </p:nvSpPr>
        <p:spPr>
          <a:xfrm rot="0">
            <a:off x="850392" y="1862067"/>
            <a:ext cx="16527780" cy="733425"/>
          </a:xfrm>
          <a:prstGeom prst="rect">
            <a:avLst/>
          </a:prstGeom>
        </p:spPr>
        <p:txBody>
          <a:bodyPr anchor="t" rtlCol="false" tIns="0" lIns="0" bIns="0" rIns="0">
            <a:spAutoFit/>
          </a:bodyPr>
          <a:lstStyle/>
          <a:p>
            <a:pPr algn="l">
              <a:lnSpc>
                <a:spcPts val="2999"/>
              </a:lnSpc>
            </a:pPr>
            <a:r>
              <a:rPr lang="en-US" sz="2499">
                <a:solidFill>
                  <a:srgbClr val="2B3541"/>
                </a:solidFill>
                <a:latin typeface="Aptos"/>
                <a:ea typeface="Aptos"/>
                <a:cs typeface="Aptos"/>
                <a:sym typeface="Aptos"/>
              </a:rPr>
              <a:t>Bank Hapoalim needed a systematic way to allocate wealth across asset classes that needs to be personalized per customer and scalable to thousands of profiles.</a:t>
            </a:r>
          </a:p>
        </p:txBody>
      </p:sp>
      <p:grpSp>
        <p:nvGrpSpPr>
          <p:cNvPr name="Group 11" id="11"/>
          <p:cNvGrpSpPr/>
          <p:nvPr/>
        </p:nvGrpSpPr>
        <p:grpSpPr>
          <a:xfrm rot="0">
            <a:off x="2400300" y="2938392"/>
            <a:ext cx="3017520" cy="795528"/>
            <a:chOff x="0" y="0"/>
            <a:chExt cx="4023360" cy="1060704"/>
          </a:xfrm>
        </p:grpSpPr>
        <p:sp>
          <p:nvSpPr>
            <p:cNvPr name="Freeform 12" id="12"/>
            <p:cNvSpPr/>
            <p:nvPr/>
          </p:nvSpPr>
          <p:spPr>
            <a:xfrm flipH="false" flipV="false" rot="0">
              <a:off x="0" y="0"/>
              <a:ext cx="4023360" cy="1060704"/>
            </a:xfrm>
            <a:custGeom>
              <a:avLst/>
              <a:gdLst/>
              <a:ahLst/>
              <a:cxnLst/>
              <a:rect r="r" b="b" t="t" l="l"/>
              <a:pathLst>
                <a:path h="1060704" w="4023360">
                  <a:moveTo>
                    <a:pt x="0" y="0"/>
                  </a:moveTo>
                  <a:lnTo>
                    <a:pt x="4023360" y="0"/>
                  </a:lnTo>
                  <a:lnTo>
                    <a:pt x="4023360" y="1060704"/>
                  </a:lnTo>
                  <a:lnTo>
                    <a:pt x="0" y="1060704"/>
                  </a:lnTo>
                  <a:close/>
                </a:path>
              </a:pathLst>
            </a:custGeom>
            <a:blipFill>
              <a:blip r:embed="rId3">
                <a:alphaModFix amt="0"/>
              </a:blip>
              <a:stretch>
                <a:fillRect l="0" t="-23908" r="0" b="-23908"/>
              </a:stretch>
            </a:blipFill>
          </p:spPr>
        </p:sp>
        <p:sp>
          <p:nvSpPr>
            <p:cNvPr name="TextBox 13" id="13"/>
            <p:cNvSpPr txBox="true"/>
            <p:nvPr/>
          </p:nvSpPr>
          <p:spPr>
            <a:xfrm>
              <a:off x="0" y="0"/>
              <a:ext cx="4023360" cy="1060704"/>
            </a:xfrm>
            <a:prstGeom prst="rect">
              <a:avLst/>
            </a:prstGeom>
          </p:spPr>
          <p:txBody>
            <a:bodyPr anchor="ctr" rtlCol="false" tIns="0" lIns="0" bIns="0" rIns="0"/>
            <a:lstStyle/>
            <a:p>
              <a:pPr algn="ctr">
                <a:lnSpc>
                  <a:spcPts val="5220"/>
                </a:lnSpc>
              </a:pPr>
              <a:r>
                <a:rPr lang="en-US" sz="4350">
                  <a:solidFill>
                    <a:srgbClr val="2B3541"/>
                  </a:solidFill>
                  <a:latin typeface="Aptos"/>
                  <a:ea typeface="Aptos"/>
                  <a:cs typeface="Aptos"/>
                  <a:sym typeface="Aptos"/>
                </a:rPr>
                <a:t>~60</a:t>
              </a:r>
            </a:p>
          </p:txBody>
        </p:sp>
      </p:grpSp>
      <p:grpSp>
        <p:nvGrpSpPr>
          <p:cNvPr name="Group 14" id="14"/>
          <p:cNvGrpSpPr/>
          <p:nvPr/>
        </p:nvGrpSpPr>
        <p:grpSpPr>
          <a:xfrm rot="0">
            <a:off x="2400300" y="3634567"/>
            <a:ext cx="3017520" cy="414821"/>
            <a:chOff x="0" y="0"/>
            <a:chExt cx="4023360" cy="553095"/>
          </a:xfrm>
        </p:grpSpPr>
        <p:sp>
          <p:nvSpPr>
            <p:cNvPr name="Freeform 15" id="15"/>
            <p:cNvSpPr/>
            <p:nvPr/>
          </p:nvSpPr>
          <p:spPr>
            <a:xfrm flipH="false" flipV="false" rot="0">
              <a:off x="0" y="0"/>
              <a:ext cx="4023360" cy="553095"/>
            </a:xfrm>
            <a:custGeom>
              <a:avLst/>
              <a:gdLst/>
              <a:ahLst/>
              <a:cxnLst/>
              <a:rect r="r" b="b" t="t" l="l"/>
              <a:pathLst>
                <a:path h="553095" w="4023360">
                  <a:moveTo>
                    <a:pt x="0" y="0"/>
                  </a:moveTo>
                  <a:lnTo>
                    <a:pt x="4023360" y="0"/>
                  </a:lnTo>
                  <a:lnTo>
                    <a:pt x="4023360" y="553095"/>
                  </a:lnTo>
                  <a:lnTo>
                    <a:pt x="0" y="553095"/>
                  </a:lnTo>
                  <a:close/>
                </a:path>
              </a:pathLst>
            </a:custGeom>
            <a:blipFill>
              <a:blip r:embed="rId3">
                <a:alphaModFix amt="0"/>
              </a:blip>
              <a:stretch>
                <a:fillRect l="0" t="-95448" r="0" b="-88030"/>
              </a:stretch>
            </a:blipFill>
          </p:spPr>
        </p:sp>
        <p:sp>
          <p:nvSpPr>
            <p:cNvPr name="TextBox 16" id="16"/>
            <p:cNvSpPr txBox="true"/>
            <p:nvPr/>
          </p:nvSpPr>
          <p:spPr>
            <a:xfrm>
              <a:off x="0" y="0"/>
              <a:ext cx="4023360" cy="553095"/>
            </a:xfrm>
            <a:prstGeom prst="rect">
              <a:avLst/>
            </a:prstGeom>
          </p:spPr>
          <p:txBody>
            <a:bodyPr anchor="ctr" rtlCol="false" tIns="0" lIns="0" bIns="0" rIns="0"/>
            <a:lstStyle/>
            <a:p>
              <a:pPr algn="ctr">
                <a:lnSpc>
                  <a:spcPts val="2639"/>
                </a:lnSpc>
              </a:pPr>
              <a:r>
                <a:rPr lang="en-US" sz="2199">
                  <a:solidFill>
                    <a:srgbClr val="2B3541"/>
                  </a:solidFill>
                  <a:latin typeface="Aptos"/>
                  <a:ea typeface="Aptos"/>
                  <a:cs typeface="Aptos"/>
                  <a:sym typeface="Aptos"/>
                </a:rPr>
                <a:t>Asset Classes</a:t>
              </a:r>
            </a:p>
          </p:txBody>
        </p:sp>
      </p:grpSp>
      <p:grpSp>
        <p:nvGrpSpPr>
          <p:cNvPr name="Group 17" id="17"/>
          <p:cNvGrpSpPr/>
          <p:nvPr/>
        </p:nvGrpSpPr>
        <p:grpSpPr>
          <a:xfrm rot="0">
            <a:off x="2312152" y="3982713"/>
            <a:ext cx="3193815" cy="480060"/>
            <a:chOff x="0" y="0"/>
            <a:chExt cx="4258420" cy="640080"/>
          </a:xfrm>
        </p:grpSpPr>
        <p:sp>
          <p:nvSpPr>
            <p:cNvPr name="Freeform 18" id="18"/>
            <p:cNvSpPr/>
            <p:nvPr/>
          </p:nvSpPr>
          <p:spPr>
            <a:xfrm flipH="false" flipV="false" rot="0">
              <a:off x="0" y="0"/>
              <a:ext cx="4258420" cy="640080"/>
            </a:xfrm>
            <a:custGeom>
              <a:avLst/>
              <a:gdLst/>
              <a:ahLst/>
              <a:cxnLst/>
              <a:rect r="r" b="b" t="t" l="l"/>
              <a:pathLst>
                <a:path h="640080" w="4258420">
                  <a:moveTo>
                    <a:pt x="0" y="0"/>
                  </a:moveTo>
                  <a:lnTo>
                    <a:pt x="4258420" y="0"/>
                  </a:lnTo>
                  <a:lnTo>
                    <a:pt x="4258420" y="640080"/>
                  </a:lnTo>
                  <a:lnTo>
                    <a:pt x="0" y="640080"/>
                  </a:lnTo>
                  <a:close/>
                </a:path>
              </a:pathLst>
            </a:custGeom>
            <a:blipFill>
              <a:blip r:embed="rId3">
                <a:alphaModFix amt="0"/>
              </a:blip>
              <a:stretch>
                <a:fillRect l="0" t="-72477" r="5519" b="-72477"/>
              </a:stretch>
            </a:blipFill>
          </p:spPr>
        </p:sp>
        <p:sp>
          <p:nvSpPr>
            <p:cNvPr name="TextBox 19" id="19"/>
            <p:cNvSpPr txBox="true"/>
            <p:nvPr/>
          </p:nvSpPr>
          <p:spPr>
            <a:xfrm>
              <a:off x="0" y="0"/>
              <a:ext cx="4258420" cy="640080"/>
            </a:xfrm>
            <a:prstGeom prst="rect">
              <a:avLst/>
            </a:prstGeom>
          </p:spPr>
          <p:txBody>
            <a:bodyPr anchor="ctr" rtlCol="false" tIns="0" lIns="0" bIns="0" rIns="0"/>
            <a:lstStyle/>
            <a:p>
              <a:pPr algn="ctr" marL="0" indent="0" lvl="0">
                <a:lnSpc>
                  <a:spcPts val="2639"/>
                </a:lnSpc>
                <a:spcBef>
                  <a:spcPct val="0"/>
                </a:spcBef>
              </a:pPr>
              <a:r>
                <a:rPr lang="en-US" sz="2199" strike="noStrike" u="none">
                  <a:solidFill>
                    <a:srgbClr val="2B3541"/>
                  </a:solidFill>
                  <a:latin typeface="Aptos"/>
                  <a:ea typeface="Aptos"/>
                  <a:cs typeface="Aptos"/>
                  <a:sym typeface="Aptos"/>
                </a:rPr>
                <a:t>Represented in the model</a:t>
              </a:r>
            </a:p>
          </p:txBody>
        </p:sp>
      </p:grpSp>
      <p:grpSp>
        <p:nvGrpSpPr>
          <p:cNvPr name="Group 20" id="20"/>
          <p:cNvGrpSpPr/>
          <p:nvPr/>
        </p:nvGrpSpPr>
        <p:grpSpPr>
          <a:xfrm rot="0">
            <a:off x="8077446" y="2938392"/>
            <a:ext cx="3017520" cy="818266"/>
            <a:chOff x="0" y="0"/>
            <a:chExt cx="4023360" cy="1091022"/>
          </a:xfrm>
        </p:grpSpPr>
        <p:sp>
          <p:nvSpPr>
            <p:cNvPr name="Freeform 21" id="21"/>
            <p:cNvSpPr/>
            <p:nvPr/>
          </p:nvSpPr>
          <p:spPr>
            <a:xfrm flipH="false" flipV="false" rot="0">
              <a:off x="0" y="0"/>
              <a:ext cx="4023360" cy="1091022"/>
            </a:xfrm>
            <a:custGeom>
              <a:avLst/>
              <a:gdLst/>
              <a:ahLst/>
              <a:cxnLst/>
              <a:rect r="r" b="b" t="t" l="l"/>
              <a:pathLst>
                <a:path h="1091022" w="4023360">
                  <a:moveTo>
                    <a:pt x="0" y="0"/>
                  </a:moveTo>
                  <a:lnTo>
                    <a:pt x="4023360" y="0"/>
                  </a:lnTo>
                  <a:lnTo>
                    <a:pt x="4023360" y="1091022"/>
                  </a:lnTo>
                  <a:lnTo>
                    <a:pt x="0" y="1091022"/>
                  </a:lnTo>
                  <a:close/>
                </a:path>
              </a:pathLst>
            </a:custGeom>
            <a:blipFill>
              <a:blip r:embed="rId3">
                <a:alphaModFix amt="0"/>
              </a:blip>
              <a:stretch>
                <a:fillRect l="0" t="-23244" r="0" b="-20465"/>
              </a:stretch>
            </a:blipFill>
          </p:spPr>
        </p:sp>
        <p:sp>
          <p:nvSpPr>
            <p:cNvPr name="TextBox 22" id="22"/>
            <p:cNvSpPr txBox="true"/>
            <p:nvPr/>
          </p:nvSpPr>
          <p:spPr>
            <a:xfrm>
              <a:off x="0" y="0"/>
              <a:ext cx="4023360" cy="1091022"/>
            </a:xfrm>
            <a:prstGeom prst="rect">
              <a:avLst/>
            </a:prstGeom>
          </p:spPr>
          <p:txBody>
            <a:bodyPr anchor="ctr" rtlCol="false" tIns="0" lIns="0" bIns="0" rIns="0"/>
            <a:lstStyle/>
            <a:p>
              <a:pPr algn="ctr">
                <a:lnSpc>
                  <a:spcPts val="5220"/>
                </a:lnSpc>
              </a:pPr>
              <a:r>
                <a:rPr lang="en-US" sz="4350">
                  <a:solidFill>
                    <a:srgbClr val="2B3541"/>
                  </a:solidFill>
                  <a:latin typeface="Aptos"/>
                  <a:ea typeface="Aptos"/>
                  <a:cs typeface="Aptos"/>
                  <a:sym typeface="Aptos"/>
                </a:rPr>
                <a:t>4</a:t>
              </a:r>
            </a:p>
          </p:txBody>
        </p:sp>
      </p:grpSp>
      <p:grpSp>
        <p:nvGrpSpPr>
          <p:cNvPr name="Group 23" id="23"/>
          <p:cNvGrpSpPr/>
          <p:nvPr/>
        </p:nvGrpSpPr>
        <p:grpSpPr>
          <a:xfrm rot="0">
            <a:off x="8077446" y="3634567"/>
            <a:ext cx="3017520" cy="414821"/>
            <a:chOff x="0" y="0"/>
            <a:chExt cx="4023360" cy="553095"/>
          </a:xfrm>
        </p:grpSpPr>
        <p:sp>
          <p:nvSpPr>
            <p:cNvPr name="Freeform 24" id="24"/>
            <p:cNvSpPr/>
            <p:nvPr/>
          </p:nvSpPr>
          <p:spPr>
            <a:xfrm flipH="false" flipV="false" rot="0">
              <a:off x="0" y="0"/>
              <a:ext cx="4023360" cy="553095"/>
            </a:xfrm>
            <a:custGeom>
              <a:avLst/>
              <a:gdLst/>
              <a:ahLst/>
              <a:cxnLst/>
              <a:rect r="r" b="b" t="t" l="l"/>
              <a:pathLst>
                <a:path h="553095" w="4023360">
                  <a:moveTo>
                    <a:pt x="0" y="0"/>
                  </a:moveTo>
                  <a:lnTo>
                    <a:pt x="4023360" y="0"/>
                  </a:lnTo>
                  <a:lnTo>
                    <a:pt x="4023360" y="553095"/>
                  </a:lnTo>
                  <a:lnTo>
                    <a:pt x="0" y="553095"/>
                  </a:lnTo>
                  <a:close/>
                </a:path>
              </a:pathLst>
            </a:custGeom>
            <a:blipFill>
              <a:blip r:embed="rId3">
                <a:alphaModFix amt="0"/>
              </a:blip>
              <a:stretch>
                <a:fillRect l="0" t="-95448" r="0" b="-88030"/>
              </a:stretch>
            </a:blipFill>
          </p:spPr>
        </p:sp>
        <p:sp>
          <p:nvSpPr>
            <p:cNvPr name="TextBox 25" id="25"/>
            <p:cNvSpPr txBox="true"/>
            <p:nvPr/>
          </p:nvSpPr>
          <p:spPr>
            <a:xfrm>
              <a:off x="0" y="0"/>
              <a:ext cx="4023360" cy="553095"/>
            </a:xfrm>
            <a:prstGeom prst="rect">
              <a:avLst/>
            </a:prstGeom>
          </p:spPr>
          <p:txBody>
            <a:bodyPr anchor="ctr" rtlCol="false" tIns="0" lIns="0" bIns="0" rIns="0"/>
            <a:lstStyle/>
            <a:p>
              <a:pPr algn="ctr" marL="0" indent="0" lvl="0">
                <a:lnSpc>
                  <a:spcPts val="2639"/>
                </a:lnSpc>
                <a:spcBef>
                  <a:spcPct val="0"/>
                </a:spcBef>
              </a:pPr>
              <a:r>
                <a:rPr lang="en-US" sz="2199">
                  <a:solidFill>
                    <a:srgbClr val="2B3541"/>
                  </a:solidFill>
                  <a:latin typeface="Aptos"/>
                  <a:ea typeface="Aptos"/>
                  <a:cs typeface="Aptos"/>
                  <a:sym typeface="Aptos"/>
                </a:rPr>
                <a:t>Benchmarks</a:t>
              </a:r>
            </a:p>
          </p:txBody>
        </p:sp>
      </p:grpSp>
      <p:grpSp>
        <p:nvGrpSpPr>
          <p:cNvPr name="Group 26" id="26"/>
          <p:cNvGrpSpPr/>
          <p:nvPr/>
        </p:nvGrpSpPr>
        <p:grpSpPr>
          <a:xfrm rot="0">
            <a:off x="6608303" y="3982713"/>
            <a:ext cx="5955808" cy="480060"/>
            <a:chOff x="0" y="0"/>
            <a:chExt cx="7941077" cy="640080"/>
          </a:xfrm>
        </p:grpSpPr>
        <p:sp>
          <p:nvSpPr>
            <p:cNvPr name="Freeform 27" id="27"/>
            <p:cNvSpPr/>
            <p:nvPr/>
          </p:nvSpPr>
          <p:spPr>
            <a:xfrm flipH="false" flipV="false" rot="0">
              <a:off x="0" y="0"/>
              <a:ext cx="7941077" cy="640080"/>
            </a:xfrm>
            <a:custGeom>
              <a:avLst/>
              <a:gdLst/>
              <a:ahLst/>
              <a:cxnLst/>
              <a:rect r="r" b="b" t="t" l="l"/>
              <a:pathLst>
                <a:path h="640080" w="7941077">
                  <a:moveTo>
                    <a:pt x="0" y="0"/>
                  </a:moveTo>
                  <a:lnTo>
                    <a:pt x="7941077" y="0"/>
                  </a:lnTo>
                  <a:lnTo>
                    <a:pt x="7941077" y="640080"/>
                  </a:lnTo>
                  <a:lnTo>
                    <a:pt x="0" y="640080"/>
                  </a:lnTo>
                  <a:close/>
                </a:path>
              </a:pathLst>
            </a:custGeom>
            <a:blipFill>
              <a:blip r:embed="rId3">
                <a:alphaModFix amt="0"/>
              </a:blip>
              <a:stretch>
                <a:fillRect l="0" t="-72477" r="49334" b="-72477"/>
              </a:stretch>
            </a:blipFill>
          </p:spPr>
        </p:sp>
        <p:sp>
          <p:nvSpPr>
            <p:cNvPr name="TextBox 28" id="28"/>
            <p:cNvSpPr txBox="true"/>
            <p:nvPr/>
          </p:nvSpPr>
          <p:spPr>
            <a:xfrm>
              <a:off x="0" y="0"/>
              <a:ext cx="7941077" cy="640080"/>
            </a:xfrm>
            <a:prstGeom prst="rect">
              <a:avLst/>
            </a:prstGeom>
          </p:spPr>
          <p:txBody>
            <a:bodyPr anchor="ctr" rtlCol="false" tIns="0" lIns="0" bIns="0" rIns="0"/>
            <a:lstStyle/>
            <a:p>
              <a:pPr algn="ctr" marL="0" indent="0" lvl="0">
                <a:lnSpc>
                  <a:spcPts val="2639"/>
                </a:lnSpc>
                <a:spcBef>
                  <a:spcPct val="0"/>
                </a:spcBef>
              </a:pPr>
              <a:r>
                <a:rPr lang="en-US" sz="2199">
                  <a:solidFill>
                    <a:srgbClr val="2B3541"/>
                  </a:solidFill>
                  <a:latin typeface="Aptos"/>
                  <a:ea typeface="Aptos"/>
                  <a:cs typeface="Aptos"/>
                  <a:sym typeface="Aptos"/>
                </a:rPr>
                <a:t>The customer chooses an index to exceed</a:t>
              </a:r>
            </a:p>
          </p:txBody>
        </p:sp>
      </p:grpSp>
      <p:grpSp>
        <p:nvGrpSpPr>
          <p:cNvPr name="Group 29" id="29"/>
          <p:cNvGrpSpPr/>
          <p:nvPr/>
        </p:nvGrpSpPr>
        <p:grpSpPr>
          <a:xfrm rot="0">
            <a:off x="12646581" y="2946645"/>
            <a:ext cx="5272497" cy="818266"/>
            <a:chOff x="0" y="0"/>
            <a:chExt cx="7029996" cy="1091022"/>
          </a:xfrm>
        </p:grpSpPr>
        <p:sp>
          <p:nvSpPr>
            <p:cNvPr name="Freeform 30" id="30"/>
            <p:cNvSpPr/>
            <p:nvPr/>
          </p:nvSpPr>
          <p:spPr>
            <a:xfrm flipH="false" flipV="false" rot="0">
              <a:off x="0" y="0"/>
              <a:ext cx="7029996" cy="1091022"/>
            </a:xfrm>
            <a:custGeom>
              <a:avLst/>
              <a:gdLst/>
              <a:ahLst/>
              <a:cxnLst/>
              <a:rect r="r" b="b" t="t" l="l"/>
              <a:pathLst>
                <a:path h="1091022" w="7029996">
                  <a:moveTo>
                    <a:pt x="0" y="0"/>
                  </a:moveTo>
                  <a:lnTo>
                    <a:pt x="7029996" y="0"/>
                  </a:lnTo>
                  <a:lnTo>
                    <a:pt x="7029996" y="1091022"/>
                  </a:lnTo>
                  <a:lnTo>
                    <a:pt x="0" y="1091022"/>
                  </a:lnTo>
                  <a:close/>
                </a:path>
              </a:pathLst>
            </a:custGeom>
            <a:blipFill>
              <a:blip r:embed="rId3">
                <a:alphaModFix amt="0"/>
              </a:blip>
              <a:stretch>
                <a:fillRect l="0" t="-23244" r="42768" b="-20465"/>
              </a:stretch>
            </a:blipFill>
          </p:spPr>
        </p:sp>
        <p:sp>
          <p:nvSpPr>
            <p:cNvPr name="TextBox 31" id="31"/>
            <p:cNvSpPr txBox="true"/>
            <p:nvPr/>
          </p:nvSpPr>
          <p:spPr>
            <a:xfrm>
              <a:off x="0" y="0"/>
              <a:ext cx="7029996" cy="1091022"/>
            </a:xfrm>
            <a:prstGeom prst="rect">
              <a:avLst/>
            </a:prstGeom>
          </p:spPr>
          <p:txBody>
            <a:bodyPr anchor="ctr" rtlCol="false" tIns="0" lIns="0" bIns="0" rIns="0"/>
            <a:lstStyle/>
            <a:p>
              <a:pPr algn="ctr">
                <a:lnSpc>
                  <a:spcPts val="5220"/>
                </a:lnSpc>
              </a:pPr>
              <a:r>
                <a:rPr lang="en-US" sz="4350">
                  <a:solidFill>
                    <a:srgbClr val="2B3541"/>
                  </a:solidFill>
                  <a:latin typeface="Aptos"/>
                  <a:ea typeface="Aptos"/>
                  <a:cs typeface="Aptos"/>
                  <a:sym typeface="Aptos"/>
                </a:rPr>
                <a:t>4</a:t>
              </a:r>
            </a:p>
          </p:txBody>
        </p:sp>
      </p:grpSp>
      <p:grpSp>
        <p:nvGrpSpPr>
          <p:cNvPr name="Group 32" id="32"/>
          <p:cNvGrpSpPr/>
          <p:nvPr/>
        </p:nvGrpSpPr>
        <p:grpSpPr>
          <a:xfrm rot="0">
            <a:off x="13774069" y="3572376"/>
            <a:ext cx="3017520" cy="414821"/>
            <a:chOff x="0" y="0"/>
            <a:chExt cx="4023360" cy="553095"/>
          </a:xfrm>
        </p:grpSpPr>
        <p:sp>
          <p:nvSpPr>
            <p:cNvPr name="Freeform 33" id="33"/>
            <p:cNvSpPr/>
            <p:nvPr/>
          </p:nvSpPr>
          <p:spPr>
            <a:xfrm flipH="false" flipV="false" rot="0">
              <a:off x="0" y="0"/>
              <a:ext cx="4023360" cy="553095"/>
            </a:xfrm>
            <a:custGeom>
              <a:avLst/>
              <a:gdLst/>
              <a:ahLst/>
              <a:cxnLst/>
              <a:rect r="r" b="b" t="t" l="l"/>
              <a:pathLst>
                <a:path h="553095" w="4023360">
                  <a:moveTo>
                    <a:pt x="0" y="0"/>
                  </a:moveTo>
                  <a:lnTo>
                    <a:pt x="4023360" y="0"/>
                  </a:lnTo>
                  <a:lnTo>
                    <a:pt x="4023360" y="553095"/>
                  </a:lnTo>
                  <a:lnTo>
                    <a:pt x="0" y="553095"/>
                  </a:lnTo>
                  <a:close/>
                </a:path>
              </a:pathLst>
            </a:custGeom>
            <a:blipFill>
              <a:blip r:embed="rId3">
                <a:alphaModFix amt="0"/>
              </a:blip>
              <a:stretch>
                <a:fillRect l="0" t="-95448" r="0" b="-88030"/>
              </a:stretch>
            </a:blipFill>
          </p:spPr>
        </p:sp>
        <p:sp>
          <p:nvSpPr>
            <p:cNvPr name="TextBox 34" id="34"/>
            <p:cNvSpPr txBox="true"/>
            <p:nvPr/>
          </p:nvSpPr>
          <p:spPr>
            <a:xfrm>
              <a:off x="0" y="0"/>
              <a:ext cx="4023360" cy="553095"/>
            </a:xfrm>
            <a:prstGeom prst="rect">
              <a:avLst/>
            </a:prstGeom>
          </p:spPr>
          <p:txBody>
            <a:bodyPr anchor="ctr" rtlCol="false" tIns="0" lIns="0" bIns="0" rIns="0"/>
            <a:lstStyle/>
            <a:p>
              <a:pPr algn="ctr" marL="0" indent="0" lvl="0">
                <a:lnSpc>
                  <a:spcPts val="2639"/>
                </a:lnSpc>
                <a:spcBef>
                  <a:spcPct val="0"/>
                </a:spcBef>
              </a:pPr>
              <a:r>
                <a:rPr lang="en-US" sz="2199">
                  <a:solidFill>
                    <a:srgbClr val="2B3541"/>
                  </a:solidFill>
                  <a:latin typeface="Aptos"/>
                  <a:ea typeface="Aptos"/>
                  <a:cs typeface="Aptos"/>
                  <a:sym typeface="Aptos"/>
                </a:rPr>
                <a:t>Risks</a:t>
              </a:r>
            </a:p>
          </p:txBody>
        </p:sp>
      </p:grpSp>
      <p:grpSp>
        <p:nvGrpSpPr>
          <p:cNvPr name="Group 35" id="35"/>
          <p:cNvGrpSpPr/>
          <p:nvPr/>
        </p:nvGrpSpPr>
        <p:grpSpPr>
          <a:xfrm rot="0">
            <a:off x="13213604" y="3910704"/>
            <a:ext cx="3821962" cy="480060"/>
            <a:chOff x="0" y="0"/>
            <a:chExt cx="5095950" cy="640080"/>
          </a:xfrm>
        </p:grpSpPr>
        <p:sp>
          <p:nvSpPr>
            <p:cNvPr name="Freeform 36" id="36"/>
            <p:cNvSpPr/>
            <p:nvPr/>
          </p:nvSpPr>
          <p:spPr>
            <a:xfrm flipH="false" flipV="false" rot="0">
              <a:off x="0" y="0"/>
              <a:ext cx="5095949" cy="640080"/>
            </a:xfrm>
            <a:custGeom>
              <a:avLst/>
              <a:gdLst/>
              <a:ahLst/>
              <a:cxnLst/>
              <a:rect r="r" b="b" t="t" l="l"/>
              <a:pathLst>
                <a:path h="640080" w="5095949">
                  <a:moveTo>
                    <a:pt x="0" y="0"/>
                  </a:moveTo>
                  <a:lnTo>
                    <a:pt x="5095949" y="0"/>
                  </a:lnTo>
                  <a:lnTo>
                    <a:pt x="5095949" y="640080"/>
                  </a:lnTo>
                  <a:lnTo>
                    <a:pt x="0" y="640080"/>
                  </a:lnTo>
                  <a:close/>
                </a:path>
              </a:pathLst>
            </a:custGeom>
            <a:blipFill>
              <a:blip r:embed="rId3">
                <a:alphaModFix amt="0"/>
              </a:blip>
              <a:stretch>
                <a:fillRect l="0" t="-72477" r="21047" b="-72477"/>
              </a:stretch>
            </a:blipFill>
          </p:spPr>
        </p:sp>
        <p:sp>
          <p:nvSpPr>
            <p:cNvPr name="TextBox 37" id="37"/>
            <p:cNvSpPr txBox="true"/>
            <p:nvPr/>
          </p:nvSpPr>
          <p:spPr>
            <a:xfrm>
              <a:off x="0" y="0"/>
              <a:ext cx="5095950" cy="640080"/>
            </a:xfrm>
            <a:prstGeom prst="rect">
              <a:avLst/>
            </a:prstGeom>
          </p:spPr>
          <p:txBody>
            <a:bodyPr anchor="ctr" rtlCol="false" tIns="0" lIns="0" bIns="0" rIns="0"/>
            <a:lstStyle/>
            <a:p>
              <a:pPr algn="ctr" marL="0" indent="0" lvl="0">
                <a:lnSpc>
                  <a:spcPts val="2639"/>
                </a:lnSpc>
                <a:spcBef>
                  <a:spcPct val="0"/>
                </a:spcBef>
              </a:pPr>
              <a:r>
                <a:rPr lang="en-US" sz="2199">
                  <a:solidFill>
                    <a:srgbClr val="2B3541"/>
                  </a:solidFill>
                  <a:latin typeface="Aptos"/>
                  <a:ea typeface="Aptos"/>
                  <a:cs typeface="Aptos"/>
                  <a:sym typeface="Aptos"/>
                </a:rPr>
                <a:t>Selected by the user</a:t>
              </a:r>
            </a:p>
          </p:txBody>
        </p:sp>
      </p:grpSp>
      <p:grpSp>
        <p:nvGrpSpPr>
          <p:cNvPr name="Group 38" id="38"/>
          <p:cNvGrpSpPr/>
          <p:nvPr/>
        </p:nvGrpSpPr>
        <p:grpSpPr>
          <a:xfrm rot="0">
            <a:off x="842772" y="4977123"/>
            <a:ext cx="7867417" cy="4572388"/>
            <a:chOff x="0" y="0"/>
            <a:chExt cx="9992360" cy="5807364"/>
          </a:xfrm>
        </p:grpSpPr>
        <p:sp>
          <p:nvSpPr>
            <p:cNvPr name="Freeform 39" id="39"/>
            <p:cNvSpPr/>
            <p:nvPr/>
          </p:nvSpPr>
          <p:spPr>
            <a:xfrm flipH="false" flipV="false" rot="0">
              <a:off x="0" y="0"/>
              <a:ext cx="9992233" cy="5807155"/>
            </a:xfrm>
            <a:custGeom>
              <a:avLst/>
              <a:gdLst/>
              <a:ahLst/>
              <a:cxnLst/>
              <a:rect r="r" b="b" t="t" l="l"/>
              <a:pathLst>
                <a:path h="5807155" w="9992233">
                  <a:moveTo>
                    <a:pt x="0" y="362856"/>
                  </a:moveTo>
                  <a:cubicBezTo>
                    <a:pt x="0" y="162451"/>
                    <a:pt x="98933" y="0"/>
                    <a:pt x="220980" y="0"/>
                  </a:cubicBezTo>
                  <a:lnTo>
                    <a:pt x="9771253" y="0"/>
                  </a:lnTo>
                  <a:cubicBezTo>
                    <a:pt x="9893300" y="0"/>
                    <a:pt x="9992233" y="162451"/>
                    <a:pt x="9992233" y="362856"/>
                  </a:cubicBezTo>
                  <a:lnTo>
                    <a:pt x="9992233" y="5444299"/>
                  </a:lnTo>
                  <a:cubicBezTo>
                    <a:pt x="9992233" y="5644704"/>
                    <a:pt x="9893300" y="5807155"/>
                    <a:pt x="9771253" y="5807155"/>
                  </a:cubicBezTo>
                  <a:lnTo>
                    <a:pt x="220980" y="5807155"/>
                  </a:lnTo>
                  <a:cubicBezTo>
                    <a:pt x="98933" y="5807155"/>
                    <a:pt x="0" y="5644704"/>
                    <a:pt x="0" y="5444299"/>
                  </a:cubicBezTo>
                  <a:close/>
                </a:path>
              </a:pathLst>
            </a:custGeom>
            <a:solidFill>
              <a:srgbClr val="B7D9F4"/>
            </a:solidFill>
            <a:ln w="19050" cap="sq">
              <a:solidFill>
                <a:srgbClr val="B7D9F4"/>
              </a:solidFill>
              <a:prstDash val="solid"/>
              <a:miter/>
            </a:ln>
          </p:spPr>
        </p:sp>
      </p:grpSp>
      <p:grpSp>
        <p:nvGrpSpPr>
          <p:cNvPr name="Group 40" id="40"/>
          <p:cNvGrpSpPr/>
          <p:nvPr/>
        </p:nvGrpSpPr>
        <p:grpSpPr>
          <a:xfrm rot="0">
            <a:off x="1285758" y="5329548"/>
            <a:ext cx="6981444" cy="522759"/>
            <a:chOff x="0" y="0"/>
            <a:chExt cx="9308592" cy="697012"/>
          </a:xfrm>
        </p:grpSpPr>
        <p:sp>
          <p:nvSpPr>
            <p:cNvPr name="Freeform 41" id="41"/>
            <p:cNvSpPr/>
            <p:nvPr/>
          </p:nvSpPr>
          <p:spPr>
            <a:xfrm flipH="false" flipV="false" rot="0">
              <a:off x="0" y="0"/>
              <a:ext cx="9308592" cy="697012"/>
            </a:xfrm>
            <a:custGeom>
              <a:avLst/>
              <a:gdLst/>
              <a:ahLst/>
              <a:cxnLst/>
              <a:rect r="r" b="b" t="t" l="l"/>
              <a:pathLst>
                <a:path h="697012" w="9308592">
                  <a:moveTo>
                    <a:pt x="0" y="0"/>
                  </a:moveTo>
                  <a:lnTo>
                    <a:pt x="9308592" y="0"/>
                  </a:lnTo>
                  <a:lnTo>
                    <a:pt x="9308592" y="697012"/>
                  </a:lnTo>
                  <a:lnTo>
                    <a:pt x="0" y="697012"/>
                  </a:lnTo>
                  <a:close/>
                </a:path>
              </a:pathLst>
            </a:custGeom>
            <a:blipFill>
              <a:blip r:embed="rId3">
                <a:alphaModFix amt="0"/>
              </a:blip>
              <a:stretch>
                <a:fillRect l="0" t="-223489" r="0" b="-196955"/>
              </a:stretch>
            </a:blipFill>
          </p:spPr>
        </p:sp>
        <p:sp>
          <p:nvSpPr>
            <p:cNvPr name="TextBox 42" id="42"/>
            <p:cNvSpPr txBox="true"/>
            <p:nvPr/>
          </p:nvSpPr>
          <p:spPr>
            <a:xfrm>
              <a:off x="0" y="0"/>
              <a:ext cx="9308592" cy="697012"/>
            </a:xfrm>
            <a:prstGeom prst="rect">
              <a:avLst/>
            </a:prstGeom>
          </p:spPr>
          <p:txBody>
            <a:bodyPr anchor="ctr" rtlCol="false" tIns="0" lIns="0" bIns="0" rIns="0"/>
            <a:lstStyle/>
            <a:p>
              <a:pPr algn="l">
                <a:lnSpc>
                  <a:spcPts val="3359"/>
                </a:lnSpc>
              </a:pPr>
              <a:r>
                <a:rPr lang="en-US" b="true" sz="2799">
                  <a:solidFill>
                    <a:srgbClr val="000000"/>
                  </a:solidFill>
                  <a:latin typeface="Aptos Bold"/>
                  <a:ea typeface="Aptos Bold"/>
                  <a:cs typeface="Aptos Bold"/>
                  <a:sym typeface="Aptos Bold"/>
                </a:rPr>
                <a:t>What It Does</a:t>
              </a:r>
            </a:p>
          </p:txBody>
        </p:sp>
      </p:grpSp>
      <p:sp>
        <p:nvSpPr>
          <p:cNvPr name="TextBox 43" id="43"/>
          <p:cNvSpPr txBox="true"/>
          <p:nvPr/>
        </p:nvSpPr>
        <p:spPr>
          <a:xfrm rot="0">
            <a:off x="1070923" y="6214257"/>
            <a:ext cx="7607561" cy="2171700"/>
          </a:xfrm>
          <a:prstGeom prst="rect">
            <a:avLst/>
          </a:prstGeom>
        </p:spPr>
        <p:txBody>
          <a:bodyPr anchor="t" rtlCol="false" tIns="0" lIns="0" bIns="0" rIns="0">
            <a:spAutoFit/>
          </a:bodyPr>
          <a:lstStyle/>
          <a:p>
            <a:pPr algn="l" marL="518158" indent="-259079" lvl="1">
              <a:lnSpc>
                <a:spcPts val="2879"/>
              </a:lnSpc>
              <a:buFont typeface="Arial"/>
              <a:buChar char="•"/>
            </a:pPr>
            <a:r>
              <a:rPr lang="en-US" sz="2399">
                <a:solidFill>
                  <a:srgbClr val="000000"/>
                </a:solidFill>
                <a:latin typeface="Aptos"/>
                <a:ea typeface="Aptos"/>
                <a:cs typeface="Aptos"/>
                <a:sym typeface="Aptos"/>
              </a:rPr>
              <a:t>Allocates wealth across ~60 asset classes</a:t>
            </a:r>
          </a:p>
          <a:p>
            <a:pPr algn="l" marL="518158" indent="-259079" lvl="1">
              <a:lnSpc>
                <a:spcPts val="2879"/>
              </a:lnSpc>
              <a:buFont typeface="Arial"/>
              <a:buChar char="•"/>
            </a:pPr>
            <a:r>
              <a:rPr lang="en-US" sz="2399">
                <a:solidFill>
                  <a:srgbClr val="000000"/>
                </a:solidFill>
                <a:latin typeface="Aptos"/>
                <a:ea typeface="Aptos"/>
                <a:cs typeface="Aptos"/>
                <a:sym typeface="Aptos"/>
              </a:rPr>
              <a:t>Uses customer-specific goals, horizon, benchmark, liquidity/currency preferences and risk attitude</a:t>
            </a:r>
          </a:p>
          <a:p>
            <a:pPr algn="l" marL="518158" indent="-259079" lvl="1">
              <a:lnSpc>
                <a:spcPts val="2879"/>
              </a:lnSpc>
              <a:buFont typeface="Arial"/>
              <a:buChar char="•"/>
            </a:pPr>
            <a:r>
              <a:rPr lang="en-US" sz="2399">
                <a:solidFill>
                  <a:srgbClr val="000000"/>
                </a:solidFill>
                <a:latin typeface="Aptos"/>
                <a:ea typeface="Aptos"/>
                <a:cs typeface="Aptos"/>
                <a:sym typeface="Aptos"/>
              </a:rPr>
              <a:t>Precomputes solutions for instant CRM access</a:t>
            </a:r>
          </a:p>
          <a:p>
            <a:pPr algn="l" marL="518158" indent="-259079" lvl="1">
              <a:lnSpc>
                <a:spcPts val="2879"/>
              </a:lnSpc>
              <a:buFont typeface="Arial"/>
              <a:buChar char="•"/>
            </a:pPr>
            <a:r>
              <a:rPr lang="en-US" sz="2399">
                <a:solidFill>
                  <a:srgbClr val="000000"/>
                </a:solidFill>
                <a:latin typeface="Aptos"/>
                <a:ea typeface="Aptos"/>
                <a:cs typeface="Aptos"/>
                <a:sym typeface="Aptos"/>
              </a:rPr>
              <a:t>CRM remains responsible for selecting individual securities</a:t>
            </a:r>
          </a:p>
        </p:txBody>
      </p:sp>
      <p:grpSp>
        <p:nvGrpSpPr>
          <p:cNvPr name="Group 44" id="44"/>
          <p:cNvGrpSpPr/>
          <p:nvPr/>
        </p:nvGrpSpPr>
        <p:grpSpPr>
          <a:xfrm rot="0">
            <a:off x="9111615" y="4977123"/>
            <a:ext cx="8807463" cy="4572388"/>
            <a:chOff x="0" y="0"/>
            <a:chExt cx="11197152" cy="5812994"/>
          </a:xfrm>
        </p:grpSpPr>
        <p:sp>
          <p:nvSpPr>
            <p:cNvPr name="Freeform 45" id="45"/>
            <p:cNvSpPr/>
            <p:nvPr/>
          </p:nvSpPr>
          <p:spPr>
            <a:xfrm flipH="false" flipV="false" rot="0">
              <a:off x="0" y="0"/>
              <a:ext cx="11197013" cy="5812785"/>
            </a:xfrm>
            <a:custGeom>
              <a:avLst/>
              <a:gdLst/>
              <a:ahLst/>
              <a:cxnLst/>
              <a:rect r="r" b="b" t="t" l="l"/>
              <a:pathLst>
                <a:path h="5812785" w="11197013">
                  <a:moveTo>
                    <a:pt x="0" y="363208"/>
                  </a:moveTo>
                  <a:cubicBezTo>
                    <a:pt x="0" y="162609"/>
                    <a:pt x="108869" y="0"/>
                    <a:pt x="243173" y="0"/>
                  </a:cubicBezTo>
                  <a:lnTo>
                    <a:pt x="10953839" y="0"/>
                  </a:lnTo>
                  <a:cubicBezTo>
                    <a:pt x="11088143" y="0"/>
                    <a:pt x="11197013" y="162609"/>
                    <a:pt x="11197013" y="363208"/>
                  </a:cubicBezTo>
                  <a:lnTo>
                    <a:pt x="11197013" y="5449577"/>
                  </a:lnTo>
                  <a:cubicBezTo>
                    <a:pt x="11197013" y="5650176"/>
                    <a:pt x="11088143" y="5812785"/>
                    <a:pt x="10953839" y="5812785"/>
                  </a:cubicBezTo>
                  <a:lnTo>
                    <a:pt x="243173" y="5812785"/>
                  </a:lnTo>
                  <a:cubicBezTo>
                    <a:pt x="108869" y="5812785"/>
                    <a:pt x="0" y="5650176"/>
                    <a:pt x="0" y="5449577"/>
                  </a:cubicBezTo>
                  <a:close/>
                </a:path>
              </a:pathLst>
            </a:custGeom>
            <a:solidFill>
              <a:srgbClr val="B7D9F4"/>
            </a:solidFill>
            <a:ln w="19050" cap="sq">
              <a:solidFill>
                <a:srgbClr val="B7D9F4"/>
              </a:solidFill>
              <a:prstDash val="solid"/>
              <a:miter/>
            </a:ln>
          </p:spPr>
        </p:sp>
      </p:grpSp>
      <p:grpSp>
        <p:nvGrpSpPr>
          <p:cNvPr name="Group 46" id="46"/>
          <p:cNvGrpSpPr/>
          <p:nvPr/>
        </p:nvGrpSpPr>
        <p:grpSpPr>
          <a:xfrm rot="0">
            <a:off x="9586206" y="5329548"/>
            <a:ext cx="7118604" cy="522759"/>
            <a:chOff x="0" y="0"/>
            <a:chExt cx="9491472" cy="697012"/>
          </a:xfrm>
        </p:grpSpPr>
        <p:sp>
          <p:nvSpPr>
            <p:cNvPr name="Freeform 47" id="47"/>
            <p:cNvSpPr/>
            <p:nvPr/>
          </p:nvSpPr>
          <p:spPr>
            <a:xfrm flipH="false" flipV="false" rot="0">
              <a:off x="0" y="0"/>
              <a:ext cx="9491472" cy="697012"/>
            </a:xfrm>
            <a:custGeom>
              <a:avLst/>
              <a:gdLst/>
              <a:ahLst/>
              <a:cxnLst/>
              <a:rect r="r" b="b" t="t" l="l"/>
              <a:pathLst>
                <a:path h="697012" w="9491472">
                  <a:moveTo>
                    <a:pt x="0" y="0"/>
                  </a:moveTo>
                  <a:lnTo>
                    <a:pt x="9491472" y="0"/>
                  </a:lnTo>
                  <a:lnTo>
                    <a:pt x="9491472" y="697012"/>
                  </a:lnTo>
                  <a:lnTo>
                    <a:pt x="0" y="697012"/>
                  </a:lnTo>
                  <a:close/>
                </a:path>
              </a:pathLst>
            </a:custGeom>
            <a:blipFill>
              <a:blip r:embed="rId3">
                <a:alphaModFix amt="0"/>
              </a:blip>
              <a:stretch>
                <a:fillRect l="0" t="-228602" r="0" b="-202067"/>
              </a:stretch>
            </a:blipFill>
          </p:spPr>
        </p:sp>
        <p:sp>
          <p:nvSpPr>
            <p:cNvPr name="TextBox 48" id="48"/>
            <p:cNvSpPr txBox="true"/>
            <p:nvPr/>
          </p:nvSpPr>
          <p:spPr>
            <a:xfrm>
              <a:off x="0" y="0"/>
              <a:ext cx="9491472" cy="697012"/>
            </a:xfrm>
            <a:prstGeom prst="rect">
              <a:avLst/>
            </a:prstGeom>
          </p:spPr>
          <p:txBody>
            <a:bodyPr anchor="ctr" rtlCol="false" tIns="0" lIns="0" bIns="0" rIns="0"/>
            <a:lstStyle/>
            <a:p>
              <a:pPr algn="l" marL="0" indent="0" lvl="0">
                <a:lnSpc>
                  <a:spcPts val="3359"/>
                </a:lnSpc>
                <a:spcBef>
                  <a:spcPct val="0"/>
                </a:spcBef>
              </a:pPr>
              <a:r>
                <a:rPr lang="en-US" b="true" sz="2799" strike="noStrike">
                  <a:solidFill>
                    <a:srgbClr val="000000"/>
                  </a:solidFill>
                  <a:latin typeface="Aptos Bold"/>
                  <a:ea typeface="Aptos Bold"/>
                  <a:cs typeface="Aptos Bold"/>
                  <a:sym typeface="Aptos Bold"/>
                </a:rPr>
                <a:t>Why the Bank Built It</a:t>
              </a:r>
            </a:p>
          </p:txBody>
        </p:sp>
      </p:grpSp>
      <p:sp>
        <p:nvSpPr>
          <p:cNvPr name="TextBox 49" id="49"/>
          <p:cNvSpPr txBox="true"/>
          <p:nvPr/>
        </p:nvSpPr>
        <p:spPr>
          <a:xfrm rot="0">
            <a:off x="9396605" y="6286764"/>
            <a:ext cx="7933942" cy="2895600"/>
          </a:xfrm>
          <a:prstGeom prst="rect">
            <a:avLst/>
          </a:prstGeom>
        </p:spPr>
        <p:txBody>
          <a:bodyPr anchor="t" rtlCol="false" tIns="0" lIns="0" bIns="0" rIns="0">
            <a:spAutoFit/>
          </a:bodyPr>
          <a:lstStyle/>
          <a:p>
            <a:pPr algn="l" marL="518158" indent="-259079" lvl="1">
              <a:lnSpc>
                <a:spcPts val="2879"/>
              </a:lnSpc>
              <a:buFont typeface="Arial"/>
              <a:buChar char="•"/>
            </a:pPr>
            <a:r>
              <a:rPr lang="en-US" sz="2399" strike="noStrike" u="none">
                <a:solidFill>
                  <a:srgbClr val="000000"/>
                </a:solidFill>
                <a:latin typeface="Aptos"/>
                <a:ea typeface="Aptos"/>
                <a:cs typeface="Aptos"/>
                <a:sym typeface="Aptos"/>
              </a:rPr>
              <a:t>CRMs followed diversification principles but lacked a quantitative tool for systematic advice</a:t>
            </a:r>
          </a:p>
          <a:p>
            <a:pPr algn="l" marL="518158" indent="-259079" lvl="1">
              <a:lnSpc>
                <a:spcPts val="2879"/>
              </a:lnSpc>
              <a:buFont typeface="Arial"/>
              <a:buChar char="•"/>
            </a:pPr>
            <a:r>
              <a:rPr lang="en-US" sz="2399" strike="noStrike" u="none">
                <a:solidFill>
                  <a:srgbClr val="000000"/>
                </a:solidFill>
                <a:latin typeface="Aptos"/>
                <a:ea typeface="Aptos"/>
                <a:cs typeface="Aptos"/>
                <a:sym typeface="Aptos"/>
              </a:rPr>
              <a:t>Bank restructuring emphasized personalized investment guidance and stronger risk management</a:t>
            </a:r>
          </a:p>
          <a:p>
            <a:pPr algn="l" marL="518158" indent="-259079" lvl="1">
              <a:lnSpc>
                <a:spcPts val="2879"/>
              </a:lnSpc>
              <a:buFont typeface="Arial"/>
              <a:buChar char="•"/>
            </a:pPr>
            <a:r>
              <a:rPr lang="en-US" sz="2399" strike="noStrike" u="none">
                <a:solidFill>
                  <a:srgbClr val="000000"/>
                </a:solidFill>
                <a:latin typeface="Aptos"/>
                <a:ea typeface="Aptos"/>
                <a:cs typeface="Aptos"/>
                <a:sym typeface="Aptos"/>
              </a:rPr>
              <a:t>Live nonlinear optimization for every consultation would be impractical</a:t>
            </a:r>
          </a:p>
          <a:p>
            <a:pPr algn="l" marL="518158" indent="-259079" lvl="1">
              <a:lnSpc>
                <a:spcPts val="2879"/>
              </a:lnSpc>
              <a:buFont typeface="Arial"/>
              <a:buChar char="•"/>
            </a:pPr>
            <a:r>
              <a:rPr lang="en-US" sz="2399" strike="noStrike" u="none">
                <a:solidFill>
                  <a:srgbClr val="000000"/>
                </a:solidFill>
                <a:latin typeface="Aptos"/>
                <a:ea typeface="Aptos"/>
                <a:cs typeface="Aptos"/>
                <a:sym typeface="Aptos"/>
              </a:rPr>
              <a:t>The solution had to scale without slowing face-to-face sessions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541020" y="351593"/>
            <a:ext cx="6106784" cy="688537"/>
            <a:chOff x="0" y="0"/>
            <a:chExt cx="7514500" cy="847257"/>
          </a:xfrm>
        </p:grpSpPr>
        <p:sp>
          <p:nvSpPr>
            <p:cNvPr name="Freeform 3" id="3"/>
            <p:cNvSpPr/>
            <p:nvPr/>
          </p:nvSpPr>
          <p:spPr>
            <a:xfrm flipH="false" flipV="false" rot="0">
              <a:off x="0" y="0"/>
              <a:ext cx="7514286" cy="847257"/>
            </a:xfrm>
            <a:custGeom>
              <a:avLst/>
              <a:gdLst/>
              <a:ahLst/>
              <a:cxnLst/>
              <a:rect r="r" b="b" t="t" l="l"/>
              <a:pathLst>
                <a:path h="847257" w="7514286">
                  <a:moveTo>
                    <a:pt x="0" y="282356"/>
                  </a:moveTo>
                  <a:cubicBezTo>
                    <a:pt x="0" y="126521"/>
                    <a:pt x="178746" y="0"/>
                    <a:pt x="398906" y="0"/>
                  </a:cubicBezTo>
                  <a:lnTo>
                    <a:pt x="7115380" y="0"/>
                  </a:lnTo>
                  <a:cubicBezTo>
                    <a:pt x="7335807" y="0"/>
                    <a:pt x="7514286" y="126521"/>
                    <a:pt x="7514286" y="282356"/>
                  </a:cubicBezTo>
                  <a:lnTo>
                    <a:pt x="7514286" y="564901"/>
                  </a:lnTo>
                  <a:cubicBezTo>
                    <a:pt x="7514286" y="720925"/>
                    <a:pt x="7335540" y="847257"/>
                    <a:pt x="7115380" y="847257"/>
                  </a:cubicBezTo>
                  <a:lnTo>
                    <a:pt x="398906" y="847257"/>
                  </a:lnTo>
                  <a:cubicBezTo>
                    <a:pt x="178746" y="847257"/>
                    <a:pt x="0" y="720735"/>
                    <a:pt x="0" y="564901"/>
                  </a:cubicBezTo>
                  <a:close/>
                </a:path>
              </a:pathLst>
            </a:custGeom>
            <a:solidFill>
              <a:srgbClr val="FAF5EB"/>
            </a:solidFill>
            <a:ln w="15240" cap="sq">
              <a:solidFill>
                <a:srgbClr val="3371A5"/>
              </a:solidFill>
              <a:prstDash val="solid"/>
              <a:miter/>
            </a:ln>
          </p:spPr>
        </p:sp>
      </p:grpSp>
      <p:grpSp>
        <p:nvGrpSpPr>
          <p:cNvPr name="Group 4" id="4"/>
          <p:cNvGrpSpPr/>
          <p:nvPr/>
        </p:nvGrpSpPr>
        <p:grpSpPr>
          <a:xfrm rot="0">
            <a:off x="785083" y="440725"/>
            <a:ext cx="5618658" cy="510272"/>
            <a:chOff x="0" y="0"/>
            <a:chExt cx="7491544" cy="680363"/>
          </a:xfrm>
        </p:grpSpPr>
        <p:sp>
          <p:nvSpPr>
            <p:cNvPr name="Freeform 5" id="5"/>
            <p:cNvSpPr/>
            <p:nvPr/>
          </p:nvSpPr>
          <p:spPr>
            <a:xfrm flipH="false" flipV="false" rot="0">
              <a:off x="0" y="0"/>
              <a:ext cx="7491544" cy="680363"/>
            </a:xfrm>
            <a:custGeom>
              <a:avLst/>
              <a:gdLst/>
              <a:ahLst/>
              <a:cxnLst/>
              <a:rect r="r" b="b" t="t" l="l"/>
              <a:pathLst>
                <a:path h="680363" w="7491544">
                  <a:moveTo>
                    <a:pt x="0" y="0"/>
                  </a:moveTo>
                  <a:lnTo>
                    <a:pt x="7491544" y="0"/>
                  </a:lnTo>
                  <a:lnTo>
                    <a:pt x="7491544" y="680363"/>
                  </a:lnTo>
                  <a:lnTo>
                    <a:pt x="0" y="680363"/>
                  </a:lnTo>
                  <a:close/>
                </a:path>
              </a:pathLst>
            </a:custGeom>
            <a:blipFill>
              <a:blip r:embed="rId2">
                <a:alphaModFix amt="0"/>
              </a:blip>
              <a:stretch>
                <a:fillRect l="0" t="-56294" r="57475" b="-26181"/>
              </a:stretch>
            </a:blipFill>
          </p:spPr>
        </p:sp>
        <p:sp>
          <p:nvSpPr>
            <p:cNvPr name="TextBox 6" id="6"/>
            <p:cNvSpPr txBox="true"/>
            <p:nvPr/>
          </p:nvSpPr>
          <p:spPr>
            <a:xfrm>
              <a:off x="0" y="0"/>
              <a:ext cx="7491544"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2 — DECISION PROBLEMS</a:t>
              </a:r>
            </a:p>
          </p:txBody>
        </p:sp>
      </p:grpSp>
      <p:grpSp>
        <p:nvGrpSpPr>
          <p:cNvPr name="Group 7" id="7"/>
          <p:cNvGrpSpPr/>
          <p:nvPr/>
        </p:nvGrpSpPr>
        <p:grpSpPr>
          <a:xfrm rot="0">
            <a:off x="569595" y="1184910"/>
            <a:ext cx="16596360" cy="713232"/>
            <a:chOff x="0" y="0"/>
            <a:chExt cx="22128480" cy="950976"/>
          </a:xfrm>
        </p:grpSpPr>
        <p:sp>
          <p:nvSpPr>
            <p:cNvPr name="Freeform 8" id="8"/>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2">
                <a:alphaModFix amt="0"/>
              </a:blip>
              <a:stretch>
                <a:fillRect l="0" t="-403401" r="0" b="-403401"/>
              </a:stretch>
            </a:blipFill>
          </p:spPr>
        </p:sp>
        <p:sp>
          <p:nvSpPr>
            <p:cNvPr name="TextBox 9" id="9"/>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Four Core Questions the Model Answers</a:t>
              </a:r>
            </a:p>
          </p:txBody>
        </p:sp>
      </p:grpSp>
      <p:sp>
        <p:nvSpPr>
          <p:cNvPr name="TextBox 10" id="10"/>
          <p:cNvSpPr txBox="true"/>
          <p:nvPr/>
        </p:nvSpPr>
        <p:spPr>
          <a:xfrm rot="0">
            <a:off x="521208" y="1966722"/>
            <a:ext cx="16527780" cy="361950"/>
          </a:xfrm>
          <a:prstGeom prst="rect">
            <a:avLst/>
          </a:prstGeom>
        </p:spPr>
        <p:txBody>
          <a:bodyPr anchor="t" rtlCol="false" tIns="0" lIns="0" bIns="0" rIns="0">
            <a:spAutoFit/>
          </a:bodyPr>
          <a:lstStyle/>
          <a:p>
            <a:pPr algn="l">
              <a:lnSpc>
                <a:spcPts val="2879"/>
              </a:lnSpc>
            </a:pPr>
            <a:r>
              <a:rPr lang="en-US" sz="2399">
                <a:solidFill>
                  <a:srgbClr val="2B3541"/>
                </a:solidFill>
                <a:latin typeface="Aptos"/>
                <a:ea typeface="Aptos"/>
                <a:cs typeface="Aptos"/>
                <a:sym typeface="Aptos"/>
              </a:rPr>
              <a:t>Opti-Money is an asset-allocation engine, not a stock-picker. It answers four questions for each customer profile.</a:t>
            </a:r>
          </a:p>
        </p:txBody>
      </p:sp>
      <p:grpSp>
        <p:nvGrpSpPr>
          <p:cNvPr name="Group 11" id="11"/>
          <p:cNvGrpSpPr/>
          <p:nvPr/>
        </p:nvGrpSpPr>
        <p:grpSpPr>
          <a:xfrm rot="0">
            <a:off x="463054" y="2623947"/>
            <a:ext cx="7751306" cy="1418082"/>
            <a:chOff x="0" y="0"/>
            <a:chExt cx="10335074" cy="1890776"/>
          </a:xfrm>
        </p:grpSpPr>
        <p:sp>
          <p:nvSpPr>
            <p:cNvPr name="Freeform 12" id="12"/>
            <p:cNvSpPr/>
            <p:nvPr/>
          </p:nvSpPr>
          <p:spPr>
            <a:xfrm flipH="false" flipV="false" rot="0">
              <a:off x="0" y="0"/>
              <a:ext cx="10335075" cy="1890776"/>
            </a:xfrm>
            <a:custGeom>
              <a:avLst/>
              <a:gdLst/>
              <a:ahLst/>
              <a:cxnLst/>
              <a:rect r="r" b="b" t="t" l="l"/>
              <a:pathLst>
                <a:path h="1890776" w="10335075">
                  <a:moveTo>
                    <a:pt x="0" y="222504"/>
                  </a:moveTo>
                  <a:cubicBezTo>
                    <a:pt x="0" y="99568"/>
                    <a:pt x="96783" y="0"/>
                    <a:pt x="216281" y="0"/>
                  </a:cubicBezTo>
                  <a:lnTo>
                    <a:pt x="10118793" y="0"/>
                  </a:lnTo>
                  <a:cubicBezTo>
                    <a:pt x="10238167" y="0"/>
                    <a:pt x="10335075" y="99568"/>
                    <a:pt x="10335075" y="222504"/>
                  </a:cubicBezTo>
                  <a:lnTo>
                    <a:pt x="10335075" y="1668272"/>
                  </a:lnTo>
                  <a:cubicBezTo>
                    <a:pt x="10335075" y="1791081"/>
                    <a:pt x="10238291" y="1890776"/>
                    <a:pt x="10118793" y="1890776"/>
                  </a:cubicBezTo>
                  <a:lnTo>
                    <a:pt x="216281" y="1890776"/>
                  </a:lnTo>
                  <a:cubicBezTo>
                    <a:pt x="96783" y="1890776"/>
                    <a:pt x="0" y="1791208"/>
                    <a:pt x="0" y="1668272"/>
                  </a:cubicBezTo>
                  <a:close/>
                </a:path>
              </a:pathLst>
            </a:custGeom>
            <a:solidFill>
              <a:srgbClr val="FAF5EB"/>
            </a:solidFill>
            <a:ln w="19050" cap="sq">
              <a:solidFill>
                <a:srgbClr val="3371A5"/>
              </a:solidFill>
              <a:prstDash val="solid"/>
              <a:miter/>
            </a:ln>
          </p:spPr>
        </p:sp>
      </p:grpSp>
      <p:grpSp>
        <p:nvGrpSpPr>
          <p:cNvPr name="Group 13" id="13"/>
          <p:cNvGrpSpPr/>
          <p:nvPr/>
        </p:nvGrpSpPr>
        <p:grpSpPr>
          <a:xfrm rot="0">
            <a:off x="766572" y="2729788"/>
            <a:ext cx="7447788" cy="450800"/>
            <a:chOff x="0" y="0"/>
            <a:chExt cx="9930384" cy="601066"/>
          </a:xfrm>
        </p:grpSpPr>
        <p:sp>
          <p:nvSpPr>
            <p:cNvPr name="Freeform 14" id="14"/>
            <p:cNvSpPr/>
            <p:nvPr/>
          </p:nvSpPr>
          <p:spPr>
            <a:xfrm flipH="false" flipV="false" rot="0">
              <a:off x="0" y="0"/>
              <a:ext cx="9930384" cy="601066"/>
            </a:xfrm>
            <a:custGeom>
              <a:avLst/>
              <a:gdLst/>
              <a:ahLst/>
              <a:cxnLst/>
              <a:rect r="r" b="b" t="t" l="l"/>
              <a:pathLst>
                <a:path h="601066" w="9930384">
                  <a:moveTo>
                    <a:pt x="0" y="0"/>
                  </a:moveTo>
                  <a:lnTo>
                    <a:pt x="9930384" y="0"/>
                  </a:lnTo>
                  <a:lnTo>
                    <a:pt x="9930384" y="601066"/>
                  </a:lnTo>
                  <a:lnTo>
                    <a:pt x="0" y="601066"/>
                  </a:lnTo>
                  <a:close/>
                </a:path>
              </a:pathLst>
            </a:custGeom>
            <a:blipFill>
              <a:blip r:embed="rId2">
                <a:alphaModFix amt="0"/>
              </a:blip>
              <a:stretch>
                <a:fillRect l="0" t="-283885" r="0" b="-259950"/>
              </a:stretch>
            </a:blipFill>
          </p:spPr>
        </p:sp>
        <p:sp>
          <p:nvSpPr>
            <p:cNvPr name="TextBox 15" id="15"/>
            <p:cNvSpPr txBox="true"/>
            <p:nvPr/>
          </p:nvSpPr>
          <p:spPr>
            <a:xfrm>
              <a:off x="0" y="0"/>
              <a:ext cx="9930384" cy="601066"/>
            </a:xfrm>
            <a:prstGeom prst="rect">
              <a:avLst/>
            </a:prstGeom>
          </p:spPr>
          <p:txBody>
            <a:bodyPr anchor="ctr" rtlCol="false" tIns="0" lIns="0" bIns="0" rIns="0"/>
            <a:lstStyle/>
            <a:p>
              <a:pPr algn="l">
                <a:lnSpc>
                  <a:spcPts val="2879"/>
                </a:lnSpc>
              </a:pPr>
              <a:r>
                <a:rPr lang="en-US" sz="2399" b="true">
                  <a:solidFill>
                    <a:srgbClr val="2B3541"/>
                  </a:solidFill>
                  <a:latin typeface="Aptos Bold"/>
                  <a:ea typeface="Aptos Bold"/>
                  <a:cs typeface="Aptos Bold"/>
                  <a:sym typeface="Aptos Bold"/>
                </a:rPr>
                <a:t>Personalization</a:t>
              </a:r>
            </a:p>
          </p:txBody>
        </p:sp>
      </p:grpSp>
      <p:grpSp>
        <p:nvGrpSpPr>
          <p:cNvPr name="Group 16" id="16"/>
          <p:cNvGrpSpPr/>
          <p:nvPr/>
        </p:nvGrpSpPr>
        <p:grpSpPr>
          <a:xfrm rot="0">
            <a:off x="709422" y="3154222"/>
            <a:ext cx="7008876" cy="812750"/>
            <a:chOff x="0" y="0"/>
            <a:chExt cx="9345168" cy="1083667"/>
          </a:xfrm>
        </p:grpSpPr>
        <p:sp>
          <p:nvSpPr>
            <p:cNvPr name="Freeform 17" id="17"/>
            <p:cNvSpPr/>
            <p:nvPr/>
          </p:nvSpPr>
          <p:spPr>
            <a:xfrm flipH="false" flipV="false" rot="0">
              <a:off x="0" y="0"/>
              <a:ext cx="9345168" cy="1083667"/>
            </a:xfrm>
            <a:custGeom>
              <a:avLst/>
              <a:gdLst/>
              <a:ahLst/>
              <a:cxnLst/>
              <a:rect r="r" b="b" t="t" l="l"/>
              <a:pathLst>
                <a:path h="1083667" w="9345168">
                  <a:moveTo>
                    <a:pt x="0" y="0"/>
                  </a:moveTo>
                  <a:lnTo>
                    <a:pt x="9345168" y="0"/>
                  </a:lnTo>
                  <a:lnTo>
                    <a:pt x="9345168" y="1083667"/>
                  </a:lnTo>
                  <a:lnTo>
                    <a:pt x="0" y="1083667"/>
                  </a:lnTo>
                  <a:close/>
                </a:path>
              </a:pathLst>
            </a:custGeom>
            <a:blipFill>
              <a:blip r:embed="rId2">
                <a:alphaModFix amt="0"/>
              </a:blip>
              <a:stretch>
                <a:fillRect l="0" t="-156287" r="-6066" b="-100164"/>
              </a:stretch>
            </a:blipFill>
          </p:spPr>
        </p:sp>
        <p:sp>
          <p:nvSpPr>
            <p:cNvPr name="TextBox 18" id="18"/>
            <p:cNvSpPr txBox="true"/>
            <p:nvPr/>
          </p:nvSpPr>
          <p:spPr>
            <a:xfrm>
              <a:off x="0" y="0"/>
              <a:ext cx="9345168" cy="1083667"/>
            </a:xfrm>
            <a:prstGeom prst="rect">
              <a:avLst/>
            </a:prstGeom>
          </p:spPr>
          <p:txBody>
            <a:bodyPr anchor="ctr" rtlCol="false" tIns="0" lIns="0" bIns="0" rIns="0"/>
            <a:lstStyle/>
            <a:p>
              <a:pPr algn="l" marL="0" indent="0" lvl="0">
                <a:lnSpc>
                  <a:spcPts val="2879"/>
                </a:lnSpc>
                <a:spcBef>
                  <a:spcPct val="0"/>
                </a:spcBef>
              </a:pPr>
              <a:r>
                <a:rPr lang="en-US" sz="2399" strike="noStrike" u="none">
                  <a:solidFill>
                    <a:srgbClr val="2B3541"/>
                  </a:solidFill>
                  <a:latin typeface="Aptos"/>
                  <a:ea typeface="Aptos"/>
                  <a:cs typeface="Aptos"/>
                  <a:sym typeface="Aptos"/>
                </a:rPr>
                <a:t>Which mix of asset classes fits this customer’s objectives and horizon?</a:t>
              </a:r>
            </a:p>
          </p:txBody>
        </p:sp>
      </p:grpSp>
      <p:grpSp>
        <p:nvGrpSpPr>
          <p:cNvPr name="Group 19" id="19"/>
          <p:cNvGrpSpPr/>
          <p:nvPr/>
        </p:nvGrpSpPr>
        <p:grpSpPr>
          <a:xfrm rot="0">
            <a:off x="8785098" y="2623947"/>
            <a:ext cx="9164488" cy="1418082"/>
            <a:chOff x="0" y="0"/>
            <a:chExt cx="12219318" cy="1890776"/>
          </a:xfrm>
        </p:grpSpPr>
        <p:sp>
          <p:nvSpPr>
            <p:cNvPr name="Freeform 20" id="20"/>
            <p:cNvSpPr/>
            <p:nvPr/>
          </p:nvSpPr>
          <p:spPr>
            <a:xfrm flipH="false" flipV="false" rot="0">
              <a:off x="0" y="0"/>
              <a:ext cx="12219318" cy="1890776"/>
            </a:xfrm>
            <a:custGeom>
              <a:avLst/>
              <a:gdLst/>
              <a:ahLst/>
              <a:cxnLst/>
              <a:rect r="r" b="b" t="t" l="l"/>
              <a:pathLst>
                <a:path h="1890776" w="12219318">
                  <a:moveTo>
                    <a:pt x="0" y="222504"/>
                  </a:moveTo>
                  <a:cubicBezTo>
                    <a:pt x="0" y="99568"/>
                    <a:pt x="114428" y="0"/>
                    <a:pt x="255712" y="0"/>
                  </a:cubicBezTo>
                  <a:lnTo>
                    <a:pt x="11963605" y="0"/>
                  </a:lnTo>
                  <a:cubicBezTo>
                    <a:pt x="12104743" y="0"/>
                    <a:pt x="12219318" y="99568"/>
                    <a:pt x="12219318" y="222504"/>
                  </a:cubicBezTo>
                  <a:lnTo>
                    <a:pt x="12219318" y="1668272"/>
                  </a:lnTo>
                  <a:cubicBezTo>
                    <a:pt x="12219318" y="1791081"/>
                    <a:pt x="12104889" y="1890776"/>
                    <a:pt x="11963605" y="1890776"/>
                  </a:cubicBezTo>
                  <a:lnTo>
                    <a:pt x="255712" y="1890776"/>
                  </a:lnTo>
                  <a:cubicBezTo>
                    <a:pt x="114428" y="1890776"/>
                    <a:pt x="0" y="1791208"/>
                    <a:pt x="0" y="1668272"/>
                  </a:cubicBezTo>
                  <a:close/>
                </a:path>
              </a:pathLst>
            </a:custGeom>
            <a:solidFill>
              <a:srgbClr val="FAF5EB"/>
            </a:solidFill>
            <a:ln w="19050" cap="sq">
              <a:solidFill>
                <a:srgbClr val="3371A5"/>
              </a:solidFill>
              <a:prstDash val="solid"/>
              <a:miter/>
            </a:ln>
          </p:spPr>
        </p:sp>
      </p:grpSp>
      <p:grpSp>
        <p:nvGrpSpPr>
          <p:cNvPr name="Group 21" id="21"/>
          <p:cNvGrpSpPr/>
          <p:nvPr/>
        </p:nvGrpSpPr>
        <p:grpSpPr>
          <a:xfrm rot="0">
            <a:off x="9011412" y="2754172"/>
            <a:ext cx="7447788" cy="450800"/>
            <a:chOff x="0" y="0"/>
            <a:chExt cx="9930384" cy="601066"/>
          </a:xfrm>
        </p:grpSpPr>
        <p:sp>
          <p:nvSpPr>
            <p:cNvPr name="Freeform 22" id="22"/>
            <p:cNvSpPr/>
            <p:nvPr/>
          </p:nvSpPr>
          <p:spPr>
            <a:xfrm flipH="false" flipV="false" rot="0">
              <a:off x="0" y="0"/>
              <a:ext cx="9930384" cy="601066"/>
            </a:xfrm>
            <a:custGeom>
              <a:avLst/>
              <a:gdLst/>
              <a:ahLst/>
              <a:cxnLst/>
              <a:rect r="r" b="b" t="t" l="l"/>
              <a:pathLst>
                <a:path h="601066" w="9930384">
                  <a:moveTo>
                    <a:pt x="0" y="0"/>
                  </a:moveTo>
                  <a:lnTo>
                    <a:pt x="9930384" y="0"/>
                  </a:lnTo>
                  <a:lnTo>
                    <a:pt x="9930384" y="601066"/>
                  </a:lnTo>
                  <a:lnTo>
                    <a:pt x="0" y="601066"/>
                  </a:lnTo>
                  <a:close/>
                </a:path>
              </a:pathLst>
            </a:custGeom>
            <a:blipFill>
              <a:blip r:embed="rId2">
                <a:alphaModFix amt="0"/>
              </a:blip>
              <a:stretch>
                <a:fillRect l="0" t="-283885" r="0" b="-259950"/>
              </a:stretch>
            </a:blipFill>
          </p:spPr>
        </p:sp>
        <p:sp>
          <p:nvSpPr>
            <p:cNvPr name="TextBox 23" id="23"/>
            <p:cNvSpPr txBox="true"/>
            <p:nvPr/>
          </p:nvSpPr>
          <p:spPr>
            <a:xfrm>
              <a:off x="0" y="0"/>
              <a:ext cx="9930384" cy="601066"/>
            </a:xfrm>
            <a:prstGeom prst="rect">
              <a:avLst/>
            </a:prstGeom>
          </p:spPr>
          <p:txBody>
            <a:bodyPr anchor="ctr" rtlCol="false" tIns="0" lIns="0" bIns="0" rIns="0"/>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Risk–Return Trade-off</a:t>
              </a:r>
            </a:p>
          </p:txBody>
        </p:sp>
      </p:grpSp>
      <p:grpSp>
        <p:nvGrpSpPr>
          <p:cNvPr name="Group 24" id="24"/>
          <p:cNvGrpSpPr/>
          <p:nvPr/>
        </p:nvGrpSpPr>
        <p:grpSpPr>
          <a:xfrm rot="0">
            <a:off x="9039225" y="3180588"/>
            <a:ext cx="7900035" cy="812750"/>
            <a:chOff x="0" y="0"/>
            <a:chExt cx="10533380" cy="1083667"/>
          </a:xfrm>
        </p:grpSpPr>
        <p:sp>
          <p:nvSpPr>
            <p:cNvPr name="Freeform 25" id="25"/>
            <p:cNvSpPr/>
            <p:nvPr/>
          </p:nvSpPr>
          <p:spPr>
            <a:xfrm flipH="false" flipV="false" rot="0">
              <a:off x="0" y="0"/>
              <a:ext cx="10533380" cy="1083667"/>
            </a:xfrm>
            <a:custGeom>
              <a:avLst/>
              <a:gdLst/>
              <a:ahLst/>
              <a:cxnLst/>
              <a:rect r="r" b="b" t="t" l="l"/>
              <a:pathLst>
                <a:path h="1083667" w="10533380">
                  <a:moveTo>
                    <a:pt x="0" y="0"/>
                  </a:moveTo>
                  <a:lnTo>
                    <a:pt x="10533380" y="0"/>
                  </a:lnTo>
                  <a:lnTo>
                    <a:pt x="10533380" y="1083667"/>
                  </a:lnTo>
                  <a:lnTo>
                    <a:pt x="0" y="1083667"/>
                  </a:lnTo>
                  <a:close/>
                </a:path>
              </a:pathLst>
            </a:custGeom>
            <a:blipFill>
              <a:blip r:embed="rId2">
                <a:alphaModFix amt="0"/>
              </a:blip>
              <a:stretch>
                <a:fillRect l="0" t="-156287" r="5898" b="-100164"/>
              </a:stretch>
            </a:blipFill>
          </p:spPr>
        </p:sp>
        <p:sp>
          <p:nvSpPr>
            <p:cNvPr name="TextBox 26" id="26"/>
            <p:cNvSpPr txBox="true"/>
            <p:nvPr/>
          </p:nvSpPr>
          <p:spPr>
            <a:xfrm>
              <a:off x="0" y="0"/>
              <a:ext cx="10533380" cy="1083667"/>
            </a:xfrm>
            <a:prstGeom prst="rect">
              <a:avLst/>
            </a:prstGeom>
          </p:spPr>
          <p:txBody>
            <a:bodyPr anchor="ctr" rtlCol="false" tIns="0" lIns="0" bIns="0" rIns="0"/>
            <a:lstStyle/>
            <a:p>
              <a:pPr algn="l" marL="0" indent="0" lvl="0">
                <a:lnSpc>
                  <a:spcPts val="2879"/>
                </a:lnSpc>
                <a:spcBef>
                  <a:spcPct val="0"/>
                </a:spcBef>
              </a:pPr>
              <a:r>
                <a:rPr lang="en-US" sz="2399" strike="noStrike" u="none">
                  <a:solidFill>
                    <a:srgbClr val="2B3541"/>
                  </a:solidFill>
                  <a:latin typeface="Aptos"/>
                  <a:ea typeface="Aptos"/>
                  <a:cs typeface="Aptos"/>
                  <a:sym typeface="Aptos"/>
                </a:rPr>
                <a:t>How much expected return is acceptable for the chosen risk level?</a:t>
              </a:r>
            </a:p>
          </p:txBody>
        </p:sp>
      </p:grpSp>
      <p:grpSp>
        <p:nvGrpSpPr>
          <p:cNvPr name="Group 27" id="27"/>
          <p:cNvGrpSpPr/>
          <p:nvPr/>
        </p:nvGrpSpPr>
        <p:grpSpPr>
          <a:xfrm rot="0">
            <a:off x="503301" y="4338447"/>
            <a:ext cx="7711059" cy="1418082"/>
            <a:chOff x="0" y="0"/>
            <a:chExt cx="10281412" cy="1890776"/>
          </a:xfrm>
        </p:grpSpPr>
        <p:sp>
          <p:nvSpPr>
            <p:cNvPr name="Freeform 28" id="28"/>
            <p:cNvSpPr/>
            <p:nvPr/>
          </p:nvSpPr>
          <p:spPr>
            <a:xfrm flipH="false" flipV="false" rot="0">
              <a:off x="0" y="0"/>
              <a:ext cx="10281412" cy="1890776"/>
            </a:xfrm>
            <a:custGeom>
              <a:avLst/>
              <a:gdLst/>
              <a:ahLst/>
              <a:cxnLst/>
              <a:rect r="r" b="b" t="t" l="l"/>
              <a:pathLst>
                <a:path h="1890776" w="10281412">
                  <a:moveTo>
                    <a:pt x="0" y="222504"/>
                  </a:moveTo>
                  <a:cubicBezTo>
                    <a:pt x="0" y="99568"/>
                    <a:pt x="96281" y="0"/>
                    <a:pt x="215158" y="0"/>
                  </a:cubicBezTo>
                  <a:lnTo>
                    <a:pt x="10066254" y="0"/>
                  </a:lnTo>
                  <a:cubicBezTo>
                    <a:pt x="10185008" y="0"/>
                    <a:pt x="10281412" y="99568"/>
                    <a:pt x="10281412" y="222504"/>
                  </a:cubicBezTo>
                  <a:lnTo>
                    <a:pt x="10281412" y="1668272"/>
                  </a:lnTo>
                  <a:cubicBezTo>
                    <a:pt x="10281412" y="1791081"/>
                    <a:pt x="10185131" y="1890776"/>
                    <a:pt x="10066254" y="1890776"/>
                  </a:cubicBezTo>
                  <a:lnTo>
                    <a:pt x="215158" y="1890776"/>
                  </a:lnTo>
                  <a:cubicBezTo>
                    <a:pt x="96281" y="1890776"/>
                    <a:pt x="0" y="1791208"/>
                    <a:pt x="0" y="1668272"/>
                  </a:cubicBezTo>
                  <a:close/>
                </a:path>
              </a:pathLst>
            </a:custGeom>
            <a:solidFill>
              <a:srgbClr val="FAF5EB"/>
            </a:solidFill>
            <a:ln w="19050" cap="sq">
              <a:solidFill>
                <a:srgbClr val="3371A5"/>
              </a:solidFill>
              <a:prstDash val="solid"/>
              <a:miter/>
            </a:ln>
          </p:spPr>
        </p:sp>
      </p:grpSp>
      <p:grpSp>
        <p:nvGrpSpPr>
          <p:cNvPr name="Group 29" id="29"/>
          <p:cNvGrpSpPr/>
          <p:nvPr/>
        </p:nvGrpSpPr>
        <p:grpSpPr>
          <a:xfrm rot="0">
            <a:off x="759714" y="4451604"/>
            <a:ext cx="7447788" cy="450800"/>
            <a:chOff x="0" y="0"/>
            <a:chExt cx="9930384" cy="601066"/>
          </a:xfrm>
        </p:grpSpPr>
        <p:sp>
          <p:nvSpPr>
            <p:cNvPr name="Freeform 30" id="30"/>
            <p:cNvSpPr/>
            <p:nvPr/>
          </p:nvSpPr>
          <p:spPr>
            <a:xfrm flipH="false" flipV="false" rot="0">
              <a:off x="0" y="0"/>
              <a:ext cx="9930384" cy="601066"/>
            </a:xfrm>
            <a:custGeom>
              <a:avLst/>
              <a:gdLst/>
              <a:ahLst/>
              <a:cxnLst/>
              <a:rect r="r" b="b" t="t" l="l"/>
              <a:pathLst>
                <a:path h="601066" w="9930384">
                  <a:moveTo>
                    <a:pt x="0" y="0"/>
                  </a:moveTo>
                  <a:lnTo>
                    <a:pt x="9930384" y="0"/>
                  </a:lnTo>
                  <a:lnTo>
                    <a:pt x="9930384" y="601066"/>
                  </a:lnTo>
                  <a:lnTo>
                    <a:pt x="0" y="601066"/>
                  </a:lnTo>
                  <a:close/>
                </a:path>
              </a:pathLst>
            </a:custGeom>
            <a:blipFill>
              <a:blip r:embed="rId2">
                <a:alphaModFix amt="0"/>
              </a:blip>
              <a:stretch>
                <a:fillRect l="0" t="-283885" r="0" b="-259950"/>
              </a:stretch>
            </a:blipFill>
          </p:spPr>
        </p:sp>
        <p:sp>
          <p:nvSpPr>
            <p:cNvPr name="TextBox 31" id="31"/>
            <p:cNvSpPr txBox="true"/>
            <p:nvPr/>
          </p:nvSpPr>
          <p:spPr>
            <a:xfrm>
              <a:off x="0" y="0"/>
              <a:ext cx="9930384" cy="601066"/>
            </a:xfrm>
            <a:prstGeom prst="rect">
              <a:avLst/>
            </a:prstGeom>
          </p:spPr>
          <p:txBody>
            <a:bodyPr anchor="ctr" rtlCol="false" tIns="0" lIns="0" bIns="0" rIns="0"/>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Benchmark Tracking</a:t>
              </a:r>
            </a:p>
          </p:txBody>
        </p:sp>
      </p:grpSp>
      <p:grpSp>
        <p:nvGrpSpPr>
          <p:cNvPr name="Group 32" id="32"/>
          <p:cNvGrpSpPr/>
          <p:nvPr/>
        </p:nvGrpSpPr>
        <p:grpSpPr>
          <a:xfrm rot="0">
            <a:off x="773430" y="4866425"/>
            <a:ext cx="7434072" cy="812750"/>
            <a:chOff x="0" y="0"/>
            <a:chExt cx="9912096" cy="1083667"/>
          </a:xfrm>
        </p:grpSpPr>
        <p:sp>
          <p:nvSpPr>
            <p:cNvPr name="Freeform 33" id="33"/>
            <p:cNvSpPr/>
            <p:nvPr/>
          </p:nvSpPr>
          <p:spPr>
            <a:xfrm flipH="false" flipV="false" rot="0">
              <a:off x="0" y="0"/>
              <a:ext cx="9912096" cy="1083667"/>
            </a:xfrm>
            <a:custGeom>
              <a:avLst/>
              <a:gdLst/>
              <a:ahLst/>
              <a:cxnLst/>
              <a:rect r="r" b="b" t="t" l="l"/>
              <a:pathLst>
                <a:path h="1083667" w="9912096">
                  <a:moveTo>
                    <a:pt x="0" y="0"/>
                  </a:moveTo>
                  <a:lnTo>
                    <a:pt x="9912096" y="0"/>
                  </a:lnTo>
                  <a:lnTo>
                    <a:pt x="9912096" y="1083667"/>
                  </a:lnTo>
                  <a:lnTo>
                    <a:pt x="0" y="1083667"/>
                  </a:lnTo>
                  <a:close/>
                </a:path>
              </a:pathLst>
            </a:custGeom>
            <a:blipFill>
              <a:blip r:embed="rId2">
                <a:alphaModFix amt="0"/>
              </a:blip>
              <a:stretch>
                <a:fillRect l="0" t="-156287" r="0" b="-100164"/>
              </a:stretch>
            </a:blipFill>
          </p:spPr>
        </p:sp>
        <p:sp>
          <p:nvSpPr>
            <p:cNvPr name="TextBox 34" id="34"/>
            <p:cNvSpPr txBox="true"/>
            <p:nvPr/>
          </p:nvSpPr>
          <p:spPr>
            <a:xfrm>
              <a:off x="0" y="0"/>
              <a:ext cx="9912096" cy="1083667"/>
            </a:xfrm>
            <a:prstGeom prst="rect">
              <a:avLst/>
            </a:prstGeom>
          </p:spPr>
          <p:txBody>
            <a:bodyPr anchor="ctr" rtlCol="false" tIns="0" lIns="0" bIns="0" rIns="0"/>
            <a:lstStyle/>
            <a:p>
              <a:pPr algn="l" marL="0" indent="0" lvl="0">
                <a:lnSpc>
                  <a:spcPts val="2879"/>
                </a:lnSpc>
                <a:spcBef>
                  <a:spcPct val="0"/>
                </a:spcBef>
              </a:pPr>
              <a:r>
                <a:rPr lang="en-US" sz="2399" strike="noStrike" u="none">
                  <a:solidFill>
                    <a:srgbClr val="2B3541"/>
                  </a:solidFill>
                  <a:latin typeface="Aptos"/>
                  <a:ea typeface="Aptos"/>
                  <a:cs typeface="Aptos"/>
                  <a:sym typeface="Aptos"/>
                </a:rPr>
                <a:t>How should the portfolio behave relative to CPI, USD, interest-rate or Euro benchmarks?</a:t>
              </a:r>
            </a:p>
          </p:txBody>
        </p:sp>
      </p:grpSp>
      <p:grpSp>
        <p:nvGrpSpPr>
          <p:cNvPr name="Group 35" id="35"/>
          <p:cNvGrpSpPr/>
          <p:nvPr/>
        </p:nvGrpSpPr>
        <p:grpSpPr>
          <a:xfrm rot="0">
            <a:off x="8785098" y="4338447"/>
            <a:ext cx="9164488" cy="1418082"/>
            <a:chOff x="0" y="0"/>
            <a:chExt cx="12219318" cy="1890776"/>
          </a:xfrm>
        </p:grpSpPr>
        <p:sp>
          <p:nvSpPr>
            <p:cNvPr name="Freeform 36" id="36"/>
            <p:cNvSpPr/>
            <p:nvPr/>
          </p:nvSpPr>
          <p:spPr>
            <a:xfrm flipH="false" flipV="false" rot="0">
              <a:off x="0" y="0"/>
              <a:ext cx="12219318" cy="1890776"/>
            </a:xfrm>
            <a:custGeom>
              <a:avLst/>
              <a:gdLst/>
              <a:ahLst/>
              <a:cxnLst/>
              <a:rect r="r" b="b" t="t" l="l"/>
              <a:pathLst>
                <a:path h="1890776" w="12219318">
                  <a:moveTo>
                    <a:pt x="0" y="222504"/>
                  </a:moveTo>
                  <a:cubicBezTo>
                    <a:pt x="0" y="99568"/>
                    <a:pt x="114428" y="0"/>
                    <a:pt x="255712" y="0"/>
                  </a:cubicBezTo>
                  <a:lnTo>
                    <a:pt x="11963605" y="0"/>
                  </a:lnTo>
                  <a:cubicBezTo>
                    <a:pt x="12104743" y="0"/>
                    <a:pt x="12219318" y="99568"/>
                    <a:pt x="12219318" y="222504"/>
                  </a:cubicBezTo>
                  <a:lnTo>
                    <a:pt x="12219318" y="1668272"/>
                  </a:lnTo>
                  <a:cubicBezTo>
                    <a:pt x="12219318" y="1791081"/>
                    <a:pt x="12104889" y="1890776"/>
                    <a:pt x="11963605" y="1890776"/>
                  </a:cubicBezTo>
                  <a:lnTo>
                    <a:pt x="255712" y="1890776"/>
                  </a:lnTo>
                  <a:cubicBezTo>
                    <a:pt x="114428" y="1890776"/>
                    <a:pt x="0" y="1791208"/>
                    <a:pt x="0" y="1668272"/>
                  </a:cubicBezTo>
                  <a:close/>
                </a:path>
              </a:pathLst>
            </a:custGeom>
            <a:solidFill>
              <a:srgbClr val="FAF5EB"/>
            </a:solidFill>
            <a:ln w="19050" cap="sq">
              <a:solidFill>
                <a:srgbClr val="3371A5"/>
              </a:solidFill>
              <a:prstDash val="solid"/>
              <a:miter/>
            </a:ln>
          </p:spPr>
        </p:sp>
      </p:grpSp>
      <p:grpSp>
        <p:nvGrpSpPr>
          <p:cNvPr name="Group 37" id="37"/>
          <p:cNvGrpSpPr/>
          <p:nvPr/>
        </p:nvGrpSpPr>
        <p:grpSpPr>
          <a:xfrm rot="0">
            <a:off x="9077325" y="4451604"/>
            <a:ext cx="7447788" cy="450800"/>
            <a:chOff x="0" y="0"/>
            <a:chExt cx="9930384" cy="601066"/>
          </a:xfrm>
        </p:grpSpPr>
        <p:sp>
          <p:nvSpPr>
            <p:cNvPr name="Freeform 38" id="38"/>
            <p:cNvSpPr/>
            <p:nvPr/>
          </p:nvSpPr>
          <p:spPr>
            <a:xfrm flipH="false" flipV="false" rot="0">
              <a:off x="0" y="0"/>
              <a:ext cx="9930384" cy="601066"/>
            </a:xfrm>
            <a:custGeom>
              <a:avLst/>
              <a:gdLst/>
              <a:ahLst/>
              <a:cxnLst/>
              <a:rect r="r" b="b" t="t" l="l"/>
              <a:pathLst>
                <a:path h="601066" w="9930384">
                  <a:moveTo>
                    <a:pt x="0" y="0"/>
                  </a:moveTo>
                  <a:lnTo>
                    <a:pt x="9930384" y="0"/>
                  </a:lnTo>
                  <a:lnTo>
                    <a:pt x="9930384" y="601066"/>
                  </a:lnTo>
                  <a:lnTo>
                    <a:pt x="0" y="601066"/>
                  </a:lnTo>
                  <a:close/>
                </a:path>
              </a:pathLst>
            </a:custGeom>
            <a:blipFill>
              <a:blip r:embed="rId2">
                <a:alphaModFix amt="0"/>
              </a:blip>
              <a:stretch>
                <a:fillRect l="0" t="-283885" r="0" b="-259950"/>
              </a:stretch>
            </a:blipFill>
          </p:spPr>
        </p:sp>
        <p:sp>
          <p:nvSpPr>
            <p:cNvPr name="TextBox 39" id="39"/>
            <p:cNvSpPr txBox="true"/>
            <p:nvPr/>
          </p:nvSpPr>
          <p:spPr>
            <a:xfrm>
              <a:off x="0" y="0"/>
              <a:ext cx="9930384" cy="601066"/>
            </a:xfrm>
            <a:prstGeom prst="rect">
              <a:avLst/>
            </a:prstGeom>
          </p:spPr>
          <p:txBody>
            <a:bodyPr anchor="ctr" rtlCol="false" tIns="0" lIns="0" bIns="0" rIns="0"/>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Rebalancing</a:t>
              </a:r>
            </a:p>
          </p:txBody>
        </p:sp>
      </p:grpSp>
      <p:grpSp>
        <p:nvGrpSpPr>
          <p:cNvPr name="Group 40" id="40"/>
          <p:cNvGrpSpPr/>
          <p:nvPr/>
        </p:nvGrpSpPr>
        <p:grpSpPr>
          <a:xfrm rot="0">
            <a:off x="9041511" y="4921454"/>
            <a:ext cx="7831836" cy="812750"/>
            <a:chOff x="0" y="0"/>
            <a:chExt cx="10442448" cy="1083667"/>
          </a:xfrm>
        </p:grpSpPr>
        <p:sp>
          <p:nvSpPr>
            <p:cNvPr name="Freeform 41" id="41"/>
            <p:cNvSpPr/>
            <p:nvPr/>
          </p:nvSpPr>
          <p:spPr>
            <a:xfrm flipH="false" flipV="false" rot="0">
              <a:off x="0" y="0"/>
              <a:ext cx="10442448" cy="1083667"/>
            </a:xfrm>
            <a:custGeom>
              <a:avLst/>
              <a:gdLst/>
              <a:ahLst/>
              <a:cxnLst/>
              <a:rect r="r" b="b" t="t" l="l"/>
              <a:pathLst>
                <a:path h="1083667" w="10442448">
                  <a:moveTo>
                    <a:pt x="0" y="0"/>
                  </a:moveTo>
                  <a:lnTo>
                    <a:pt x="10442448" y="0"/>
                  </a:lnTo>
                  <a:lnTo>
                    <a:pt x="10442448" y="1083667"/>
                  </a:lnTo>
                  <a:lnTo>
                    <a:pt x="0" y="1083667"/>
                  </a:lnTo>
                  <a:close/>
                </a:path>
              </a:pathLst>
            </a:custGeom>
            <a:blipFill>
              <a:blip r:embed="rId2">
                <a:alphaModFix amt="0"/>
              </a:blip>
              <a:stretch>
                <a:fillRect l="0" t="-156287" r="5078" b="-100164"/>
              </a:stretch>
            </a:blipFill>
          </p:spPr>
        </p:sp>
        <p:sp>
          <p:nvSpPr>
            <p:cNvPr name="TextBox 42" id="42"/>
            <p:cNvSpPr txBox="true"/>
            <p:nvPr/>
          </p:nvSpPr>
          <p:spPr>
            <a:xfrm>
              <a:off x="0" y="0"/>
              <a:ext cx="10442448" cy="1083667"/>
            </a:xfrm>
            <a:prstGeom prst="rect">
              <a:avLst/>
            </a:prstGeom>
          </p:spPr>
          <p:txBody>
            <a:bodyPr anchor="ctr" rtlCol="false" tIns="0" lIns="0" bIns="0" rIns="0"/>
            <a:lstStyle/>
            <a:p>
              <a:pPr algn="l" marL="0" indent="0" lvl="0">
                <a:lnSpc>
                  <a:spcPts val="2879"/>
                </a:lnSpc>
                <a:spcBef>
                  <a:spcPct val="0"/>
                </a:spcBef>
              </a:pPr>
              <a:r>
                <a:rPr lang="en-US" sz="2399" strike="noStrike" u="none">
                  <a:solidFill>
                    <a:srgbClr val="2B3541"/>
                  </a:solidFill>
                  <a:latin typeface="Aptos"/>
                  <a:ea typeface="Aptos"/>
                  <a:cs typeface="Aptos"/>
                  <a:sym typeface="Aptos"/>
                </a:rPr>
                <a:t>How much should an existing portfolio change, subject to turnover limits?</a:t>
              </a:r>
            </a:p>
          </p:txBody>
        </p:sp>
      </p:grpSp>
      <p:grpSp>
        <p:nvGrpSpPr>
          <p:cNvPr name="Group 43" id="43"/>
          <p:cNvGrpSpPr/>
          <p:nvPr/>
        </p:nvGrpSpPr>
        <p:grpSpPr>
          <a:xfrm rot="0">
            <a:off x="496443" y="6066619"/>
            <a:ext cx="7711059" cy="1732502"/>
            <a:chOff x="0" y="0"/>
            <a:chExt cx="10281412" cy="2310003"/>
          </a:xfrm>
        </p:grpSpPr>
        <p:sp>
          <p:nvSpPr>
            <p:cNvPr name="Freeform 44" id="44"/>
            <p:cNvSpPr/>
            <p:nvPr/>
          </p:nvSpPr>
          <p:spPr>
            <a:xfrm flipH="false" flipV="false" rot="0">
              <a:off x="0" y="0"/>
              <a:ext cx="10281412" cy="2310003"/>
            </a:xfrm>
            <a:custGeom>
              <a:avLst/>
              <a:gdLst/>
              <a:ahLst/>
              <a:cxnLst/>
              <a:rect r="r" b="b" t="t" l="l"/>
              <a:pathLst>
                <a:path h="2310003" w="10281412">
                  <a:moveTo>
                    <a:pt x="0" y="271838"/>
                  </a:moveTo>
                  <a:cubicBezTo>
                    <a:pt x="0" y="121644"/>
                    <a:pt x="96281" y="0"/>
                    <a:pt x="215158" y="0"/>
                  </a:cubicBezTo>
                  <a:lnTo>
                    <a:pt x="10066254" y="0"/>
                  </a:lnTo>
                  <a:cubicBezTo>
                    <a:pt x="10185008" y="0"/>
                    <a:pt x="10281412" y="121644"/>
                    <a:pt x="10281412" y="271838"/>
                  </a:cubicBezTo>
                  <a:lnTo>
                    <a:pt x="10281412" y="2038165"/>
                  </a:lnTo>
                  <a:cubicBezTo>
                    <a:pt x="10281412" y="2188203"/>
                    <a:pt x="10185131" y="2310003"/>
                    <a:pt x="10066254" y="2310003"/>
                  </a:cubicBezTo>
                  <a:lnTo>
                    <a:pt x="215158" y="2310003"/>
                  </a:lnTo>
                  <a:cubicBezTo>
                    <a:pt x="96281" y="2310003"/>
                    <a:pt x="0" y="2188358"/>
                    <a:pt x="0" y="2038165"/>
                  </a:cubicBezTo>
                  <a:close/>
                </a:path>
              </a:pathLst>
            </a:custGeom>
            <a:solidFill>
              <a:srgbClr val="FAF5EB"/>
            </a:solidFill>
            <a:ln w="19050" cap="sq">
              <a:solidFill>
                <a:srgbClr val="3371A5"/>
              </a:solidFill>
              <a:prstDash val="solid"/>
              <a:miter/>
            </a:ln>
          </p:spPr>
        </p:sp>
      </p:grpSp>
      <p:grpSp>
        <p:nvGrpSpPr>
          <p:cNvPr name="Group 45" id="45"/>
          <p:cNvGrpSpPr/>
          <p:nvPr/>
        </p:nvGrpSpPr>
        <p:grpSpPr>
          <a:xfrm rot="0">
            <a:off x="759714" y="6137910"/>
            <a:ext cx="3291840" cy="450800"/>
            <a:chOff x="0" y="0"/>
            <a:chExt cx="4389120" cy="601066"/>
          </a:xfrm>
        </p:grpSpPr>
        <p:sp>
          <p:nvSpPr>
            <p:cNvPr name="Freeform 46" id="46"/>
            <p:cNvSpPr/>
            <p:nvPr/>
          </p:nvSpPr>
          <p:spPr>
            <a:xfrm flipH="false" flipV="false" rot="0">
              <a:off x="0" y="0"/>
              <a:ext cx="4389120" cy="601066"/>
            </a:xfrm>
            <a:custGeom>
              <a:avLst/>
              <a:gdLst/>
              <a:ahLst/>
              <a:cxnLst/>
              <a:rect r="r" b="b" t="t" l="l"/>
              <a:pathLst>
                <a:path h="601066" w="4389120">
                  <a:moveTo>
                    <a:pt x="0" y="0"/>
                  </a:moveTo>
                  <a:lnTo>
                    <a:pt x="4389120" y="0"/>
                  </a:lnTo>
                  <a:lnTo>
                    <a:pt x="4389120" y="601066"/>
                  </a:lnTo>
                  <a:lnTo>
                    <a:pt x="0" y="601066"/>
                  </a:lnTo>
                  <a:close/>
                </a:path>
              </a:pathLst>
            </a:custGeom>
            <a:blipFill>
              <a:blip r:embed="rId2">
                <a:alphaModFix amt="0"/>
              </a:blip>
              <a:stretch>
                <a:fillRect l="0" t="-101209" r="0" b="-83359"/>
              </a:stretch>
            </a:blipFill>
          </p:spPr>
        </p:sp>
        <p:sp>
          <p:nvSpPr>
            <p:cNvPr name="TextBox 47" id="47"/>
            <p:cNvSpPr txBox="true"/>
            <p:nvPr/>
          </p:nvSpPr>
          <p:spPr>
            <a:xfrm>
              <a:off x="0" y="0"/>
              <a:ext cx="4389120" cy="601066"/>
            </a:xfrm>
            <a:prstGeom prst="rect">
              <a:avLst/>
            </a:prstGeom>
          </p:spPr>
          <p:txBody>
            <a:bodyPr anchor="ctr" rtlCol="false" tIns="0" lIns="0" bIns="0" rIns="0"/>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Planning Horizon</a:t>
              </a:r>
            </a:p>
          </p:txBody>
        </p:sp>
      </p:grpSp>
      <p:grpSp>
        <p:nvGrpSpPr>
          <p:cNvPr name="Group 48" id="48"/>
          <p:cNvGrpSpPr/>
          <p:nvPr/>
        </p:nvGrpSpPr>
        <p:grpSpPr>
          <a:xfrm rot="0">
            <a:off x="690372" y="6774828"/>
            <a:ext cx="1555242" cy="802767"/>
            <a:chOff x="0" y="0"/>
            <a:chExt cx="2073656" cy="1070356"/>
          </a:xfrm>
        </p:grpSpPr>
        <p:sp>
          <p:nvSpPr>
            <p:cNvPr name="Freeform 49" id="49"/>
            <p:cNvSpPr/>
            <p:nvPr/>
          </p:nvSpPr>
          <p:spPr>
            <a:xfrm flipH="false" flipV="false" rot="0">
              <a:off x="0" y="0"/>
              <a:ext cx="2073656" cy="1070356"/>
            </a:xfrm>
            <a:custGeom>
              <a:avLst/>
              <a:gdLst/>
              <a:ahLst/>
              <a:cxnLst/>
              <a:rect r="r" b="b" t="t" l="l"/>
              <a:pathLst>
                <a:path h="1070356" w="2073656">
                  <a:moveTo>
                    <a:pt x="0" y="267589"/>
                  </a:moveTo>
                  <a:cubicBezTo>
                    <a:pt x="0" y="119798"/>
                    <a:pt x="101092" y="0"/>
                    <a:pt x="225806" y="0"/>
                  </a:cubicBezTo>
                  <a:lnTo>
                    <a:pt x="1847850" y="0"/>
                  </a:lnTo>
                  <a:cubicBezTo>
                    <a:pt x="1972564" y="0"/>
                    <a:pt x="2073656" y="119798"/>
                    <a:pt x="2073656" y="267589"/>
                  </a:cubicBezTo>
                  <a:lnTo>
                    <a:pt x="2073656" y="802767"/>
                  </a:lnTo>
                  <a:cubicBezTo>
                    <a:pt x="2073656" y="950558"/>
                    <a:pt x="1972564" y="1070356"/>
                    <a:pt x="1847850" y="1070356"/>
                  </a:cubicBezTo>
                  <a:lnTo>
                    <a:pt x="225806" y="1070356"/>
                  </a:lnTo>
                  <a:cubicBezTo>
                    <a:pt x="101092" y="1070356"/>
                    <a:pt x="0" y="950558"/>
                    <a:pt x="0" y="802767"/>
                  </a:cubicBezTo>
                  <a:close/>
                </a:path>
              </a:pathLst>
            </a:custGeom>
            <a:solidFill>
              <a:srgbClr val="B7D9F4"/>
            </a:solidFill>
            <a:ln w="19050" cap="sq">
              <a:solidFill>
                <a:srgbClr val="B7D9F4"/>
              </a:solidFill>
              <a:prstDash val="solid"/>
              <a:miter/>
            </a:ln>
          </p:spPr>
        </p:sp>
      </p:grpSp>
      <p:grpSp>
        <p:nvGrpSpPr>
          <p:cNvPr name="Group 50" id="50"/>
          <p:cNvGrpSpPr/>
          <p:nvPr/>
        </p:nvGrpSpPr>
        <p:grpSpPr>
          <a:xfrm rot="0">
            <a:off x="661035" y="6932637"/>
            <a:ext cx="1536192" cy="451170"/>
            <a:chOff x="0" y="0"/>
            <a:chExt cx="2048256" cy="601560"/>
          </a:xfrm>
        </p:grpSpPr>
        <p:sp>
          <p:nvSpPr>
            <p:cNvPr name="Freeform 51" id="51"/>
            <p:cNvSpPr/>
            <p:nvPr/>
          </p:nvSpPr>
          <p:spPr>
            <a:xfrm flipH="false" flipV="false" rot="0">
              <a:off x="0" y="0"/>
              <a:ext cx="2048256" cy="601560"/>
            </a:xfrm>
            <a:custGeom>
              <a:avLst/>
              <a:gdLst/>
              <a:ahLst/>
              <a:cxnLst/>
              <a:rect r="r" b="b" t="t" l="l"/>
              <a:pathLst>
                <a:path h="601560" w="2048256">
                  <a:moveTo>
                    <a:pt x="0" y="0"/>
                  </a:moveTo>
                  <a:lnTo>
                    <a:pt x="2048256" y="0"/>
                  </a:lnTo>
                  <a:lnTo>
                    <a:pt x="2048256" y="601560"/>
                  </a:lnTo>
                  <a:lnTo>
                    <a:pt x="0" y="601560"/>
                  </a:lnTo>
                  <a:close/>
                </a:path>
              </a:pathLst>
            </a:custGeom>
            <a:blipFill>
              <a:blip r:embed="rId2">
                <a:alphaModFix amt="0"/>
              </a:blip>
              <a:stretch>
                <a:fillRect l="0" t="-29863" r="0" b="-2825"/>
              </a:stretch>
            </a:blipFill>
          </p:spPr>
        </p:sp>
        <p:sp>
          <p:nvSpPr>
            <p:cNvPr name="TextBox 52" id="52"/>
            <p:cNvSpPr txBox="true"/>
            <p:nvPr/>
          </p:nvSpPr>
          <p:spPr>
            <a:xfrm>
              <a:off x="0" y="0"/>
              <a:ext cx="2048256" cy="601560"/>
            </a:xfrm>
            <a:prstGeom prst="rect">
              <a:avLst/>
            </a:prstGeom>
          </p:spPr>
          <p:txBody>
            <a:bodyPr anchor="ctr" rtlCol="false" tIns="0" lIns="0" bIns="0" rIns="0"/>
            <a:lstStyle/>
            <a:p>
              <a:pPr algn="ctr">
                <a:lnSpc>
                  <a:spcPts val="2891"/>
                </a:lnSpc>
              </a:pPr>
              <a:r>
                <a:rPr lang="en-US" sz="2409" b="true">
                  <a:solidFill>
                    <a:srgbClr val="3371A5"/>
                  </a:solidFill>
                  <a:latin typeface="Aptos Bold"/>
                  <a:ea typeface="Aptos Bold"/>
                  <a:cs typeface="Aptos Bold"/>
                  <a:sym typeface="Aptos Bold"/>
                </a:rPr>
                <a:t>1 year</a:t>
              </a:r>
            </a:p>
          </p:txBody>
        </p:sp>
      </p:grpSp>
      <p:grpSp>
        <p:nvGrpSpPr>
          <p:cNvPr name="Group 53" id="53"/>
          <p:cNvGrpSpPr/>
          <p:nvPr/>
        </p:nvGrpSpPr>
        <p:grpSpPr>
          <a:xfrm rot="0">
            <a:off x="2514600" y="6774828"/>
            <a:ext cx="1555242" cy="802767"/>
            <a:chOff x="0" y="0"/>
            <a:chExt cx="2073656" cy="1070356"/>
          </a:xfrm>
        </p:grpSpPr>
        <p:sp>
          <p:nvSpPr>
            <p:cNvPr name="Freeform 54" id="54"/>
            <p:cNvSpPr/>
            <p:nvPr/>
          </p:nvSpPr>
          <p:spPr>
            <a:xfrm flipH="false" flipV="false" rot="0">
              <a:off x="0" y="0"/>
              <a:ext cx="2073656" cy="1070356"/>
            </a:xfrm>
            <a:custGeom>
              <a:avLst/>
              <a:gdLst/>
              <a:ahLst/>
              <a:cxnLst/>
              <a:rect r="r" b="b" t="t" l="l"/>
              <a:pathLst>
                <a:path h="1070356" w="2073656">
                  <a:moveTo>
                    <a:pt x="0" y="267589"/>
                  </a:moveTo>
                  <a:cubicBezTo>
                    <a:pt x="0" y="119798"/>
                    <a:pt x="101092" y="0"/>
                    <a:pt x="225806" y="0"/>
                  </a:cubicBezTo>
                  <a:lnTo>
                    <a:pt x="1847850" y="0"/>
                  </a:lnTo>
                  <a:cubicBezTo>
                    <a:pt x="1972564" y="0"/>
                    <a:pt x="2073656" y="119798"/>
                    <a:pt x="2073656" y="267589"/>
                  </a:cubicBezTo>
                  <a:lnTo>
                    <a:pt x="2073656" y="802767"/>
                  </a:lnTo>
                  <a:cubicBezTo>
                    <a:pt x="2073656" y="950558"/>
                    <a:pt x="1972564" y="1070356"/>
                    <a:pt x="1847850" y="1070356"/>
                  </a:cubicBezTo>
                  <a:lnTo>
                    <a:pt x="225806" y="1070356"/>
                  </a:lnTo>
                  <a:cubicBezTo>
                    <a:pt x="101092" y="1070356"/>
                    <a:pt x="0" y="950558"/>
                    <a:pt x="0" y="802767"/>
                  </a:cubicBezTo>
                  <a:close/>
                </a:path>
              </a:pathLst>
            </a:custGeom>
            <a:solidFill>
              <a:srgbClr val="B7D9F4"/>
            </a:solidFill>
            <a:ln w="19050" cap="sq">
              <a:solidFill>
                <a:srgbClr val="B7D9F4"/>
              </a:solidFill>
              <a:prstDash val="solid"/>
              <a:miter/>
            </a:ln>
          </p:spPr>
        </p:sp>
      </p:grpSp>
      <p:grpSp>
        <p:nvGrpSpPr>
          <p:cNvPr name="Group 55" id="55"/>
          <p:cNvGrpSpPr/>
          <p:nvPr/>
        </p:nvGrpSpPr>
        <p:grpSpPr>
          <a:xfrm rot="0">
            <a:off x="2524125" y="6932637"/>
            <a:ext cx="1536192" cy="451170"/>
            <a:chOff x="0" y="0"/>
            <a:chExt cx="2048256" cy="601560"/>
          </a:xfrm>
        </p:grpSpPr>
        <p:sp>
          <p:nvSpPr>
            <p:cNvPr name="Freeform 56" id="56"/>
            <p:cNvSpPr/>
            <p:nvPr/>
          </p:nvSpPr>
          <p:spPr>
            <a:xfrm flipH="false" flipV="false" rot="0">
              <a:off x="0" y="0"/>
              <a:ext cx="2048256" cy="601560"/>
            </a:xfrm>
            <a:custGeom>
              <a:avLst/>
              <a:gdLst/>
              <a:ahLst/>
              <a:cxnLst/>
              <a:rect r="r" b="b" t="t" l="l"/>
              <a:pathLst>
                <a:path h="601560" w="2048256">
                  <a:moveTo>
                    <a:pt x="0" y="0"/>
                  </a:moveTo>
                  <a:lnTo>
                    <a:pt x="2048256" y="0"/>
                  </a:lnTo>
                  <a:lnTo>
                    <a:pt x="2048256" y="601560"/>
                  </a:lnTo>
                  <a:lnTo>
                    <a:pt x="0" y="601560"/>
                  </a:lnTo>
                  <a:close/>
                </a:path>
              </a:pathLst>
            </a:custGeom>
            <a:blipFill>
              <a:blip r:embed="rId2">
                <a:alphaModFix amt="0"/>
              </a:blip>
              <a:stretch>
                <a:fillRect l="0" t="-29863" r="0" b="-2825"/>
              </a:stretch>
            </a:blipFill>
          </p:spPr>
        </p:sp>
        <p:sp>
          <p:nvSpPr>
            <p:cNvPr name="TextBox 57" id="57"/>
            <p:cNvSpPr txBox="true"/>
            <p:nvPr/>
          </p:nvSpPr>
          <p:spPr>
            <a:xfrm>
              <a:off x="0" y="0"/>
              <a:ext cx="2048256" cy="601560"/>
            </a:xfrm>
            <a:prstGeom prst="rect">
              <a:avLst/>
            </a:prstGeom>
          </p:spPr>
          <p:txBody>
            <a:bodyPr anchor="ctr" rtlCol="false" tIns="0" lIns="0" bIns="0" rIns="0"/>
            <a:lstStyle/>
            <a:p>
              <a:pPr algn="ctr" marL="0" indent="0" lvl="0">
                <a:lnSpc>
                  <a:spcPts val="2891"/>
                </a:lnSpc>
                <a:spcBef>
                  <a:spcPct val="0"/>
                </a:spcBef>
              </a:pPr>
              <a:r>
                <a:rPr lang="en-US" b="true" sz="2409" strike="noStrike" u="none">
                  <a:solidFill>
                    <a:srgbClr val="3371A5"/>
                  </a:solidFill>
                  <a:latin typeface="Aptos Bold"/>
                  <a:ea typeface="Aptos Bold"/>
                  <a:cs typeface="Aptos Bold"/>
                  <a:sym typeface="Aptos Bold"/>
                </a:rPr>
                <a:t>2 years</a:t>
              </a:r>
            </a:p>
          </p:txBody>
        </p:sp>
      </p:grpSp>
      <p:grpSp>
        <p:nvGrpSpPr>
          <p:cNvPr name="Group 58" id="58"/>
          <p:cNvGrpSpPr/>
          <p:nvPr/>
        </p:nvGrpSpPr>
        <p:grpSpPr>
          <a:xfrm rot="0">
            <a:off x="4338828" y="6774828"/>
            <a:ext cx="1555242" cy="802767"/>
            <a:chOff x="0" y="0"/>
            <a:chExt cx="2073656" cy="1070356"/>
          </a:xfrm>
        </p:grpSpPr>
        <p:sp>
          <p:nvSpPr>
            <p:cNvPr name="Freeform 59" id="59"/>
            <p:cNvSpPr/>
            <p:nvPr/>
          </p:nvSpPr>
          <p:spPr>
            <a:xfrm flipH="false" flipV="false" rot="0">
              <a:off x="0" y="0"/>
              <a:ext cx="2073656" cy="1070356"/>
            </a:xfrm>
            <a:custGeom>
              <a:avLst/>
              <a:gdLst/>
              <a:ahLst/>
              <a:cxnLst/>
              <a:rect r="r" b="b" t="t" l="l"/>
              <a:pathLst>
                <a:path h="1070356" w="2073656">
                  <a:moveTo>
                    <a:pt x="0" y="267589"/>
                  </a:moveTo>
                  <a:cubicBezTo>
                    <a:pt x="0" y="119798"/>
                    <a:pt x="101092" y="0"/>
                    <a:pt x="225806" y="0"/>
                  </a:cubicBezTo>
                  <a:lnTo>
                    <a:pt x="1847850" y="0"/>
                  </a:lnTo>
                  <a:cubicBezTo>
                    <a:pt x="1972564" y="0"/>
                    <a:pt x="2073656" y="119798"/>
                    <a:pt x="2073656" y="267589"/>
                  </a:cubicBezTo>
                  <a:lnTo>
                    <a:pt x="2073656" y="802767"/>
                  </a:lnTo>
                  <a:cubicBezTo>
                    <a:pt x="2073656" y="950558"/>
                    <a:pt x="1972564" y="1070356"/>
                    <a:pt x="1847850" y="1070356"/>
                  </a:cubicBezTo>
                  <a:lnTo>
                    <a:pt x="225806" y="1070356"/>
                  </a:lnTo>
                  <a:cubicBezTo>
                    <a:pt x="101092" y="1070356"/>
                    <a:pt x="0" y="950558"/>
                    <a:pt x="0" y="802767"/>
                  </a:cubicBezTo>
                  <a:close/>
                </a:path>
              </a:pathLst>
            </a:custGeom>
            <a:solidFill>
              <a:srgbClr val="B7D9F4"/>
            </a:solidFill>
            <a:ln w="19050" cap="sq">
              <a:solidFill>
                <a:srgbClr val="B7D9F4"/>
              </a:solidFill>
              <a:prstDash val="solid"/>
              <a:miter/>
            </a:ln>
          </p:spPr>
        </p:sp>
      </p:grpSp>
      <p:grpSp>
        <p:nvGrpSpPr>
          <p:cNvPr name="Group 60" id="60"/>
          <p:cNvGrpSpPr/>
          <p:nvPr/>
        </p:nvGrpSpPr>
        <p:grpSpPr>
          <a:xfrm rot="0">
            <a:off x="4348353" y="6950627"/>
            <a:ext cx="1536192" cy="451170"/>
            <a:chOff x="0" y="0"/>
            <a:chExt cx="2048256" cy="601560"/>
          </a:xfrm>
        </p:grpSpPr>
        <p:sp>
          <p:nvSpPr>
            <p:cNvPr name="Freeform 61" id="61"/>
            <p:cNvSpPr/>
            <p:nvPr/>
          </p:nvSpPr>
          <p:spPr>
            <a:xfrm flipH="false" flipV="false" rot="0">
              <a:off x="0" y="0"/>
              <a:ext cx="2048256" cy="601560"/>
            </a:xfrm>
            <a:custGeom>
              <a:avLst/>
              <a:gdLst/>
              <a:ahLst/>
              <a:cxnLst/>
              <a:rect r="r" b="b" t="t" l="l"/>
              <a:pathLst>
                <a:path h="601560" w="2048256">
                  <a:moveTo>
                    <a:pt x="0" y="0"/>
                  </a:moveTo>
                  <a:lnTo>
                    <a:pt x="2048256" y="0"/>
                  </a:lnTo>
                  <a:lnTo>
                    <a:pt x="2048256" y="601560"/>
                  </a:lnTo>
                  <a:lnTo>
                    <a:pt x="0" y="601560"/>
                  </a:lnTo>
                  <a:close/>
                </a:path>
              </a:pathLst>
            </a:custGeom>
            <a:blipFill>
              <a:blip r:embed="rId2">
                <a:alphaModFix amt="0"/>
              </a:blip>
              <a:stretch>
                <a:fillRect l="0" t="-29863" r="0" b="-2825"/>
              </a:stretch>
            </a:blipFill>
          </p:spPr>
        </p:sp>
        <p:sp>
          <p:nvSpPr>
            <p:cNvPr name="TextBox 62" id="62"/>
            <p:cNvSpPr txBox="true"/>
            <p:nvPr/>
          </p:nvSpPr>
          <p:spPr>
            <a:xfrm>
              <a:off x="0" y="0"/>
              <a:ext cx="2048256" cy="601560"/>
            </a:xfrm>
            <a:prstGeom prst="rect">
              <a:avLst/>
            </a:prstGeom>
          </p:spPr>
          <p:txBody>
            <a:bodyPr anchor="ctr" rtlCol="false" tIns="0" lIns="0" bIns="0" rIns="0"/>
            <a:lstStyle/>
            <a:p>
              <a:pPr algn="ctr" marL="0" indent="0" lvl="0">
                <a:lnSpc>
                  <a:spcPts val="2891"/>
                </a:lnSpc>
                <a:spcBef>
                  <a:spcPct val="0"/>
                </a:spcBef>
              </a:pPr>
              <a:r>
                <a:rPr lang="en-US" b="true" sz="2409" strike="noStrike" u="none">
                  <a:solidFill>
                    <a:srgbClr val="3371A5"/>
                  </a:solidFill>
                  <a:latin typeface="Aptos Bold"/>
                  <a:ea typeface="Aptos Bold"/>
                  <a:cs typeface="Aptos Bold"/>
                  <a:sym typeface="Aptos Bold"/>
                </a:rPr>
                <a:t>5 years</a:t>
              </a:r>
            </a:p>
          </p:txBody>
        </p:sp>
      </p:grpSp>
      <p:grpSp>
        <p:nvGrpSpPr>
          <p:cNvPr name="Group 63" id="63"/>
          <p:cNvGrpSpPr/>
          <p:nvPr/>
        </p:nvGrpSpPr>
        <p:grpSpPr>
          <a:xfrm rot="0">
            <a:off x="6163056" y="6774828"/>
            <a:ext cx="1555242" cy="802767"/>
            <a:chOff x="0" y="0"/>
            <a:chExt cx="2073656" cy="1070356"/>
          </a:xfrm>
        </p:grpSpPr>
        <p:sp>
          <p:nvSpPr>
            <p:cNvPr name="Freeform 64" id="64"/>
            <p:cNvSpPr/>
            <p:nvPr/>
          </p:nvSpPr>
          <p:spPr>
            <a:xfrm flipH="false" flipV="false" rot="0">
              <a:off x="0" y="0"/>
              <a:ext cx="2073656" cy="1070356"/>
            </a:xfrm>
            <a:custGeom>
              <a:avLst/>
              <a:gdLst/>
              <a:ahLst/>
              <a:cxnLst/>
              <a:rect r="r" b="b" t="t" l="l"/>
              <a:pathLst>
                <a:path h="1070356" w="2073656">
                  <a:moveTo>
                    <a:pt x="0" y="267589"/>
                  </a:moveTo>
                  <a:cubicBezTo>
                    <a:pt x="0" y="119798"/>
                    <a:pt x="101092" y="0"/>
                    <a:pt x="225806" y="0"/>
                  </a:cubicBezTo>
                  <a:lnTo>
                    <a:pt x="1847850" y="0"/>
                  </a:lnTo>
                  <a:cubicBezTo>
                    <a:pt x="1972564" y="0"/>
                    <a:pt x="2073656" y="119798"/>
                    <a:pt x="2073656" y="267589"/>
                  </a:cubicBezTo>
                  <a:lnTo>
                    <a:pt x="2073656" y="802767"/>
                  </a:lnTo>
                  <a:cubicBezTo>
                    <a:pt x="2073656" y="950558"/>
                    <a:pt x="1972564" y="1070356"/>
                    <a:pt x="1847850" y="1070356"/>
                  </a:cubicBezTo>
                  <a:lnTo>
                    <a:pt x="225806" y="1070356"/>
                  </a:lnTo>
                  <a:cubicBezTo>
                    <a:pt x="101092" y="1070356"/>
                    <a:pt x="0" y="950558"/>
                    <a:pt x="0" y="802767"/>
                  </a:cubicBezTo>
                  <a:close/>
                </a:path>
              </a:pathLst>
            </a:custGeom>
            <a:solidFill>
              <a:srgbClr val="B7D9F4"/>
            </a:solidFill>
            <a:ln w="19050" cap="sq">
              <a:solidFill>
                <a:srgbClr val="B7D9F4"/>
              </a:solidFill>
              <a:prstDash val="solid"/>
              <a:miter/>
            </a:ln>
          </p:spPr>
        </p:sp>
      </p:grpSp>
      <p:grpSp>
        <p:nvGrpSpPr>
          <p:cNvPr name="Group 65" id="65"/>
          <p:cNvGrpSpPr/>
          <p:nvPr/>
        </p:nvGrpSpPr>
        <p:grpSpPr>
          <a:xfrm rot="0">
            <a:off x="6172581" y="6956679"/>
            <a:ext cx="1536192" cy="451170"/>
            <a:chOff x="0" y="0"/>
            <a:chExt cx="2048256" cy="601560"/>
          </a:xfrm>
        </p:grpSpPr>
        <p:sp>
          <p:nvSpPr>
            <p:cNvPr name="Freeform 66" id="66"/>
            <p:cNvSpPr/>
            <p:nvPr/>
          </p:nvSpPr>
          <p:spPr>
            <a:xfrm flipH="false" flipV="false" rot="0">
              <a:off x="0" y="0"/>
              <a:ext cx="2048256" cy="601560"/>
            </a:xfrm>
            <a:custGeom>
              <a:avLst/>
              <a:gdLst/>
              <a:ahLst/>
              <a:cxnLst/>
              <a:rect r="r" b="b" t="t" l="l"/>
              <a:pathLst>
                <a:path h="601560" w="2048256">
                  <a:moveTo>
                    <a:pt x="0" y="0"/>
                  </a:moveTo>
                  <a:lnTo>
                    <a:pt x="2048256" y="0"/>
                  </a:lnTo>
                  <a:lnTo>
                    <a:pt x="2048256" y="601560"/>
                  </a:lnTo>
                  <a:lnTo>
                    <a:pt x="0" y="601560"/>
                  </a:lnTo>
                  <a:close/>
                </a:path>
              </a:pathLst>
            </a:custGeom>
            <a:blipFill>
              <a:blip r:embed="rId2">
                <a:alphaModFix amt="0"/>
              </a:blip>
              <a:stretch>
                <a:fillRect l="0" t="-29863" r="0" b="-2825"/>
              </a:stretch>
            </a:blipFill>
          </p:spPr>
        </p:sp>
        <p:sp>
          <p:nvSpPr>
            <p:cNvPr name="TextBox 67" id="67"/>
            <p:cNvSpPr txBox="true"/>
            <p:nvPr/>
          </p:nvSpPr>
          <p:spPr>
            <a:xfrm>
              <a:off x="0" y="0"/>
              <a:ext cx="2048256" cy="601560"/>
            </a:xfrm>
            <a:prstGeom prst="rect">
              <a:avLst/>
            </a:prstGeom>
          </p:spPr>
          <p:txBody>
            <a:bodyPr anchor="ctr" rtlCol="false" tIns="0" lIns="0" bIns="0" rIns="0"/>
            <a:lstStyle/>
            <a:p>
              <a:pPr algn="ctr" marL="0" indent="0" lvl="0">
                <a:lnSpc>
                  <a:spcPts val="2891"/>
                </a:lnSpc>
                <a:spcBef>
                  <a:spcPct val="0"/>
                </a:spcBef>
              </a:pPr>
              <a:r>
                <a:rPr lang="en-US" b="true" sz="2409" strike="noStrike" u="none">
                  <a:solidFill>
                    <a:srgbClr val="3371A5"/>
                  </a:solidFill>
                  <a:latin typeface="Aptos Bold"/>
                  <a:ea typeface="Aptos Bold"/>
                  <a:cs typeface="Aptos Bold"/>
                  <a:sym typeface="Aptos Bold"/>
                </a:rPr>
                <a:t>10 years</a:t>
              </a:r>
            </a:p>
          </p:txBody>
        </p:sp>
      </p:grpSp>
      <p:grpSp>
        <p:nvGrpSpPr>
          <p:cNvPr name="Group 68" id="68"/>
          <p:cNvGrpSpPr/>
          <p:nvPr/>
        </p:nvGrpSpPr>
        <p:grpSpPr>
          <a:xfrm rot="0">
            <a:off x="8785098" y="6051804"/>
            <a:ext cx="9164488" cy="1747317"/>
            <a:chOff x="0" y="0"/>
            <a:chExt cx="12880903" cy="2455895"/>
          </a:xfrm>
        </p:grpSpPr>
        <p:sp>
          <p:nvSpPr>
            <p:cNvPr name="Freeform 69" id="69"/>
            <p:cNvSpPr/>
            <p:nvPr/>
          </p:nvSpPr>
          <p:spPr>
            <a:xfrm flipH="false" flipV="false" rot="0">
              <a:off x="0" y="0"/>
              <a:ext cx="12880903" cy="2455895"/>
            </a:xfrm>
            <a:custGeom>
              <a:avLst/>
              <a:gdLst/>
              <a:ahLst/>
              <a:cxnLst/>
              <a:rect r="r" b="b" t="t" l="l"/>
              <a:pathLst>
                <a:path h="2455895" w="12880903">
                  <a:moveTo>
                    <a:pt x="0" y="289006"/>
                  </a:moveTo>
                  <a:cubicBezTo>
                    <a:pt x="0" y="129327"/>
                    <a:pt x="120624" y="0"/>
                    <a:pt x="269557" y="0"/>
                  </a:cubicBezTo>
                  <a:lnTo>
                    <a:pt x="12611345" y="0"/>
                  </a:lnTo>
                  <a:cubicBezTo>
                    <a:pt x="12760124" y="0"/>
                    <a:pt x="12880903" y="129327"/>
                    <a:pt x="12880903" y="289006"/>
                  </a:cubicBezTo>
                  <a:lnTo>
                    <a:pt x="12880903" y="2166889"/>
                  </a:lnTo>
                  <a:cubicBezTo>
                    <a:pt x="12880903" y="2326403"/>
                    <a:pt x="12760278" y="2455895"/>
                    <a:pt x="12611345" y="2455895"/>
                  </a:cubicBezTo>
                  <a:lnTo>
                    <a:pt x="269557" y="2455895"/>
                  </a:lnTo>
                  <a:cubicBezTo>
                    <a:pt x="120624" y="2455895"/>
                    <a:pt x="0" y="2326568"/>
                    <a:pt x="0" y="2166889"/>
                  </a:cubicBezTo>
                  <a:close/>
                </a:path>
              </a:pathLst>
            </a:custGeom>
            <a:solidFill>
              <a:srgbClr val="FAF5EB"/>
            </a:solidFill>
            <a:ln w="19050" cap="sq">
              <a:solidFill>
                <a:srgbClr val="3371A5"/>
              </a:solidFill>
              <a:prstDash val="solid"/>
              <a:miter/>
            </a:ln>
          </p:spPr>
        </p:sp>
      </p:grpSp>
      <p:grpSp>
        <p:nvGrpSpPr>
          <p:cNvPr name="Group 70" id="70"/>
          <p:cNvGrpSpPr/>
          <p:nvPr/>
        </p:nvGrpSpPr>
        <p:grpSpPr>
          <a:xfrm rot="0">
            <a:off x="9144000" y="6137910"/>
            <a:ext cx="3154680" cy="450800"/>
            <a:chOff x="0" y="0"/>
            <a:chExt cx="4206240" cy="601066"/>
          </a:xfrm>
        </p:grpSpPr>
        <p:sp>
          <p:nvSpPr>
            <p:cNvPr name="Freeform 71" id="71"/>
            <p:cNvSpPr/>
            <p:nvPr/>
          </p:nvSpPr>
          <p:spPr>
            <a:xfrm flipH="false" flipV="false" rot="0">
              <a:off x="0" y="0"/>
              <a:ext cx="4206240" cy="601066"/>
            </a:xfrm>
            <a:custGeom>
              <a:avLst/>
              <a:gdLst/>
              <a:ahLst/>
              <a:cxnLst/>
              <a:rect r="r" b="b" t="t" l="l"/>
              <a:pathLst>
                <a:path h="601066" w="4206240">
                  <a:moveTo>
                    <a:pt x="0" y="0"/>
                  </a:moveTo>
                  <a:lnTo>
                    <a:pt x="4206240" y="0"/>
                  </a:lnTo>
                  <a:lnTo>
                    <a:pt x="4206240" y="601066"/>
                  </a:lnTo>
                  <a:lnTo>
                    <a:pt x="0" y="601066"/>
                  </a:lnTo>
                  <a:close/>
                </a:path>
              </a:pathLst>
            </a:custGeom>
            <a:blipFill>
              <a:blip r:embed="rId2">
                <a:alphaModFix amt="0"/>
              </a:blip>
              <a:stretch>
                <a:fillRect l="0" t="-95280" r="0" b="-77430"/>
              </a:stretch>
            </a:blipFill>
          </p:spPr>
        </p:sp>
        <p:sp>
          <p:nvSpPr>
            <p:cNvPr name="TextBox 72" id="72"/>
            <p:cNvSpPr txBox="true"/>
            <p:nvPr/>
          </p:nvSpPr>
          <p:spPr>
            <a:xfrm>
              <a:off x="0" y="0"/>
              <a:ext cx="4206240" cy="601066"/>
            </a:xfrm>
            <a:prstGeom prst="rect">
              <a:avLst/>
            </a:prstGeom>
          </p:spPr>
          <p:txBody>
            <a:bodyPr anchor="ctr" rtlCol="false" tIns="0" lIns="0" bIns="0" rIns="0"/>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Operating Cycle</a:t>
              </a:r>
            </a:p>
          </p:txBody>
        </p:sp>
      </p:grpSp>
      <p:sp>
        <p:nvSpPr>
          <p:cNvPr name="TextBox 73" id="73"/>
          <p:cNvSpPr txBox="true"/>
          <p:nvPr/>
        </p:nvSpPr>
        <p:spPr>
          <a:xfrm rot="0">
            <a:off x="9115425" y="6647574"/>
            <a:ext cx="8737768" cy="1000125"/>
          </a:xfrm>
          <a:prstGeom prst="rect">
            <a:avLst/>
          </a:prstGeom>
        </p:spPr>
        <p:txBody>
          <a:bodyPr anchor="t" rtlCol="false" tIns="0" lIns="0" bIns="0" rIns="0">
            <a:spAutoFit/>
          </a:bodyPr>
          <a:lstStyle/>
          <a:p>
            <a:pPr algn="l" marL="0" indent="0" lvl="0">
              <a:lnSpc>
                <a:spcPts val="2639"/>
              </a:lnSpc>
              <a:spcBef>
                <a:spcPct val="0"/>
              </a:spcBef>
            </a:pPr>
            <a:r>
              <a:rPr lang="en-US" sz="2199" strike="noStrike" u="none">
                <a:solidFill>
                  <a:srgbClr val="2B3541"/>
                </a:solidFill>
                <a:latin typeface="Aptos"/>
                <a:ea typeface="Aptos"/>
                <a:cs typeface="Aptos"/>
                <a:sym typeface="Aptos"/>
              </a:rPr>
              <a:t>The recommended portfolio is restructured annually. The bank encourages check-up consultations every six months, during which customers can adjust portfolios with CRMs and Opti-Money.</a:t>
            </a:r>
          </a:p>
        </p:txBody>
      </p:sp>
      <p:grpSp>
        <p:nvGrpSpPr>
          <p:cNvPr name="Group 74" id="74"/>
          <p:cNvGrpSpPr/>
          <p:nvPr/>
        </p:nvGrpSpPr>
        <p:grpSpPr>
          <a:xfrm rot="0">
            <a:off x="670560" y="8256321"/>
            <a:ext cx="17279026" cy="1271397"/>
            <a:chOff x="0" y="0"/>
            <a:chExt cx="23038702" cy="1695196"/>
          </a:xfrm>
        </p:grpSpPr>
        <p:sp>
          <p:nvSpPr>
            <p:cNvPr name="Freeform 75" id="75"/>
            <p:cNvSpPr/>
            <p:nvPr/>
          </p:nvSpPr>
          <p:spPr>
            <a:xfrm flipH="false" flipV="false" rot="0">
              <a:off x="0" y="0"/>
              <a:ext cx="23038701" cy="1695323"/>
            </a:xfrm>
            <a:custGeom>
              <a:avLst/>
              <a:gdLst/>
              <a:ahLst/>
              <a:cxnLst/>
              <a:rect r="r" b="b" t="t" l="l"/>
              <a:pathLst>
                <a:path h="1695323" w="23038701">
                  <a:moveTo>
                    <a:pt x="0" y="282575"/>
                  </a:moveTo>
                  <a:cubicBezTo>
                    <a:pt x="0" y="126492"/>
                    <a:pt x="139696" y="0"/>
                    <a:pt x="312073" y="0"/>
                  </a:cubicBezTo>
                  <a:lnTo>
                    <a:pt x="22726628" y="0"/>
                  </a:lnTo>
                  <a:cubicBezTo>
                    <a:pt x="22899005" y="0"/>
                    <a:pt x="23038701" y="126492"/>
                    <a:pt x="23038701" y="282575"/>
                  </a:cubicBezTo>
                  <a:lnTo>
                    <a:pt x="23038701" y="1412748"/>
                  </a:lnTo>
                  <a:cubicBezTo>
                    <a:pt x="23038701" y="1568831"/>
                    <a:pt x="22899005" y="1695323"/>
                    <a:pt x="22726628" y="1695323"/>
                  </a:cubicBezTo>
                  <a:lnTo>
                    <a:pt x="312073" y="1695323"/>
                  </a:lnTo>
                  <a:cubicBezTo>
                    <a:pt x="139696" y="1695196"/>
                    <a:pt x="0" y="1568704"/>
                    <a:pt x="0" y="1412621"/>
                  </a:cubicBezTo>
                  <a:close/>
                </a:path>
              </a:pathLst>
            </a:custGeom>
            <a:solidFill>
              <a:srgbClr val="B7D9F4"/>
            </a:solidFill>
            <a:ln w="9525" cap="sq">
              <a:solidFill>
                <a:srgbClr val="B7D9F4"/>
              </a:solidFill>
              <a:prstDash val="solid"/>
              <a:miter/>
            </a:ln>
          </p:spPr>
        </p:sp>
      </p:grpSp>
      <p:grpSp>
        <p:nvGrpSpPr>
          <p:cNvPr name="Group 76" id="76"/>
          <p:cNvGrpSpPr/>
          <p:nvPr/>
        </p:nvGrpSpPr>
        <p:grpSpPr>
          <a:xfrm rot="0">
            <a:off x="903732" y="8516925"/>
            <a:ext cx="57531" cy="722757"/>
            <a:chOff x="0" y="0"/>
            <a:chExt cx="76708" cy="963676"/>
          </a:xfrm>
        </p:grpSpPr>
        <p:sp>
          <p:nvSpPr>
            <p:cNvPr name="Freeform 77" id="77"/>
            <p:cNvSpPr/>
            <p:nvPr/>
          </p:nvSpPr>
          <p:spPr>
            <a:xfrm flipH="false" flipV="false" rot="0">
              <a:off x="0" y="0"/>
              <a:ext cx="76708" cy="963676"/>
            </a:xfrm>
            <a:custGeom>
              <a:avLst/>
              <a:gdLst/>
              <a:ahLst/>
              <a:cxnLst/>
              <a:rect r="r" b="b" t="t" l="l"/>
              <a:pathLst>
                <a:path h="963676" w="76708">
                  <a:moveTo>
                    <a:pt x="0" y="0"/>
                  </a:moveTo>
                  <a:lnTo>
                    <a:pt x="76708" y="0"/>
                  </a:lnTo>
                  <a:lnTo>
                    <a:pt x="76708" y="963676"/>
                  </a:lnTo>
                  <a:lnTo>
                    <a:pt x="0" y="963676"/>
                  </a:lnTo>
                  <a:close/>
                </a:path>
              </a:pathLst>
            </a:custGeom>
            <a:solidFill>
              <a:srgbClr val="3371A5"/>
            </a:solidFill>
            <a:ln w="9525" cap="sq">
              <a:solidFill>
                <a:srgbClr val="3371A5"/>
              </a:solidFill>
              <a:prstDash val="solid"/>
              <a:miter/>
            </a:ln>
          </p:spPr>
        </p:sp>
      </p:grpSp>
      <p:sp>
        <p:nvSpPr>
          <p:cNvPr name="TextBox 78" id="78"/>
          <p:cNvSpPr txBox="true"/>
          <p:nvPr/>
        </p:nvSpPr>
        <p:spPr>
          <a:xfrm rot="0">
            <a:off x="1096328" y="8706854"/>
            <a:ext cx="2948940" cy="361950"/>
          </a:xfrm>
          <a:prstGeom prst="rect">
            <a:avLst/>
          </a:prstGeom>
        </p:spPr>
        <p:txBody>
          <a:bodyPr anchor="t" rtlCol="false" tIns="0" lIns="0" bIns="0" rIns="0">
            <a:spAutoFit/>
          </a:bodyPr>
          <a:lstStyle/>
          <a:p>
            <a:pPr algn="l" marL="0" indent="0" lvl="0">
              <a:lnSpc>
                <a:spcPts val="2879"/>
              </a:lnSpc>
              <a:spcBef>
                <a:spcPct val="0"/>
              </a:spcBef>
            </a:pPr>
            <a:r>
              <a:rPr lang="en-US" b="true" sz="2399" strike="noStrike" u="none">
                <a:solidFill>
                  <a:srgbClr val="2B3541"/>
                </a:solidFill>
                <a:latin typeface="Aptos Bold"/>
                <a:ea typeface="Aptos Bold"/>
                <a:cs typeface="Aptos Bold"/>
                <a:sym typeface="Aptos Bold"/>
              </a:rPr>
              <a:t>Liquidity &amp; Currency</a:t>
            </a:r>
          </a:p>
        </p:txBody>
      </p:sp>
      <p:sp>
        <p:nvSpPr>
          <p:cNvPr name="TextBox 79" id="79"/>
          <p:cNvSpPr txBox="true"/>
          <p:nvPr/>
        </p:nvSpPr>
        <p:spPr>
          <a:xfrm rot="0">
            <a:off x="4242435" y="8530070"/>
            <a:ext cx="13325466" cy="723900"/>
          </a:xfrm>
          <a:prstGeom prst="rect">
            <a:avLst/>
          </a:prstGeom>
        </p:spPr>
        <p:txBody>
          <a:bodyPr anchor="t" rtlCol="false" tIns="0" lIns="0" bIns="0" rIns="0">
            <a:spAutoFit/>
          </a:bodyPr>
          <a:lstStyle/>
          <a:p>
            <a:pPr algn="l" marL="0" indent="0" lvl="0">
              <a:lnSpc>
                <a:spcPts val="2879"/>
              </a:lnSpc>
              <a:spcBef>
                <a:spcPct val="0"/>
              </a:spcBef>
            </a:pPr>
            <a:r>
              <a:rPr lang="en-US" sz="2399" strike="noStrike" u="none">
                <a:solidFill>
                  <a:srgbClr val="2B3541"/>
                </a:solidFill>
                <a:latin typeface="Aptos"/>
                <a:ea typeface="Aptos"/>
                <a:cs typeface="Aptos"/>
                <a:sym typeface="Aptos"/>
              </a:rPr>
              <a:t>Customers can set limits on liquid versus illiquid investments (e.g., bonds and stocks vs. certificates of deposit (CDs)). They also specify whether the investment should be in Israeli or foreign currency.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0392" y="1142619"/>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2">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How the Decision Process Works</a:t>
              </a:r>
            </a:p>
          </p:txBody>
        </p:sp>
      </p:grpSp>
      <p:sp>
        <p:nvSpPr>
          <p:cNvPr name="TextBox 5" id="5"/>
          <p:cNvSpPr txBox="true"/>
          <p:nvPr/>
        </p:nvSpPr>
        <p:spPr>
          <a:xfrm rot="0">
            <a:off x="842772" y="1922526"/>
            <a:ext cx="1652778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The CRM collects a customer profile through four screens; Opti-Money then returns the optimal asset-class allocation.</a:t>
            </a:r>
          </a:p>
        </p:txBody>
      </p:sp>
      <p:grpSp>
        <p:nvGrpSpPr>
          <p:cNvPr name="Group 6" id="6"/>
          <p:cNvGrpSpPr/>
          <p:nvPr/>
        </p:nvGrpSpPr>
        <p:grpSpPr>
          <a:xfrm rot="5400000">
            <a:off x="3118187" y="5255060"/>
            <a:ext cx="672347" cy="562824"/>
            <a:chOff x="0" y="0"/>
            <a:chExt cx="1122680" cy="939800"/>
          </a:xfrm>
        </p:grpSpPr>
        <p:sp>
          <p:nvSpPr>
            <p:cNvPr name="Freeform 7" id="7"/>
            <p:cNvSpPr/>
            <p:nvPr/>
          </p:nvSpPr>
          <p:spPr>
            <a:xfrm flipH="false" flipV="false" rot="0">
              <a:off x="0" y="0"/>
              <a:ext cx="1122680" cy="939800"/>
            </a:xfrm>
            <a:custGeom>
              <a:avLst/>
              <a:gdLst/>
              <a:ahLst/>
              <a:cxnLst/>
              <a:rect r="r" b="b" t="t" l="l"/>
              <a:pathLst>
                <a:path h="939800" w="1122680">
                  <a:moveTo>
                    <a:pt x="0" y="0"/>
                  </a:moveTo>
                  <a:lnTo>
                    <a:pt x="652780" y="0"/>
                  </a:lnTo>
                  <a:lnTo>
                    <a:pt x="1122680" y="469900"/>
                  </a:lnTo>
                  <a:lnTo>
                    <a:pt x="652780" y="939800"/>
                  </a:lnTo>
                  <a:lnTo>
                    <a:pt x="0" y="939800"/>
                  </a:lnTo>
                  <a:lnTo>
                    <a:pt x="469900" y="469900"/>
                  </a:lnTo>
                  <a:close/>
                </a:path>
              </a:pathLst>
            </a:custGeom>
            <a:solidFill>
              <a:srgbClr val="3371A5"/>
            </a:solidFill>
            <a:ln w="19050" cap="sq">
              <a:solidFill>
                <a:srgbClr val="3371A5"/>
              </a:solidFill>
              <a:prstDash val="solid"/>
              <a:miter/>
            </a:ln>
          </p:spPr>
        </p:sp>
      </p:grpSp>
      <p:grpSp>
        <p:nvGrpSpPr>
          <p:cNvPr name="Group 8" id="8"/>
          <p:cNvGrpSpPr/>
          <p:nvPr/>
        </p:nvGrpSpPr>
        <p:grpSpPr>
          <a:xfrm rot="0">
            <a:off x="1983350" y="2351151"/>
            <a:ext cx="5293342" cy="658368"/>
            <a:chOff x="0" y="0"/>
            <a:chExt cx="7057790" cy="877824"/>
          </a:xfrm>
        </p:grpSpPr>
        <p:sp>
          <p:nvSpPr>
            <p:cNvPr name="Freeform 9" id="9"/>
            <p:cNvSpPr/>
            <p:nvPr/>
          </p:nvSpPr>
          <p:spPr>
            <a:xfrm flipH="false" flipV="false" rot="0">
              <a:off x="0" y="0"/>
              <a:ext cx="7057789" cy="877824"/>
            </a:xfrm>
            <a:custGeom>
              <a:avLst/>
              <a:gdLst/>
              <a:ahLst/>
              <a:cxnLst/>
              <a:rect r="r" b="b" t="t" l="l"/>
              <a:pathLst>
                <a:path h="877824" w="7057789">
                  <a:moveTo>
                    <a:pt x="0" y="0"/>
                  </a:moveTo>
                  <a:lnTo>
                    <a:pt x="7057789" y="0"/>
                  </a:lnTo>
                  <a:lnTo>
                    <a:pt x="7057789" y="877824"/>
                  </a:lnTo>
                  <a:lnTo>
                    <a:pt x="0" y="877824"/>
                  </a:lnTo>
                  <a:close/>
                </a:path>
              </a:pathLst>
            </a:custGeom>
            <a:blipFill>
              <a:blip r:embed="rId2">
                <a:alphaModFix amt="0"/>
              </a:blip>
              <a:stretch>
                <a:fillRect l="0" t="-12920" r="59836" b="-12920"/>
              </a:stretch>
            </a:blipFill>
          </p:spPr>
        </p:sp>
        <p:sp>
          <p:nvSpPr>
            <p:cNvPr name="TextBox 10" id="10"/>
            <p:cNvSpPr txBox="true"/>
            <p:nvPr/>
          </p:nvSpPr>
          <p:spPr>
            <a:xfrm>
              <a:off x="0" y="0"/>
              <a:ext cx="7057790" cy="877824"/>
            </a:xfrm>
            <a:prstGeom prst="rect">
              <a:avLst/>
            </a:prstGeom>
          </p:spPr>
          <p:txBody>
            <a:bodyPr anchor="ctr" rtlCol="false" tIns="0" lIns="0" bIns="0" rIns="0"/>
            <a:lstStyle/>
            <a:p>
              <a:pPr algn="ctr">
                <a:lnSpc>
                  <a:spcPts val="2879"/>
                </a:lnSpc>
              </a:pPr>
              <a:r>
                <a:rPr lang="en-US" sz="2399" b="true">
                  <a:solidFill>
                    <a:srgbClr val="2B3541"/>
                  </a:solidFill>
                  <a:latin typeface="Aptos Bold"/>
                  <a:ea typeface="Aptos Bold"/>
                  <a:cs typeface="Aptos Bold"/>
                  <a:sym typeface="Aptos Bold"/>
                </a:rPr>
                <a:t>Investment Preferences</a:t>
              </a:r>
            </a:p>
          </p:txBody>
        </p:sp>
      </p:grpSp>
      <p:grpSp>
        <p:nvGrpSpPr>
          <p:cNvPr name="Group 11" id="11"/>
          <p:cNvGrpSpPr/>
          <p:nvPr/>
        </p:nvGrpSpPr>
        <p:grpSpPr>
          <a:xfrm rot="0">
            <a:off x="5980655" y="6998838"/>
            <a:ext cx="678682" cy="568127"/>
            <a:chOff x="0" y="0"/>
            <a:chExt cx="1122680" cy="939800"/>
          </a:xfrm>
        </p:grpSpPr>
        <p:sp>
          <p:nvSpPr>
            <p:cNvPr name="Freeform 12" id="12"/>
            <p:cNvSpPr/>
            <p:nvPr/>
          </p:nvSpPr>
          <p:spPr>
            <a:xfrm flipH="false" flipV="false" rot="0">
              <a:off x="0" y="0"/>
              <a:ext cx="1122680" cy="939800"/>
            </a:xfrm>
            <a:custGeom>
              <a:avLst/>
              <a:gdLst/>
              <a:ahLst/>
              <a:cxnLst/>
              <a:rect r="r" b="b" t="t" l="l"/>
              <a:pathLst>
                <a:path h="939800" w="1122680">
                  <a:moveTo>
                    <a:pt x="0" y="0"/>
                  </a:moveTo>
                  <a:lnTo>
                    <a:pt x="652780" y="0"/>
                  </a:lnTo>
                  <a:lnTo>
                    <a:pt x="1122680" y="469900"/>
                  </a:lnTo>
                  <a:lnTo>
                    <a:pt x="652780" y="939800"/>
                  </a:lnTo>
                  <a:lnTo>
                    <a:pt x="0" y="939800"/>
                  </a:lnTo>
                  <a:lnTo>
                    <a:pt x="469900" y="469900"/>
                  </a:lnTo>
                  <a:close/>
                </a:path>
              </a:pathLst>
            </a:custGeom>
            <a:solidFill>
              <a:srgbClr val="3371A5"/>
            </a:solidFill>
            <a:ln w="19050" cap="sq">
              <a:solidFill>
                <a:srgbClr val="3371A5"/>
              </a:solidFill>
              <a:prstDash val="solid"/>
              <a:miter/>
            </a:ln>
          </p:spPr>
        </p:sp>
      </p:grpSp>
      <p:grpSp>
        <p:nvGrpSpPr>
          <p:cNvPr name="Group 13" id="13"/>
          <p:cNvGrpSpPr/>
          <p:nvPr/>
        </p:nvGrpSpPr>
        <p:grpSpPr>
          <a:xfrm rot="0">
            <a:off x="12026662" y="7025694"/>
            <a:ext cx="678682" cy="568127"/>
            <a:chOff x="0" y="0"/>
            <a:chExt cx="1122680" cy="939800"/>
          </a:xfrm>
        </p:grpSpPr>
        <p:sp>
          <p:nvSpPr>
            <p:cNvPr name="Freeform 14" id="14"/>
            <p:cNvSpPr/>
            <p:nvPr/>
          </p:nvSpPr>
          <p:spPr>
            <a:xfrm flipH="false" flipV="false" rot="0">
              <a:off x="0" y="0"/>
              <a:ext cx="1122680" cy="939800"/>
            </a:xfrm>
            <a:custGeom>
              <a:avLst/>
              <a:gdLst/>
              <a:ahLst/>
              <a:cxnLst/>
              <a:rect r="r" b="b" t="t" l="l"/>
              <a:pathLst>
                <a:path h="939800" w="1122680">
                  <a:moveTo>
                    <a:pt x="0" y="0"/>
                  </a:moveTo>
                  <a:lnTo>
                    <a:pt x="652780" y="0"/>
                  </a:lnTo>
                  <a:lnTo>
                    <a:pt x="1122680" y="469900"/>
                  </a:lnTo>
                  <a:lnTo>
                    <a:pt x="652780" y="939800"/>
                  </a:lnTo>
                  <a:lnTo>
                    <a:pt x="0" y="939800"/>
                  </a:lnTo>
                  <a:lnTo>
                    <a:pt x="469900" y="469900"/>
                  </a:lnTo>
                  <a:close/>
                </a:path>
              </a:pathLst>
            </a:custGeom>
            <a:solidFill>
              <a:srgbClr val="3371A5"/>
            </a:solidFill>
            <a:ln w="19050" cap="sq">
              <a:solidFill>
                <a:srgbClr val="3371A5"/>
              </a:solidFill>
              <a:prstDash val="solid"/>
              <a:miter/>
            </a:ln>
          </p:spPr>
        </p:sp>
      </p:grpSp>
      <p:grpSp>
        <p:nvGrpSpPr>
          <p:cNvPr name="Group 15" id="15"/>
          <p:cNvGrpSpPr/>
          <p:nvPr/>
        </p:nvGrpSpPr>
        <p:grpSpPr>
          <a:xfrm rot="-5400000">
            <a:off x="14913761" y="5228686"/>
            <a:ext cx="735360" cy="615573"/>
            <a:chOff x="0" y="0"/>
            <a:chExt cx="1122680" cy="939800"/>
          </a:xfrm>
        </p:grpSpPr>
        <p:sp>
          <p:nvSpPr>
            <p:cNvPr name="Freeform 16" id="16"/>
            <p:cNvSpPr/>
            <p:nvPr/>
          </p:nvSpPr>
          <p:spPr>
            <a:xfrm flipH="false" flipV="false" rot="0">
              <a:off x="0" y="0"/>
              <a:ext cx="1122680" cy="939800"/>
            </a:xfrm>
            <a:custGeom>
              <a:avLst/>
              <a:gdLst/>
              <a:ahLst/>
              <a:cxnLst/>
              <a:rect r="r" b="b" t="t" l="l"/>
              <a:pathLst>
                <a:path h="939800" w="1122680">
                  <a:moveTo>
                    <a:pt x="0" y="0"/>
                  </a:moveTo>
                  <a:lnTo>
                    <a:pt x="652780" y="0"/>
                  </a:lnTo>
                  <a:lnTo>
                    <a:pt x="1122680" y="469900"/>
                  </a:lnTo>
                  <a:lnTo>
                    <a:pt x="652780" y="939800"/>
                  </a:lnTo>
                  <a:lnTo>
                    <a:pt x="0" y="939800"/>
                  </a:lnTo>
                  <a:lnTo>
                    <a:pt x="469900" y="469900"/>
                  </a:lnTo>
                  <a:close/>
                </a:path>
              </a:pathLst>
            </a:custGeom>
            <a:solidFill>
              <a:srgbClr val="3371A5"/>
            </a:solidFill>
            <a:ln w="19050" cap="sq">
              <a:solidFill>
                <a:srgbClr val="3371A5"/>
              </a:solidFill>
              <a:prstDash val="solid"/>
              <a:miter/>
            </a:ln>
          </p:spPr>
        </p:sp>
      </p:grpSp>
      <p:grpSp>
        <p:nvGrpSpPr>
          <p:cNvPr name="Group 17" id="17"/>
          <p:cNvGrpSpPr/>
          <p:nvPr/>
        </p:nvGrpSpPr>
        <p:grpSpPr>
          <a:xfrm rot="0">
            <a:off x="11225600" y="2318648"/>
            <a:ext cx="4444291" cy="658368"/>
            <a:chOff x="0" y="0"/>
            <a:chExt cx="5925721" cy="877824"/>
          </a:xfrm>
        </p:grpSpPr>
        <p:sp>
          <p:nvSpPr>
            <p:cNvPr name="Freeform 18" id="18"/>
            <p:cNvSpPr/>
            <p:nvPr/>
          </p:nvSpPr>
          <p:spPr>
            <a:xfrm flipH="false" flipV="false" rot="0">
              <a:off x="0" y="0"/>
              <a:ext cx="5925721" cy="877824"/>
            </a:xfrm>
            <a:custGeom>
              <a:avLst/>
              <a:gdLst/>
              <a:ahLst/>
              <a:cxnLst/>
              <a:rect r="r" b="b" t="t" l="l"/>
              <a:pathLst>
                <a:path h="877824" w="5925721">
                  <a:moveTo>
                    <a:pt x="0" y="0"/>
                  </a:moveTo>
                  <a:lnTo>
                    <a:pt x="5925721" y="0"/>
                  </a:lnTo>
                  <a:lnTo>
                    <a:pt x="5925721" y="877824"/>
                  </a:lnTo>
                  <a:lnTo>
                    <a:pt x="0" y="877824"/>
                  </a:lnTo>
                  <a:close/>
                </a:path>
              </a:pathLst>
            </a:custGeom>
            <a:blipFill>
              <a:blip r:embed="rId2">
                <a:alphaModFix amt="0"/>
              </a:blip>
              <a:stretch>
                <a:fillRect l="0" t="-12920" r="52163" b="-12920"/>
              </a:stretch>
            </a:blipFill>
          </p:spPr>
        </p:sp>
        <p:sp>
          <p:nvSpPr>
            <p:cNvPr name="TextBox 19" id="19"/>
            <p:cNvSpPr txBox="true"/>
            <p:nvPr/>
          </p:nvSpPr>
          <p:spPr>
            <a:xfrm>
              <a:off x="0" y="0"/>
              <a:ext cx="5925721" cy="877824"/>
            </a:xfrm>
            <a:prstGeom prst="rect">
              <a:avLst/>
            </a:prstGeom>
          </p:spPr>
          <p:txBody>
            <a:bodyPr anchor="ctr" rtlCol="false" tIns="0" lIns="0" bIns="0" rIns="0"/>
            <a:lstStyle/>
            <a:p>
              <a:pPr algn="ctr" marL="0" indent="0" lvl="0">
                <a:lnSpc>
                  <a:spcPts val="2879"/>
                </a:lnSpc>
                <a:spcBef>
                  <a:spcPct val="0"/>
                </a:spcBef>
              </a:pPr>
              <a:r>
                <a:rPr lang="en-US" b="true" sz="2399" strike="noStrike" u="none">
                  <a:solidFill>
                    <a:srgbClr val="2B3541"/>
                  </a:solidFill>
                  <a:latin typeface="Aptos Bold"/>
                  <a:ea typeface="Aptos Bold"/>
                  <a:cs typeface="Aptos Bold"/>
                  <a:sym typeface="Aptos Bold"/>
                </a:rPr>
                <a:t>Optimization Server</a:t>
              </a:r>
            </a:p>
          </p:txBody>
        </p:sp>
      </p:grpSp>
      <p:grpSp>
        <p:nvGrpSpPr>
          <p:cNvPr name="Group 20" id="20"/>
          <p:cNvGrpSpPr/>
          <p:nvPr/>
        </p:nvGrpSpPr>
        <p:grpSpPr>
          <a:xfrm rot="0">
            <a:off x="449989" y="2999994"/>
            <a:ext cx="8019098" cy="2053121"/>
            <a:chOff x="0" y="0"/>
            <a:chExt cx="9765069" cy="2500140"/>
          </a:xfrm>
        </p:grpSpPr>
        <p:sp>
          <p:nvSpPr>
            <p:cNvPr name="Freeform 21" id="21"/>
            <p:cNvSpPr/>
            <p:nvPr/>
          </p:nvSpPr>
          <p:spPr>
            <a:xfrm flipH="false" flipV="false" rot="0">
              <a:off x="0" y="0"/>
              <a:ext cx="9765069" cy="2500140"/>
            </a:xfrm>
            <a:custGeom>
              <a:avLst/>
              <a:gdLst/>
              <a:ahLst/>
              <a:cxnLst/>
              <a:rect r="r" b="b" t="t" l="l"/>
              <a:pathLst>
                <a:path h="2500140" w="9765069">
                  <a:moveTo>
                    <a:pt x="0" y="416642"/>
                  </a:moveTo>
                  <a:cubicBezTo>
                    <a:pt x="0" y="186509"/>
                    <a:pt x="390603" y="0"/>
                    <a:pt x="872566" y="0"/>
                  </a:cubicBezTo>
                  <a:lnTo>
                    <a:pt x="8892503" y="0"/>
                  </a:lnTo>
                  <a:cubicBezTo>
                    <a:pt x="9374466" y="0"/>
                    <a:pt x="9765069" y="186509"/>
                    <a:pt x="9765069" y="416642"/>
                  </a:cubicBezTo>
                  <a:lnTo>
                    <a:pt x="9765069" y="2083498"/>
                  </a:lnTo>
                  <a:cubicBezTo>
                    <a:pt x="9765069" y="2313631"/>
                    <a:pt x="9374466" y="2500140"/>
                    <a:pt x="8892503" y="2500140"/>
                  </a:cubicBezTo>
                  <a:lnTo>
                    <a:pt x="872566" y="2500140"/>
                  </a:lnTo>
                  <a:cubicBezTo>
                    <a:pt x="390603" y="2500140"/>
                    <a:pt x="0" y="2313631"/>
                    <a:pt x="0" y="2083498"/>
                  </a:cubicBezTo>
                  <a:close/>
                </a:path>
              </a:pathLst>
            </a:custGeom>
            <a:solidFill>
              <a:srgbClr val="FAF5EB"/>
            </a:solidFill>
            <a:ln w="28575" cap="sq">
              <a:solidFill>
                <a:srgbClr val="B7D9F4"/>
              </a:solidFill>
              <a:prstDash val="solid"/>
              <a:miter/>
            </a:ln>
          </p:spPr>
        </p:sp>
        <p:sp>
          <p:nvSpPr>
            <p:cNvPr name="TextBox 22" id="22"/>
            <p:cNvSpPr txBox="true"/>
            <p:nvPr/>
          </p:nvSpPr>
          <p:spPr>
            <a:xfrm>
              <a:off x="0" y="0"/>
              <a:ext cx="9765069" cy="2500140"/>
            </a:xfrm>
            <a:prstGeom prst="rect">
              <a:avLst/>
            </a:prstGeom>
          </p:spPr>
          <p:txBody>
            <a:bodyPr anchor="t" rtlCol="false" tIns="165100" lIns="165100" bIns="165100" rIns="165100"/>
            <a:lstStyle/>
            <a:p>
              <a:pPr algn="ctr">
                <a:lnSpc>
                  <a:spcPts val="2639"/>
                </a:lnSpc>
              </a:pPr>
              <a:r>
                <a:rPr lang="en-US" sz="2199" b="true">
                  <a:solidFill>
                    <a:srgbClr val="051D3A"/>
                  </a:solidFill>
                  <a:latin typeface="Aptos Bold"/>
                  <a:ea typeface="Aptos Bold"/>
                  <a:cs typeface="Aptos Bold"/>
                  <a:sym typeface="Aptos Bold"/>
                </a:rPr>
                <a:t>CUSTOMER PROFILE</a:t>
              </a:r>
            </a:p>
            <a:p>
              <a:pPr algn="l">
                <a:lnSpc>
                  <a:spcPts val="2639"/>
                </a:lnSpc>
              </a:pPr>
              <a:r>
                <a:rPr lang="en-US" sz="2199">
                  <a:solidFill>
                    <a:srgbClr val="2B3541"/>
                  </a:solidFill>
                  <a:latin typeface="Aptos"/>
                  <a:ea typeface="Aptos"/>
                  <a:cs typeface="Aptos"/>
                  <a:sym typeface="Aptos"/>
                </a:rPr>
                <a:t>Objectives: house, children, personal event or general investing.</a:t>
              </a:r>
            </a:p>
            <a:p>
              <a:pPr algn="l">
                <a:lnSpc>
                  <a:spcPts val="2639"/>
                </a:lnSpc>
              </a:pPr>
              <a:r>
                <a:rPr lang="en-US" sz="2199">
                  <a:solidFill>
                    <a:srgbClr val="2B3541"/>
                  </a:solidFill>
                  <a:latin typeface="Aptos"/>
                  <a:ea typeface="Aptos"/>
                  <a:cs typeface="Aptos"/>
                  <a:sym typeface="Aptos"/>
                </a:rPr>
                <a:t>Horizon: 1, 2, 5 or 10 years.</a:t>
              </a:r>
            </a:p>
            <a:p>
              <a:pPr algn="l">
                <a:lnSpc>
                  <a:spcPts val="2639"/>
                </a:lnSpc>
              </a:pPr>
              <a:r>
                <a:rPr lang="en-US" sz="2199">
                  <a:solidFill>
                    <a:srgbClr val="2B3541"/>
                  </a:solidFill>
                  <a:latin typeface="Aptos"/>
                  <a:ea typeface="Aptos"/>
                  <a:cs typeface="Aptos"/>
                  <a:sym typeface="Aptos"/>
                </a:rPr>
                <a:t>Benchmark: CPI, Bank of Israel rate, USD or Euro; multiple goals can be weighted.</a:t>
              </a:r>
            </a:p>
          </p:txBody>
        </p:sp>
      </p:grpSp>
      <p:grpSp>
        <p:nvGrpSpPr>
          <p:cNvPr name="Group 23" id="23"/>
          <p:cNvGrpSpPr/>
          <p:nvPr/>
        </p:nvGrpSpPr>
        <p:grpSpPr>
          <a:xfrm rot="0">
            <a:off x="449989" y="6133284"/>
            <a:ext cx="5216978" cy="2405546"/>
            <a:chOff x="0" y="0"/>
            <a:chExt cx="5900842" cy="2720875"/>
          </a:xfrm>
        </p:grpSpPr>
        <p:sp>
          <p:nvSpPr>
            <p:cNvPr name="Freeform 24" id="24"/>
            <p:cNvSpPr/>
            <p:nvPr/>
          </p:nvSpPr>
          <p:spPr>
            <a:xfrm flipH="false" flipV="false" rot="0">
              <a:off x="0" y="0"/>
              <a:ext cx="5900842" cy="2720875"/>
            </a:xfrm>
            <a:custGeom>
              <a:avLst/>
              <a:gdLst/>
              <a:ahLst/>
              <a:cxnLst/>
              <a:rect r="r" b="b" t="t" l="l"/>
              <a:pathLst>
                <a:path h="2720875" w="5900842">
                  <a:moveTo>
                    <a:pt x="0" y="453427"/>
                  </a:moveTo>
                  <a:cubicBezTo>
                    <a:pt x="0" y="202976"/>
                    <a:pt x="236034" y="0"/>
                    <a:pt x="527275" y="0"/>
                  </a:cubicBezTo>
                  <a:lnTo>
                    <a:pt x="5373567" y="0"/>
                  </a:lnTo>
                  <a:cubicBezTo>
                    <a:pt x="5664808" y="0"/>
                    <a:pt x="5900842" y="202976"/>
                    <a:pt x="5900842" y="453427"/>
                  </a:cubicBezTo>
                  <a:lnTo>
                    <a:pt x="5900842" y="2267448"/>
                  </a:lnTo>
                  <a:cubicBezTo>
                    <a:pt x="5900842" y="2517899"/>
                    <a:pt x="5664808" y="2720875"/>
                    <a:pt x="5373567" y="2720875"/>
                  </a:cubicBezTo>
                  <a:lnTo>
                    <a:pt x="527275" y="2720875"/>
                  </a:lnTo>
                  <a:cubicBezTo>
                    <a:pt x="236034" y="2720875"/>
                    <a:pt x="0" y="2517899"/>
                    <a:pt x="0" y="2267448"/>
                  </a:cubicBezTo>
                  <a:close/>
                </a:path>
              </a:pathLst>
            </a:custGeom>
            <a:solidFill>
              <a:srgbClr val="FAF5EB"/>
            </a:solidFill>
            <a:ln w="19050" cap="sq">
              <a:solidFill>
                <a:srgbClr val="B7D9F4"/>
              </a:solidFill>
              <a:prstDash val="solid"/>
              <a:miter/>
            </a:ln>
          </p:spPr>
        </p:sp>
        <p:sp>
          <p:nvSpPr>
            <p:cNvPr name="TextBox 25" id="25"/>
            <p:cNvSpPr txBox="true"/>
            <p:nvPr/>
          </p:nvSpPr>
          <p:spPr>
            <a:xfrm>
              <a:off x="0" y="0"/>
              <a:ext cx="5900842" cy="2720875"/>
            </a:xfrm>
            <a:prstGeom prst="rect">
              <a:avLst/>
            </a:prstGeom>
          </p:spPr>
          <p:txBody>
            <a:bodyPr anchor="t" rtlCol="false" tIns="190500" lIns="190500" bIns="190500" rIns="190500"/>
            <a:lstStyle/>
            <a:p>
              <a:pPr algn="ctr">
                <a:lnSpc>
                  <a:spcPts val="2639"/>
                </a:lnSpc>
              </a:pPr>
              <a:r>
                <a:rPr lang="en-US" sz="2199" b="true">
                  <a:solidFill>
                    <a:srgbClr val="051D3A"/>
                  </a:solidFill>
                  <a:latin typeface="Aptos Bold"/>
                  <a:ea typeface="Aptos Bold"/>
                  <a:cs typeface="Aptos Bold"/>
                  <a:sym typeface="Aptos Bold"/>
                </a:rPr>
                <a:t>MACRO VIEW</a:t>
              </a:r>
            </a:p>
            <a:p>
              <a:pPr algn="l">
                <a:lnSpc>
                  <a:spcPts val="2639"/>
                </a:lnSpc>
              </a:pPr>
              <a:r>
                <a:rPr lang="en-US" sz="2199">
                  <a:solidFill>
                    <a:srgbClr val="2B3541"/>
                  </a:solidFill>
                  <a:latin typeface="Aptos"/>
                  <a:ea typeface="Aptos"/>
                  <a:cs typeface="Aptos"/>
                  <a:sym typeface="Aptos"/>
                </a:rPr>
                <a:t>Bank supplies forecasts for CPI and USD exchange-rate change.</a:t>
              </a:r>
            </a:p>
            <a:p>
              <a:pPr algn="l">
                <a:lnSpc>
                  <a:spcPts val="2639"/>
                </a:lnSpc>
              </a:pPr>
              <a:r>
                <a:rPr lang="en-US" sz="2199">
                  <a:solidFill>
                    <a:srgbClr val="2B3541"/>
                  </a:solidFill>
                  <a:latin typeface="Aptos"/>
                  <a:ea typeface="Aptos"/>
                  <a:cs typeface="Aptos"/>
                  <a:sym typeface="Aptos"/>
                </a:rPr>
                <a:t>Customer/CRM may override forecasts.</a:t>
              </a:r>
            </a:p>
            <a:p>
              <a:pPr algn="l">
                <a:lnSpc>
                  <a:spcPts val="2639"/>
                </a:lnSpc>
              </a:pPr>
              <a:r>
                <a:rPr lang="en-US" sz="2199">
                  <a:solidFill>
                    <a:srgbClr val="2B3541"/>
                  </a:solidFill>
                  <a:latin typeface="Aptos"/>
                  <a:ea typeface="Aptos"/>
                  <a:cs typeface="Aptos"/>
                  <a:sym typeface="Aptos"/>
                </a:rPr>
                <a:t>Selected benchmark also affects asset selection and risk measurement.</a:t>
              </a:r>
            </a:p>
          </p:txBody>
        </p:sp>
      </p:grpSp>
      <p:grpSp>
        <p:nvGrpSpPr>
          <p:cNvPr name="Group 26" id="26"/>
          <p:cNvGrpSpPr/>
          <p:nvPr/>
        </p:nvGrpSpPr>
        <p:grpSpPr>
          <a:xfrm rot="0">
            <a:off x="6973662" y="6133284"/>
            <a:ext cx="4835192" cy="2405546"/>
            <a:chOff x="0" y="0"/>
            <a:chExt cx="6437445" cy="3202679"/>
          </a:xfrm>
        </p:grpSpPr>
        <p:sp>
          <p:nvSpPr>
            <p:cNvPr name="Freeform 27" id="27"/>
            <p:cNvSpPr/>
            <p:nvPr/>
          </p:nvSpPr>
          <p:spPr>
            <a:xfrm flipH="false" flipV="false" rot="0">
              <a:off x="0" y="0"/>
              <a:ext cx="6437445" cy="3202679"/>
            </a:xfrm>
            <a:custGeom>
              <a:avLst/>
              <a:gdLst/>
              <a:ahLst/>
              <a:cxnLst/>
              <a:rect r="r" b="b" t="t" l="l"/>
              <a:pathLst>
                <a:path h="3202679" w="6437445">
                  <a:moveTo>
                    <a:pt x="0" y="533719"/>
                  </a:moveTo>
                  <a:cubicBezTo>
                    <a:pt x="0" y="238918"/>
                    <a:pt x="257498" y="0"/>
                    <a:pt x="575223" y="0"/>
                  </a:cubicBezTo>
                  <a:lnTo>
                    <a:pt x="5862221" y="0"/>
                  </a:lnTo>
                  <a:cubicBezTo>
                    <a:pt x="6179947" y="0"/>
                    <a:pt x="6437445" y="238918"/>
                    <a:pt x="6437445" y="533719"/>
                  </a:cubicBezTo>
                  <a:lnTo>
                    <a:pt x="6437445" y="2668960"/>
                  </a:lnTo>
                  <a:cubicBezTo>
                    <a:pt x="6437445" y="2963761"/>
                    <a:pt x="6179947" y="3202679"/>
                    <a:pt x="5862221" y="3202679"/>
                  </a:cubicBezTo>
                  <a:lnTo>
                    <a:pt x="575223" y="3202679"/>
                  </a:lnTo>
                  <a:cubicBezTo>
                    <a:pt x="257498" y="3202679"/>
                    <a:pt x="0" y="2963761"/>
                    <a:pt x="0" y="2668960"/>
                  </a:cubicBezTo>
                  <a:close/>
                </a:path>
              </a:pathLst>
            </a:custGeom>
            <a:solidFill>
              <a:srgbClr val="FAF5EB"/>
            </a:solidFill>
            <a:ln w="19050" cap="sq">
              <a:solidFill>
                <a:srgbClr val="B7D9F4"/>
              </a:solidFill>
              <a:prstDash val="solid"/>
              <a:miter/>
            </a:ln>
          </p:spPr>
        </p:sp>
        <p:sp>
          <p:nvSpPr>
            <p:cNvPr name="TextBox 28" id="28"/>
            <p:cNvSpPr txBox="true"/>
            <p:nvPr/>
          </p:nvSpPr>
          <p:spPr>
            <a:xfrm>
              <a:off x="0" y="0"/>
              <a:ext cx="6437445" cy="3202679"/>
            </a:xfrm>
            <a:prstGeom prst="rect">
              <a:avLst/>
            </a:prstGeom>
          </p:spPr>
          <p:txBody>
            <a:bodyPr anchor="t" rtlCol="false" tIns="190500" lIns="190500" bIns="190500" rIns="190500"/>
            <a:lstStyle/>
            <a:p>
              <a:pPr algn="ctr">
                <a:lnSpc>
                  <a:spcPts val="2639"/>
                </a:lnSpc>
              </a:pPr>
              <a:r>
                <a:rPr lang="en-US" sz="2199" b="true">
                  <a:solidFill>
                    <a:srgbClr val="051D3A"/>
                  </a:solidFill>
                  <a:latin typeface="Aptos Bold"/>
                  <a:ea typeface="Aptos Bold"/>
                  <a:cs typeface="Aptos Bold"/>
                  <a:sym typeface="Aptos Bold"/>
                </a:rPr>
                <a:t>LIQUIDITY &amp; CURRENCY</a:t>
              </a:r>
            </a:p>
            <a:p>
              <a:pPr algn="l">
                <a:lnSpc>
                  <a:spcPts val="2639"/>
                </a:lnSpc>
              </a:pPr>
              <a:r>
                <a:rPr lang="en-US" sz="2199">
                  <a:solidFill>
                    <a:srgbClr val="2B3541"/>
                  </a:solidFill>
                  <a:latin typeface="Aptos"/>
                  <a:ea typeface="Aptos"/>
                  <a:cs typeface="Aptos"/>
                  <a:sym typeface="Aptos"/>
                </a:rPr>
                <a:t>Customer sets limits on liquid versus illiquid investments (e.g., bonds/stocks vs CDs).</a:t>
              </a:r>
            </a:p>
            <a:p>
              <a:pPr algn="l">
                <a:lnSpc>
                  <a:spcPts val="2639"/>
                </a:lnSpc>
              </a:pPr>
              <a:r>
                <a:rPr lang="en-US" sz="2199">
                  <a:solidFill>
                    <a:srgbClr val="2B3541"/>
                  </a:solidFill>
                  <a:latin typeface="Aptos"/>
                  <a:ea typeface="Aptos"/>
                  <a:cs typeface="Aptos"/>
                  <a:sym typeface="Aptos"/>
                </a:rPr>
                <a:t>Currency preference: Israeli or foreign.</a:t>
              </a:r>
            </a:p>
          </p:txBody>
        </p:sp>
      </p:grpSp>
      <p:grpSp>
        <p:nvGrpSpPr>
          <p:cNvPr name="Group 29" id="29"/>
          <p:cNvGrpSpPr/>
          <p:nvPr/>
        </p:nvGrpSpPr>
        <p:grpSpPr>
          <a:xfrm rot="0">
            <a:off x="12932676" y="6290447"/>
            <a:ext cx="4766362" cy="2072171"/>
            <a:chOff x="0" y="0"/>
            <a:chExt cx="6355150" cy="2762895"/>
          </a:xfrm>
        </p:grpSpPr>
        <p:sp>
          <p:nvSpPr>
            <p:cNvPr name="Freeform 30" id="30"/>
            <p:cNvSpPr/>
            <p:nvPr/>
          </p:nvSpPr>
          <p:spPr>
            <a:xfrm flipH="false" flipV="false" rot="0">
              <a:off x="0" y="0"/>
              <a:ext cx="6355150" cy="2762895"/>
            </a:xfrm>
            <a:custGeom>
              <a:avLst/>
              <a:gdLst/>
              <a:ahLst/>
              <a:cxnLst/>
              <a:rect r="r" b="b" t="t" l="l"/>
              <a:pathLst>
                <a:path h="2762895" w="6355150">
                  <a:moveTo>
                    <a:pt x="0" y="460430"/>
                  </a:moveTo>
                  <a:cubicBezTo>
                    <a:pt x="0" y="206111"/>
                    <a:pt x="254206" y="0"/>
                    <a:pt x="567870" y="0"/>
                  </a:cubicBezTo>
                  <a:lnTo>
                    <a:pt x="5787280" y="0"/>
                  </a:lnTo>
                  <a:cubicBezTo>
                    <a:pt x="6100944" y="0"/>
                    <a:pt x="6355150" y="206111"/>
                    <a:pt x="6355150" y="460430"/>
                  </a:cubicBezTo>
                  <a:lnTo>
                    <a:pt x="6355150" y="2302465"/>
                  </a:lnTo>
                  <a:cubicBezTo>
                    <a:pt x="6355150" y="2556784"/>
                    <a:pt x="6100944" y="2762895"/>
                    <a:pt x="5787280" y="2762895"/>
                  </a:cubicBezTo>
                  <a:lnTo>
                    <a:pt x="567870" y="2762895"/>
                  </a:lnTo>
                  <a:cubicBezTo>
                    <a:pt x="254206" y="2762895"/>
                    <a:pt x="0" y="2556784"/>
                    <a:pt x="0" y="2302465"/>
                  </a:cubicBezTo>
                  <a:close/>
                </a:path>
              </a:pathLst>
            </a:custGeom>
            <a:solidFill>
              <a:srgbClr val="FAF5EB"/>
            </a:solidFill>
            <a:ln w="19050" cap="sq">
              <a:solidFill>
                <a:srgbClr val="B7D9F4"/>
              </a:solidFill>
              <a:prstDash val="solid"/>
              <a:miter/>
            </a:ln>
          </p:spPr>
        </p:sp>
        <p:sp>
          <p:nvSpPr>
            <p:cNvPr name="TextBox 31" id="31"/>
            <p:cNvSpPr txBox="true"/>
            <p:nvPr/>
          </p:nvSpPr>
          <p:spPr>
            <a:xfrm>
              <a:off x="0" y="0"/>
              <a:ext cx="6355150" cy="2762895"/>
            </a:xfrm>
            <a:prstGeom prst="rect">
              <a:avLst/>
            </a:prstGeom>
          </p:spPr>
          <p:txBody>
            <a:bodyPr anchor="t" rtlCol="false" tIns="190500" lIns="190500" bIns="190500" rIns="190500"/>
            <a:lstStyle/>
            <a:p>
              <a:pPr algn="ctr">
                <a:lnSpc>
                  <a:spcPts val="2639"/>
                </a:lnSpc>
              </a:pPr>
              <a:r>
                <a:rPr lang="en-US" sz="2199" b="true">
                  <a:solidFill>
                    <a:srgbClr val="051D3A"/>
                  </a:solidFill>
                  <a:latin typeface="Aptos Bold"/>
                  <a:ea typeface="Aptos Bold"/>
                  <a:cs typeface="Aptos Bold"/>
                  <a:sym typeface="Aptos Bold"/>
                </a:rPr>
                <a:t>RISK CLASSIFICATION</a:t>
              </a:r>
            </a:p>
            <a:p>
              <a:pPr algn="l">
                <a:lnSpc>
                  <a:spcPts val="2639"/>
                </a:lnSpc>
              </a:pPr>
              <a:r>
                <a:rPr lang="en-US" sz="2199">
                  <a:solidFill>
                    <a:srgbClr val="2B3541"/>
                  </a:solidFill>
                  <a:latin typeface="Aptos"/>
                  <a:ea typeface="Aptos"/>
                  <a:cs typeface="Aptos"/>
                  <a:sym typeface="Aptos"/>
                </a:rPr>
                <a:t>Questionnaire assigns one of five levels: low, low-medium, medium, risk-oriented or high-risk.</a:t>
              </a:r>
            </a:p>
            <a:p>
              <a:pPr algn="l">
                <a:lnSpc>
                  <a:spcPts val="2639"/>
                </a:lnSpc>
              </a:pPr>
              <a:r>
                <a:rPr lang="en-US" sz="2199">
                  <a:solidFill>
                    <a:srgbClr val="2B3541"/>
                  </a:solidFill>
                  <a:latin typeface="Aptos"/>
                  <a:ea typeface="Aptos"/>
                  <a:cs typeface="Aptos"/>
                  <a:sym typeface="Aptos"/>
                </a:rPr>
                <a:t>Risk appetite is inferred indirectly.</a:t>
              </a:r>
            </a:p>
          </p:txBody>
        </p:sp>
      </p:grpSp>
      <p:grpSp>
        <p:nvGrpSpPr>
          <p:cNvPr name="Group 32" id="32"/>
          <p:cNvGrpSpPr/>
          <p:nvPr/>
        </p:nvGrpSpPr>
        <p:grpSpPr>
          <a:xfrm rot="0">
            <a:off x="9253602" y="2999994"/>
            <a:ext cx="8388287" cy="2034071"/>
            <a:chOff x="0" y="0"/>
            <a:chExt cx="11184382" cy="2712094"/>
          </a:xfrm>
        </p:grpSpPr>
        <p:sp>
          <p:nvSpPr>
            <p:cNvPr name="Freeform 33" id="33"/>
            <p:cNvSpPr/>
            <p:nvPr/>
          </p:nvSpPr>
          <p:spPr>
            <a:xfrm flipH="false" flipV="false" rot="0">
              <a:off x="0" y="0"/>
              <a:ext cx="11184382" cy="2712095"/>
            </a:xfrm>
            <a:custGeom>
              <a:avLst/>
              <a:gdLst/>
              <a:ahLst/>
              <a:cxnLst/>
              <a:rect r="r" b="b" t="t" l="l"/>
              <a:pathLst>
                <a:path h="2712095" w="11184382">
                  <a:moveTo>
                    <a:pt x="0" y="451964"/>
                  </a:moveTo>
                  <a:cubicBezTo>
                    <a:pt x="0" y="202321"/>
                    <a:pt x="447375" y="0"/>
                    <a:pt x="999390" y="0"/>
                  </a:cubicBezTo>
                  <a:lnTo>
                    <a:pt x="10184992" y="0"/>
                  </a:lnTo>
                  <a:cubicBezTo>
                    <a:pt x="10737007" y="0"/>
                    <a:pt x="11184382" y="202321"/>
                    <a:pt x="11184382" y="451964"/>
                  </a:cubicBezTo>
                  <a:lnTo>
                    <a:pt x="11184382" y="2260130"/>
                  </a:lnTo>
                  <a:cubicBezTo>
                    <a:pt x="11184382" y="2509773"/>
                    <a:pt x="10737007" y="2712095"/>
                    <a:pt x="10184992" y="2712095"/>
                  </a:cubicBezTo>
                  <a:lnTo>
                    <a:pt x="999390" y="2712095"/>
                  </a:lnTo>
                  <a:cubicBezTo>
                    <a:pt x="447375" y="2712095"/>
                    <a:pt x="0" y="2509773"/>
                    <a:pt x="0" y="2260130"/>
                  </a:cubicBezTo>
                  <a:close/>
                </a:path>
              </a:pathLst>
            </a:custGeom>
            <a:solidFill>
              <a:srgbClr val="FAF5EB"/>
            </a:solidFill>
            <a:ln w="19050" cap="sq">
              <a:solidFill>
                <a:srgbClr val="B7D9F4"/>
              </a:solidFill>
              <a:prstDash val="solid"/>
              <a:miter/>
            </a:ln>
          </p:spPr>
        </p:sp>
        <p:sp>
          <p:nvSpPr>
            <p:cNvPr name="TextBox 34" id="34"/>
            <p:cNvSpPr txBox="true"/>
            <p:nvPr/>
          </p:nvSpPr>
          <p:spPr>
            <a:xfrm>
              <a:off x="0" y="0"/>
              <a:ext cx="11184382" cy="2712094"/>
            </a:xfrm>
            <a:prstGeom prst="rect">
              <a:avLst/>
            </a:prstGeom>
          </p:spPr>
          <p:txBody>
            <a:bodyPr anchor="t" rtlCol="false" tIns="165100" lIns="165100" bIns="165100" rIns="165100"/>
            <a:lstStyle/>
            <a:p>
              <a:pPr algn="ctr">
                <a:lnSpc>
                  <a:spcPts val="2639"/>
                </a:lnSpc>
              </a:pPr>
              <a:r>
                <a:rPr lang="en-US" b="true" sz="2199" spc="87">
                  <a:solidFill>
                    <a:srgbClr val="051D3A"/>
                  </a:solidFill>
                  <a:latin typeface="Aptos Bold"/>
                  <a:ea typeface="Aptos Bold"/>
                  <a:cs typeface="Aptos Bold"/>
                  <a:sym typeface="Aptos Bold"/>
                </a:rPr>
                <a:t>OPTIMIZATION SERVER</a:t>
              </a:r>
            </a:p>
            <a:p>
              <a:pPr algn="l">
                <a:lnSpc>
                  <a:spcPts val="2639"/>
                </a:lnSpc>
              </a:pPr>
              <a:r>
                <a:rPr lang="en-US" sz="2199" spc="87">
                  <a:solidFill>
                    <a:srgbClr val="2B3541"/>
                  </a:solidFill>
                  <a:latin typeface="Aptos"/>
                  <a:ea typeface="Aptos"/>
                  <a:cs typeface="Aptos"/>
                  <a:sym typeface="Aptos"/>
                </a:rPr>
                <a:t>Profile is sent to a central server holding precomputed optimal portfolios for every possible profile.</a:t>
              </a:r>
            </a:p>
            <a:p>
              <a:pPr algn="l">
                <a:lnSpc>
                  <a:spcPts val="2639"/>
                </a:lnSpc>
              </a:pPr>
              <a:r>
                <a:rPr lang="en-US" sz="2199" spc="87">
                  <a:solidFill>
                    <a:srgbClr val="2B3541"/>
                  </a:solidFill>
                  <a:latin typeface="Aptos"/>
                  <a:ea typeface="Aptos"/>
                  <a:cs typeface="Aptos"/>
                  <a:sym typeface="Aptos"/>
                </a:rPr>
                <a:t>Output returns instantly in tables/graphs and breaks major classes into finer classes.</a:t>
              </a:r>
            </a:p>
          </p:txBody>
        </p:sp>
      </p:grpSp>
      <p:grpSp>
        <p:nvGrpSpPr>
          <p:cNvPr name="Group 35" id="35"/>
          <p:cNvGrpSpPr/>
          <p:nvPr/>
        </p:nvGrpSpPr>
        <p:grpSpPr>
          <a:xfrm rot="0">
            <a:off x="952183" y="8731167"/>
            <a:ext cx="16564737" cy="1054266"/>
            <a:chOff x="0" y="0"/>
            <a:chExt cx="21921724" cy="1395213"/>
          </a:xfrm>
        </p:grpSpPr>
        <p:sp>
          <p:nvSpPr>
            <p:cNvPr name="Freeform 36" id="36"/>
            <p:cNvSpPr/>
            <p:nvPr/>
          </p:nvSpPr>
          <p:spPr>
            <a:xfrm flipH="false" flipV="false" rot="0">
              <a:off x="0" y="0"/>
              <a:ext cx="21921724" cy="1395213"/>
            </a:xfrm>
            <a:custGeom>
              <a:avLst/>
              <a:gdLst/>
              <a:ahLst/>
              <a:cxnLst/>
              <a:rect r="r" b="b" t="t" l="l"/>
              <a:pathLst>
                <a:path h="1395213" w="21921724">
                  <a:moveTo>
                    <a:pt x="0" y="232564"/>
                  </a:moveTo>
                  <a:cubicBezTo>
                    <a:pt x="0" y="104138"/>
                    <a:pt x="155194" y="0"/>
                    <a:pt x="346583" y="0"/>
                  </a:cubicBezTo>
                  <a:lnTo>
                    <a:pt x="21575140" y="0"/>
                  </a:lnTo>
                  <a:cubicBezTo>
                    <a:pt x="21766529" y="0"/>
                    <a:pt x="21921724" y="104138"/>
                    <a:pt x="21921724" y="232564"/>
                  </a:cubicBezTo>
                  <a:lnTo>
                    <a:pt x="21921724" y="1162649"/>
                  </a:lnTo>
                  <a:cubicBezTo>
                    <a:pt x="21921724" y="1291075"/>
                    <a:pt x="21766529" y="1395213"/>
                    <a:pt x="21575140" y="1395213"/>
                  </a:cubicBezTo>
                  <a:lnTo>
                    <a:pt x="346583" y="1395213"/>
                  </a:lnTo>
                  <a:cubicBezTo>
                    <a:pt x="155194" y="1395213"/>
                    <a:pt x="0" y="1291075"/>
                    <a:pt x="0" y="1162649"/>
                  </a:cubicBezTo>
                  <a:close/>
                </a:path>
              </a:pathLst>
            </a:custGeom>
            <a:solidFill>
              <a:srgbClr val="B7D9F4"/>
            </a:solidFill>
            <a:ln w="9525" cap="sq">
              <a:solidFill>
                <a:srgbClr val="B7D9F4"/>
              </a:solidFill>
              <a:prstDash val="solid"/>
              <a:miter/>
            </a:ln>
          </p:spPr>
        </p:sp>
        <p:sp>
          <p:nvSpPr>
            <p:cNvPr name="TextBox 37" id="37"/>
            <p:cNvSpPr txBox="true"/>
            <p:nvPr/>
          </p:nvSpPr>
          <p:spPr>
            <a:xfrm>
              <a:off x="0" y="-38100"/>
              <a:ext cx="21921724" cy="1433313"/>
            </a:xfrm>
            <a:prstGeom prst="rect">
              <a:avLst/>
            </a:prstGeom>
          </p:spPr>
          <p:txBody>
            <a:bodyPr anchor="t" rtlCol="false" tIns="152400" lIns="152400" bIns="152400" rIns="152400"/>
            <a:lstStyle/>
            <a:p>
              <a:pPr algn="just">
                <a:lnSpc>
                  <a:spcPts val="3079"/>
                </a:lnSpc>
              </a:pPr>
              <a:r>
                <a:rPr lang="en-US" sz="2199" b="true">
                  <a:solidFill>
                    <a:srgbClr val="051D3A"/>
                  </a:solidFill>
                  <a:latin typeface="Aptos Bold"/>
                  <a:ea typeface="Aptos Bold"/>
                  <a:cs typeface="Aptos Bold"/>
                  <a:sym typeface="Aptos Bold"/>
                </a:rPr>
                <a:t>After the model responds: </a:t>
              </a:r>
              <a:r>
                <a:rPr lang="en-US" sz="2199">
                  <a:solidFill>
                    <a:srgbClr val="2B3541"/>
                  </a:solidFill>
                  <a:latin typeface="Aptos"/>
                  <a:ea typeface="Aptos"/>
                  <a:cs typeface="Aptos"/>
                  <a:sym typeface="Aptos"/>
                </a:rPr>
                <a:t>the CRM can revise inputs and obtain a new portfolio. The model sets asset-class weights only; the CRM selects individual securities and makes the final buy/sell recommendations.</a:t>
              </a:r>
            </a:p>
          </p:txBody>
        </p:sp>
      </p:grpSp>
      <p:grpSp>
        <p:nvGrpSpPr>
          <p:cNvPr name="Group 38" id="38"/>
          <p:cNvGrpSpPr/>
          <p:nvPr/>
        </p:nvGrpSpPr>
        <p:grpSpPr>
          <a:xfrm rot="0">
            <a:off x="842772" y="340163"/>
            <a:ext cx="5864481" cy="688537"/>
            <a:chOff x="0" y="0"/>
            <a:chExt cx="7216342" cy="847257"/>
          </a:xfrm>
        </p:grpSpPr>
        <p:sp>
          <p:nvSpPr>
            <p:cNvPr name="Freeform 39" id="39"/>
            <p:cNvSpPr/>
            <p:nvPr/>
          </p:nvSpPr>
          <p:spPr>
            <a:xfrm flipH="false" flipV="false" rot="0">
              <a:off x="0" y="0"/>
              <a:ext cx="7216137" cy="847257"/>
            </a:xfrm>
            <a:custGeom>
              <a:avLst/>
              <a:gdLst/>
              <a:ahLst/>
              <a:cxnLst/>
              <a:rect r="r" b="b" t="t" l="l"/>
              <a:pathLst>
                <a:path h="847257" w="7216137">
                  <a:moveTo>
                    <a:pt x="0" y="282356"/>
                  </a:moveTo>
                  <a:cubicBezTo>
                    <a:pt x="0" y="126521"/>
                    <a:pt x="171654" y="0"/>
                    <a:pt x="383078" y="0"/>
                  </a:cubicBezTo>
                  <a:lnTo>
                    <a:pt x="6833059" y="0"/>
                  </a:lnTo>
                  <a:cubicBezTo>
                    <a:pt x="7044740" y="0"/>
                    <a:pt x="7216137" y="126521"/>
                    <a:pt x="7216137" y="282356"/>
                  </a:cubicBezTo>
                  <a:lnTo>
                    <a:pt x="7216137" y="564901"/>
                  </a:lnTo>
                  <a:cubicBezTo>
                    <a:pt x="7216137" y="720925"/>
                    <a:pt x="7044482" y="847257"/>
                    <a:pt x="6833059" y="847257"/>
                  </a:cubicBezTo>
                  <a:lnTo>
                    <a:pt x="383078" y="847257"/>
                  </a:lnTo>
                  <a:cubicBezTo>
                    <a:pt x="171654" y="847257"/>
                    <a:pt x="0" y="720735"/>
                    <a:pt x="0" y="564901"/>
                  </a:cubicBezTo>
                  <a:close/>
                </a:path>
              </a:pathLst>
            </a:custGeom>
            <a:solidFill>
              <a:srgbClr val="FAF5EB"/>
            </a:solidFill>
            <a:ln w="15240" cap="sq">
              <a:solidFill>
                <a:srgbClr val="3371A5"/>
              </a:solidFill>
              <a:prstDash val="solid"/>
              <a:miter/>
            </a:ln>
          </p:spPr>
        </p:sp>
      </p:grpSp>
      <p:grpSp>
        <p:nvGrpSpPr>
          <p:cNvPr name="Group 40" id="40"/>
          <p:cNvGrpSpPr/>
          <p:nvPr/>
        </p:nvGrpSpPr>
        <p:grpSpPr>
          <a:xfrm rot="0">
            <a:off x="1077151" y="429295"/>
            <a:ext cx="5395722" cy="510272"/>
            <a:chOff x="0" y="0"/>
            <a:chExt cx="7194297" cy="680363"/>
          </a:xfrm>
        </p:grpSpPr>
        <p:sp>
          <p:nvSpPr>
            <p:cNvPr name="Freeform 41" id="41"/>
            <p:cNvSpPr/>
            <p:nvPr/>
          </p:nvSpPr>
          <p:spPr>
            <a:xfrm flipH="false" flipV="false" rot="0">
              <a:off x="0" y="0"/>
              <a:ext cx="7194297" cy="680363"/>
            </a:xfrm>
            <a:custGeom>
              <a:avLst/>
              <a:gdLst/>
              <a:ahLst/>
              <a:cxnLst/>
              <a:rect r="r" b="b" t="t" l="l"/>
              <a:pathLst>
                <a:path h="680363" w="7194297">
                  <a:moveTo>
                    <a:pt x="0" y="0"/>
                  </a:moveTo>
                  <a:lnTo>
                    <a:pt x="7194297" y="0"/>
                  </a:lnTo>
                  <a:lnTo>
                    <a:pt x="7194297" y="680363"/>
                  </a:lnTo>
                  <a:lnTo>
                    <a:pt x="0" y="680363"/>
                  </a:lnTo>
                  <a:close/>
                </a:path>
              </a:pathLst>
            </a:custGeom>
            <a:blipFill>
              <a:blip r:embed="rId2">
                <a:alphaModFix amt="0"/>
              </a:blip>
              <a:stretch>
                <a:fillRect l="0" t="-56294" r="55718" b="-26181"/>
              </a:stretch>
            </a:blipFill>
          </p:spPr>
        </p:sp>
        <p:sp>
          <p:nvSpPr>
            <p:cNvPr name="TextBox 42" id="42"/>
            <p:cNvSpPr txBox="true"/>
            <p:nvPr/>
          </p:nvSpPr>
          <p:spPr>
            <a:xfrm>
              <a:off x="0" y="0"/>
              <a:ext cx="7194297"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3 — DECISION PROCESS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553913" y="151568"/>
            <a:ext cx="5008929" cy="688537"/>
            <a:chOff x="0" y="0"/>
            <a:chExt cx="6163571" cy="847257"/>
          </a:xfrm>
        </p:grpSpPr>
        <p:sp>
          <p:nvSpPr>
            <p:cNvPr name="Freeform 3" id="3"/>
            <p:cNvSpPr/>
            <p:nvPr/>
          </p:nvSpPr>
          <p:spPr>
            <a:xfrm flipH="false" flipV="false" rot="0">
              <a:off x="0" y="0"/>
              <a:ext cx="6163395" cy="847257"/>
            </a:xfrm>
            <a:custGeom>
              <a:avLst/>
              <a:gdLst/>
              <a:ahLst/>
              <a:cxnLst/>
              <a:rect r="r" b="b" t="t" l="l"/>
              <a:pathLst>
                <a:path h="847257" w="6163395">
                  <a:moveTo>
                    <a:pt x="0" y="282356"/>
                  </a:moveTo>
                  <a:cubicBezTo>
                    <a:pt x="0" y="126521"/>
                    <a:pt x="146612" y="0"/>
                    <a:pt x="327192" y="0"/>
                  </a:cubicBezTo>
                  <a:lnTo>
                    <a:pt x="5836203" y="0"/>
                  </a:lnTo>
                  <a:cubicBezTo>
                    <a:pt x="6017002" y="0"/>
                    <a:pt x="6163395" y="126521"/>
                    <a:pt x="6163395" y="282356"/>
                  </a:cubicBezTo>
                  <a:lnTo>
                    <a:pt x="6163395" y="564901"/>
                  </a:lnTo>
                  <a:cubicBezTo>
                    <a:pt x="6163395" y="720925"/>
                    <a:pt x="6016783" y="847257"/>
                    <a:pt x="5836203" y="847257"/>
                  </a:cubicBezTo>
                  <a:lnTo>
                    <a:pt x="327192" y="847257"/>
                  </a:lnTo>
                  <a:cubicBezTo>
                    <a:pt x="146612" y="847257"/>
                    <a:pt x="0" y="720735"/>
                    <a:pt x="0" y="564901"/>
                  </a:cubicBezTo>
                  <a:close/>
                </a:path>
              </a:pathLst>
            </a:custGeom>
            <a:solidFill>
              <a:srgbClr val="FAF5EB"/>
            </a:solidFill>
            <a:ln w="15240" cap="sq">
              <a:solidFill>
                <a:srgbClr val="3371A5"/>
              </a:solidFill>
              <a:prstDash val="solid"/>
              <a:miter/>
            </a:ln>
          </p:spPr>
        </p:sp>
      </p:grpSp>
      <p:grpSp>
        <p:nvGrpSpPr>
          <p:cNvPr name="Group 4" id="4"/>
          <p:cNvGrpSpPr/>
          <p:nvPr/>
        </p:nvGrpSpPr>
        <p:grpSpPr>
          <a:xfrm rot="0">
            <a:off x="695957" y="240609"/>
            <a:ext cx="4724842" cy="510456"/>
            <a:chOff x="0" y="0"/>
            <a:chExt cx="6299789" cy="680608"/>
          </a:xfrm>
        </p:grpSpPr>
        <p:sp>
          <p:nvSpPr>
            <p:cNvPr name="Freeform 5" id="5"/>
            <p:cNvSpPr/>
            <p:nvPr/>
          </p:nvSpPr>
          <p:spPr>
            <a:xfrm flipH="false" flipV="false" rot="0">
              <a:off x="0" y="0"/>
              <a:ext cx="6299790" cy="680608"/>
            </a:xfrm>
            <a:custGeom>
              <a:avLst/>
              <a:gdLst/>
              <a:ahLst/>
              <a:cxnLst/>
              <a:rect r="r" b="b" t="t" l="l"/>
              <a:pathLst>
                <a:path h="680608" w="6299790">
                  <a:moveTo>
                    <a:pt x="0" y="0"/>
                  </a:moveTo>
                  <a:lnTo>
                    <a:pt x="6299790" y="0"/>
                  </a:lnTo>
                  <a:lnTo>
                    <a:pt x="6299790" y="680608"/>
                  </a:lnTo>
                  <a:lnTo>
                    <a:pt x="0" y="680608"/>
                  </a:lnTo>
                  <a:close/>
                </a:path>
              </a:pathLst>
            </a:custGeom>
            <a:blipFill>
              <a:blip r:embed="rId2">
                <a:alphaModFix amt="0"/>
              </a:blip>
              <a:stretch>
                <a:fillRect l="0" t="-41195" r="57791" b="-11057"/>
              </a:stretch>
            </a:blipFill>
          </p:spPr>
        </p:sp>
        <p:sp>
          <p:nvSpPr>
            <p:cNvPr name="TextBox 6" id="6"/>
            <p:cNvSpPr txBox="true"/>
            <p:nvPr/>
          </p:nvSpPr>
          <p:spPr>
            <a:xfrm>
              <a:off x="0" y="0"/>
              <a:ext cx="6299789" cy="680608"/>
            </a:xfrm>
            <a:prstGeom prst="rect">
              <a:avLst/>
            </a:prstGeom>
          </p:spPr>
          <p:txBody>
            <a:bodyPr anchor="ctr" rtlCol="false" tIns="0" lIns="0" bIns="0" rIns="0"/>
            <a:lstStyle/>
            <a:p>
              <a:pPr algn="l">
                <a:lnSpc>
                  <a:spcPts val="3269"/>
                </a:lnSpc>
              </a:pPr>
              <a:r>
                <a:rPr lang="en-US" sz="2724" b="true">
                  <a:solidFill>
                    <a:srgbClr val="3371A5"/>
                  </a:solidFill>
                  <a:latin typeface="Aptos Bold"/>
                  <a:ea typeface="Aptos Bold"/>
                  <a:cs typeface="Aptos Bold"/>
                  <a:sym typeface="Aptos Bold"/>
                </a:rPr>
                <a:t>SECTION 4 — METHODOLOGY</a:t>
              </a:r>
            </a:p>
          </p:txBody>
        </p:sp>
      </p:grpSp>
      <p:grpSp>
        <p:nvGrpSpPr>
          <p:cNvPr name="Group 7" id="7"/>
          <p:cNvGrpSpPr/>
          <p:nvPr/>
        </p:nvGrpSpPr>
        <p:grpSpPr>
          <a:xfrm rot="0">
            <a:off x="553913" y="897255"/>
            <a:ext cx="16596360" cy="713232"/>
            <a:chOff x="0" y="0"/>
            <a:chExt cx="22128480" cy="950976"/>
          </a:xfrm>
        </p:grpSpPr>
        <p:sp>
          <p:nvSpPr>
            <p:cNvPr name="Freeform 8" id="8"/>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2">
                <a:alphaModFix amt="0"/>
              </a:blip>
              <a:stretch>
                <a:fillRect l="0" t="-403401" r="0" b="-403401"/>
              </a:stretch>
            </a:blipFill>
          </p:spPr>
        </p:sp>
        <p:sp>
          <p:nvSpPr>
            <p:cNvPr name="TextBox 9" id="9"/>
            <p:cNvSpPr txBox="true"/>
            <p:nvPr/>
          </p:nvSpPr>
          <p:spPr>
            <a:xfrm>
              <a:off x="0" y="0"/>
              <a:ext cx="22128480" cy="950976"/>
            </a:xfrm>
            <a:prstGeom prst="rect">
              <a:avLst/>
            </a:prstGeom>
          </p:spPr>
          <p:txBody>
            <a:bodyPr anchor="ctr" rtlCol="false" tIns="0" lIns="0" bIns="0" rIns="0"/>
            <a:lstStyle/>
            <a:p>
              <a:pPr algn="l">
                <a:lnSpc>
                  <a:spcPts val="5220"/>
                </a:lnSpc>
              </a:pPr>
              <a:r>
                <a:rPr lang="en-US" sz="4350">
                  <a:solidFill>
                    <a:srgbClr val="051D3A"/>
                  </a:solidFill>
                  <a:latin typeface="Aptos"/>
                  <a:ea typeface="Aptos"/>
                  <a:cs typeface="Aptos"/>
                  <a:sym typeface="Aptos"/>
                </a:rPr>
                <a:t>Methodology: From Customer Input to Portfolio Output</a:t>
              </a:r>
            </a:p>
          </p:txBody>
        </p:sp>
      </p:grpSp>
      <p:sp>
        <p:nvSpPr>
          <p:cNvPr name="TextBox 10" id="10"/>
          <p:cNvSpPr txBox="true"/>
          <p:nvPr/>
        </p:nvSpPr>
        <p:spPr>
          <a:xfrm rot="0">
            <a:off x="553913" y="1674876"/>
            <a:ext cx="16527780" cy="314325"/>
          </a:xfrm>
          <a:prstGeom prst="rect">
            <a:avLst/>
          </a:prstGeom>
        </p:spPr>
        <p:txBody>
          <a:bodyPr anchor="t" rtlCol="false" tIns="0" lIns="0" bIns="0" rIns="0">
            <a:spAutoFit/>
          </a:bodyPr>
          <a:lstStyle/>
          <a:p>
            <a:pPr algn="l">
              <a:lnSpc>
                <a:spcPts val="2579"/>
              </a:lnSpc>
            </a:pPr>
            <a:r>
              <a:rPr lang="en-US" sz="2149">
                <a:solidFill>
                  <a:srgbClr val="2B3541"/>
                </a:solidFill>
                <a:latin typeface="Aptos"/>
                <a:ea typeface="Aptos"/>
                <a:cs typeface="Aptos"/>
                <a:sym typeface="Aptos"/>
              </a:rPr>
              <a:t>The model converts customer preferences, market data and constraints into a balanced, implementable portfolio.</a:t>
            </a:r>
          </a:p>
        </p:txBody>
      </p:sp>
      <p:grpSp>
        <p:nvGrpSpPr>
          <p:cNvPr name="Group 11" id="11"/>
          <p:cNvGrpSpPr/>
          <p:nvPr/>
        </p:nvGrpSpPr>
        <p:grpSpPr>
          <a:xfrm rot="0">
            <a:off x="16459200" y="9683496"/>
            <a:ext cx="960120" cy="342900"/>
            <a:chOff x="0" y="0"/>
            <a:chExt cx="1280160" cy="457200"/>
          </a:xfrm>
        </p:grpSpPr>
        <p:sp>
          <p:nvSpPr>
            <p:cNvPr name="Freeform 12" id="12"/>
            <p:cNvSpPr/>
            <p:nvPr/>
          </p:nvSpPr>
          <p:spPr>
            <a:xfrm flipH="false" flipV="false" rot="0">
              <a:off x="0" y="0"/>
              <a:ext cx="1280160" cy="457200"/>
            </a:xfrm>
            <a:custGeom>
              <a:avLst/>
              <a:gdLst/>
              <a:ahLst/>
              <a:cxnLst/>
              <a:rect r="r" b="b" t="t" l="l"/>
              <a:pathLst>
                <a:path h="457200" w="1280160">
                  <a:moveTo>
                    <a:pt x="0" y="0"/>
                  </a:moveTo>
                  <a:lnTo>
                    <a:pt x="1280160" y="0"/>
                  </a:lnTo>
                  <a:lnTo>
                    <a:pt x="1280160" y="457200"/>
                  </a:lnTo>
                  <a:lnTo>
                    <a:pt x="0" y="457200"/>
                  </a:lnTo>
                  <a:close/>
                </a:path>
              </a:pathLst>
            </a:custGeom>
            <a:blipFill>
              <a:blip r:embed="rId2">
                <a:alphaModFix amt="0"/>
              </a:blip>
              <a:stretch>
                <a:fillRect l="0" t="-4558" r="0" b="-4558"/>
              </a:stretch>
            </a:blipFill>
          </p:spPr>
        </p:sp>
        <p:sp>
          <p:nvSpPr>
            <p:cNvPr name="TextBox 13" id="13"/>
            <p:cNvSpPr txBox="true"/>
            <p:nvPr/>
          </p:nvSpPr>
          <p:spPr>
            <a:xfrm>
              <a:off x="0" y="0"/>
              <a:ext cx="1280160" cy="457200"/>
            </a:xfrm>
            <a:prstGeom prst="rect">
              <a:avLst/>
            </a:prstGeom>
          </p:spPr>
          <p:txBody>
            <a:bodyPr anchor="ctr" rtlCol="false" tIns="0" lIns="0" bIns="0" rIns="0"/>
            <a:lstStyle/>
            <a:p>
              <a:pPr algn="ctr">
                <a:lnSpc>
                  <a:spcPts val="1350"/>
                </a:lnSpc>
              </a:pPr>
              <a:r>
                <a:rPr lang="en-US" sz="1125" b="true">
                  <a:solidFill>
                    <a:srgbClr val="FFFFFF"/>
                  </a:solidFill>
                  <a:latin typeface="Aptos Bold"/>
                  <a:ea typeface="Aptos Bold"/>
                  <a:cs typeface="Aptos Bold"/>
                  <a:sym typeface="Aptos Bold"/>
                </a:rPr>
                <a:t>5</a:t>
              </a:r>
            </a:p>
          </p:txBody>
        </p:sp>
      </p:grpSp>
      <p:sp>
        <p:nvSpPr>
          <p:cNvPr name="TextBox 14" id="14"/>
          <p:cNvSpPr txBox="true"/>
          <p:nvPr/>
        </p:nvSpPr>
        <p:spPr>
          <a:xfrm rot="0">
            <a:off x="960120" y="2245233"/>
            <a:ext cx="16157448" cy="400050"/>
          </a:xfrm>
          <a:prstGeom prst="rect">
            <a:avLst/>
          </a:prstGeom>
        </p:spPr>
        <p:txBody>
          <a:bodyPr anchor="t" rtlCol="false" tIns="0" lIns="0" bIns="0" rIns="0">
            <a:spAutoFit/>
          </a:bodyPr>
          <a:lstStyle/>
          <a:p>
            <a:pPr algn="ctr">
              <a:lnSpc>
                <a:spcPts val="3150"/>
              </a:lnSpc>
            </a:pPr>
            <a:r>
              <a:rPr lang="en-US" sz="2625" b="true">
                <a:solidFill>
                  <a:srgbClr val="2B3541"/>
                </a:solidFill>
                <a:latin typeface="Aptos Bold"/>
                <a:ea typeface="Aptos Bold"/>
                <a:cs typeface="Aptos Bold"/>
                <a:sym typeface="Aptos Bold"/>
              </a:rPr>
              <a:t>MODEL WORKFLOW</a:t>
            </a:r>
          </a:p>
        </p:txBody>
      </p:sp>
      <p:grpSp>
        <p:nvGrpSpPr>
          <p:cNvPr name="Group 15" id="15"/>
          <p:cNvGrpSpPr/>
          <p:nvPr/>
        </p:nvGrpSpPr>
        <p:grpSpPr>
          <a:xfrm rot="0">
            <a:off x="553913" y="2864358"/>
            <a:ext cx="490675" cy="466344"/>
            <a:chOff x="0" y="0"/>
            <a:chExt cx="654233" cy="621792"/>
          </a:xfrm>
        </p:grpSpPr>
        <p:sp>
          <p:nvSpPr>
            <p:cNvPr name="Freeform 16" id="16"/>
            <p:cNvSpPr/>
            <p:nvPr/>
          </p:nvSpPr>
          <p:spPr>
            <a:xfrm flipH="false" flipV="false" rot="0">
              <a:off x="0" y="0"/>
              <a:ext cx="654233" cy="621792"/>
            </a:xfrm>
            <a:custGeom>
              <a:avLst/>
              <a:gdLst/>
              <a:ahLst/>
              <a:cxnLst/>
              <a:rect r="r" b="b" t="t" l="l"/>
              <a:pathLst>
                <a:path h="621792" w="654233">
                  <a:moveTo>
                    <a:pt x="0" y="310896"/>
                  </a:moveTo>
                  <a:cubicBezTo>
                    <a:pt x="0" y="139192"/>
                    <a:pt x="146454" y="0"/>
                    <a:pt x="327117" y="0"/>
                  </a:cubicBezTo>
                  <a:cubicBezTo>
                    <a:pt x="507779" y="0"/>
                    <a:pt x="654233" y="139192"/>
                    <a:pt x="654233" y="310896"/>
                  </a:cubicBezTo>
                  <a:cubicBezTo>
                    <a:pt x="654233" y="482600"/>
                    <a:pt x="507779" y="621792"/>
                    <a:pt x="327117" y="621792"/>
                  </a:cubicBezTo>
                  <a:cubicBezTo>
                    <a:pt x="146454" y="621792"/>
                    <a:pt x="0" y="482600"/>
                    <a:pt x="0" y="310896"/>
                  </a:cubicBezTo>
                  <a:close/>
                </a:path>
              </a:pathLst>
            </a:custGeom>
            <a:solidFill>
              <a:srgbClr val="3371A5"/>
            </a:solidFill>
          </p:spPr>
        </p:sp>
        <p:sp>
          <p:nvSpPr>
            <p:cNvPr name="TextBox 17" id="17"/>
            <p:cNvSpPr txBox="true"/>
            <p:nvPr/>
          </p:nvSpPr>
          <p:spPr>
            <a:xfrm>
              <a:off x="0" y="0"/>
              <a:ext cx="654233"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1</a:t>
              </a:r>
            </a:p>
          </p:txBody>
        </p:sp>
      </p:grpSp>
      <p:sp>
        <p:nvSpPr>
          <p:cNvPr name="TextBox 18" id="18"/>
          <p:cNvSpPr txBox="true"/>
          <p:nvPr/>
        </p:nvSpPr>
        <p:spPr>
          <a:xfrm rot="0">
            <a:off x="1217768" y="2817876"/>
            <a:ext cx="7634326" cy="962025"/>
          </a:xfrm>
          <a:prstGeom prst="rect">
            <a:avLst/>
          </a:prstGeom>
        </p:spPr>
        <p:txBody>
          <a:bodyPr anchor="t" rtlCol="false" tIns="0" lIns="0" bIns="0" rIns="0">
            <a:spAutoFit/>
          </a:bodyPr>
          <a:lstStyle/>
          <a:p>
            <a:pPr algn="l">
              <a:lnSpc>
                <a:spcPts val="2585"/>
              </a:lnSpc>
            </a:pPr>
            <a:r>
              <a:rPr lang="en-US" sz="2154" b="true">
                <a:solidFill>
                  <a:srgbClr val="051D3A"/>
                </a:solidFill>
                <a:latin typeface="Aptos Bold"/>
                <a:ea typeface="Aptos Bold"/>
                <a:cs typeface="Aptos Bold"/>
                <a:sym typeface="Aptos Bold"/>
              </a:rPr>
              <a:t>Collect customer inputs</a:t>
            </a:r>
          </a:p>
          <a:p>
            <a:pPr algn="l">
              <a:lnSpc>
                <a:spcPts val="2585"/>
              </a:lnSpc>
            </a:pPr>
            <a:r>
              <a:rPr lang="en-US" sz="2154">
                <a:solidFill>
                  <a:srgbClr val="051D3A"/>
                </a:solidFill>
                <a:latin typeface="Aptos"/>
                <a:ea typeface="Aptos"/>
                <a:cs typeface="Aptos"/>
                <a:sym typeface="Aptos"/>
              </a:rPr>
              <a:t>Objectives, investment horizon, benchmark, liquidity, currency preference and risk category.</a:t>
            </a:r>
          </a:p>
        </p:txBody>
      </p:sp>
      <p:grpSp>
        <p:nvGrpSpPr>
          <p:cNvPr name="Group 19" id="19"/>
          <p:cNvGrpSpPr/>
          <p:nvPr/>
        </p:nvGrpSpPr>
        <p:grpSpPr>
          <a:xfrm rot="0">
            <a:off x="553913" y="3968496"/>
            <a:ext cx="490675" cy="466344"/>
            <a:chOff x="0" y="0"/>
            <a:chExt cx="654233" cy="621792"/>
          </a:xfrm>
        </p:grpSpPr>
        <p:sp>
          <p:nvSpPr>
            <p:cNvPr name="Freeform 20" id="20"/>
            <p:cNvSpPr/>
            <p:nvPr/>
          </p:nvSpPr>
          <p:spPr>
            <a:xfrm flipH="false" flipV="false" rot="0">
              <a:off x="0" y="0"/>
              <a:ext cx="654233" cy="621792"/>
            </a:xfrm>
            <a:custGeom>
              <a:avLst/>
              <a:gdLst/>
              <a:ahLst/>
              <a:cxnLst/>
              <a:rect r="r" b="b" t="t" l="l"/>
              <a:pathLst>
                <a:path h="621792" w="654233">
                  <a:moveTo>
                    <a:pt x="0" y="310896"/>
                  </a:moveTo>
                  <a:cubicBezTo>
                    <a:pt x="0" y="139192"/>
                    <a:pt x="146454" y="0"/>
                    <a:pt x="327117" y="0"/>
                  </a:cubicBezTo>
                  <a:cubicBezTo>
                    <a:pt x="507779" y="0"/>
                    <a:pt x="654233" y="139192"/>
                    <a:pt x="654233" y="310896"/>
                  </a:cubicBezTo>
                  <a:cubicBezTo>
                    <a:pt x="654233" y="482600"/>
                    <a:pt x="507779" y="621792"/>
                    <a:pt x="327117" y="621792"/>
                  </a:cubicBezTo>
                  <a:cubicBezTo>
                    <a:pt x="146454" y="621792"/>
                    <a:pt x="0" y="482600"/>
                    <a:pt x="0" y="310896"/>
                  </a:cubicBezTo>
                  <a:close/>
                </a:path>
              </a:pathLst>
            </a:custGeom>
            <a:solidFill>
              <a:srgbClr val="3371A5"/>
            </a:solidFill>
          </p:spPr>
        </p:sp>
        <p:sp>
          <p:nvSpPr>
            <p:cNvPr name="TextBox 21" id="21"/>
            <p:cNvSpPr txBox="true"/>
            <p:nvPr/>
          </p:nvSpPr>
          <p:spPr>
            <a:xfrm>
              <a:off x="0" y="0"/>
              <a:ext cx="654233"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2</a:t>
              </a:r>
            </a:p>
          </p:txBody>
        </p:sp>
      </p:grpSp>
      <p:sp>
        <p:nvSpPr>
          <p:cNvPr name="TextBox 22" id="22"/>
          <p:cNvSpPr txBox="true"/>
          <p:nvPr/>
        </p:nvSpPr>
        <p:spPr>
          <a:xfrm rot="0">
            <a:off x="1227293" y="3925443"/>
            <a:ext cx="7634326" cy="962025"/>
          </a:xfrm>
          <a:prstGeom prst="rect">
            <a:avLst/>
          </a:prstGeom>
        </p:spPr>
        <p:txBody>
          <a:bodyPr anchor="t" rtlCol="false" tIns="0" lIns="0" bIns="0" rIns="0">
            <a:spAutoFit/>
          </a:bodyPr>
          <a:lstStyle/>
          <a:p>
            <a:pPr algn="l">
              <a:lnSpc>
                <a:spcPts val="2585"/>
              </a:lnSpc>
            </a:pPr>
            <a:r>
              <a:rPr lang="en-US" sz="2154" b="true">
                <a:solidFill>
                  <a:srgbClr val="051D3A"/>
                </a:solidFill>
                <a:latin typeface="Aptos Bold"/>
                <a:ea typeface="Aptos Bold"/>
                <a:cs typeface="Aptos Bold"/>
                <a:sym typeface="Aptos Bold"/>
              </a:rPr>
              <a:t>Pr</a:t>
            </a:r>
            <a:r>
              <a:rPr lang="en-US" sz="2154" b="true">
                <a:solidFill>
                  <a:srgbClr val="051D3A"/>
                </a:solidFill>
                <a:latin typeface="Aptos Bold"/>
                <a:ea typeface="Aptos Bold"/>
                <a:cs typeface="Aptos Bold"/>
                <a:sym typeface="Aptos Bold"/>
              </a:rPr>
              <a:t>epare model data</a:t>
            </a:r>
          </a:p>
          <a:p>
            <a:pPr algn="l">
              <a:lnSpc>
                <a:spcPts val="2585"/>
              </a:lnSpc>
            </a:pPr>
            <a:r>
              <a:rPr lang="en-US" sz="2154">
                <a:solidFill>
                  <a:srgbClr val="051D3A"/>
                </a:solidFill>
                <a:latin typeface="Aptos"/>
                <a:ea typeface="Aptos"/>
                <a:cs typeface="Aptos"/>
                <a:sym typeface="Aptos"/>
              </a:rPr>
              <a:t>Load asset-class returns, expected future returns, benchmark returns and market-portfolio weights.</a:t>
            </a:r>
          </a:p>
        </p:txBody>
      </p:sp>
      <p:grpSp>
        <p:nvGrpSpPr>
          <p:cNvPr name="Group 23" id="23"/>
          <p:cNvGrpSpPr/>
          <p:nvPr/>
        </p:nvGrpSpPr>
        <p:grpSpPr>
          <a:xfrm rot="0">
            <a:off x="553913" y="5095303"/>
            <a:ext cx="490675" cy="466344"/>
            <a:chOff x="0" y="0"/>
            <a:chExt cx="654233" cy="621792"/>
          </a:xfrm>
        </p:grpSpPr>
        <p:sp>
          <p:nvSpPr>
            <p:cNvPr name="Freeform 24" id="24"/>
            <p:cNvSpPr/>
            <p:nvPr/>
          </p:nvSpPr>
          <p:spPr>
            <a:xfrm flipH="false" flipV="false" rot="0">
              <a:off x="0" y="0"/>
              <a:ext cx="654233" cy="621792"/>
            </a:xfrm>
            <a:custGeom>
              <a:avLst/>
              <a:gdLst/>
              <a:ahLst/>
              <a:cxnLst/>
              <a:rect r="r" b="b" t="t" l="l"/>
              <a:pathLst>
                <a:path h="621792" w="654233">
                  <a:moveTo>
                    <a:pt x="0" y="310896"/>
                  </a:moveTo>
                  <a:cubicBezTo>
                    <a:pt x="0" y="139192"/>
                    <a:pt x="146454" y="0"/>
                    <a:pt x="327117" y="0"/>
                  </a:cubicBezTo>
                  <a:cubicBezTo>
                    <a:pt x="507779" y="0"/>
                    <a:pt x="654233" y="139192"/>
                    <a:pt x="654233" y="310896"/>
                  </a:cubicBezTo>
                  <a:cubicBezTo>
                    <a:pt x="654233" y="482600"/>
                    <a:pt x="507779" y="621792"/>
                    <a:pt x="327117" y="621792"/>
                  </a:cubicBezTo>
                  <a:cubicBezTo>
                    <a:pt x="146454" y="621792"/>
                    <a:pt x="0" y="482600"/>
                    <a:pt x="0" y="310896"/>
                  </a:cubicBezTo>
                  <a:close/>
                </a:path>
              </a:pathLst>
            </a:custGeom>
            <a:solidFill>
              <a:srgbClr val="3371A5"/>
            </a:solidFill>
          </p:spPr>
        </p:sp>
        <p:sp>
          <p:nvSpPr>
            <p:cNvPr name="TextBox 25" id="25"/>
            <p:cNvSpPr txBox="true"/>
            <p:nvPr/>
          </p:nvSpPr>
          <p:spPr>
            <a:xfrm>
              <a:off x="0" y="0"/>
              <a:ext cx="654233"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3</a:t>
              </a:r>
            </a:p>
          </p:txBody>
        </p:sp>
      </p:grpSp>
      <p:sp>
        <p:nvSpPr>
          <p:cNvPr name="TextBox 26" id="26"/>
          <p:cNvSpPr txBox="true"/>
          <p:nvPr/>
        </p:nvSpPr>
        <p:spPr>
          <a:xfrm rot="0">
            <a:off x="1217768" y="5098161"/>
            <a:ext cx="7634326" cy="962025"/>
          </a:xfrm>
          <a:prstGeom prst="rect">
            <a:avLst/>
          </a:prstGeom>
        </p:spPr>
        <p:txBody>
          <a:bodyPr anchor="t" rtlCol="false" tIns="0" lIns="0" bIns="0" rIns="0">
            <a:spAutoFit/>
          </a:bodyPr>
          <a:lstStyle/>
          <a:p>
            <a:pPr algn="l">
              <a:lnSpc>
                <a:spcPts val="2585"/>
              </a:lnSpc>
            </a:pPr>
            <a:r>
              <a:rPr lang="en-US" sz="2154" b="true">
                <a:solidFill>
                  <a:srgbClr val="051D3A"/>
                </a:solidFill>
                <a:latin typeface="Aptos Bold"/>
                <a:ea typeface="Aptos Bold"/>
                <a:cs typeface="Aptos Bold"/>
                <a:sym typeface="Aptos Bold"/>
              </a:rPr>
              <a:t>Select t</a:t>
            </a:r>
            <a:r>
              <a:rPr lang="en-US" sz="2154" b="true">
                <a:solidFill>
                  <a:srgbClr val="051D3A"/>
                </a:solidFill>
                <a:latin typeface="Aptos Bold"/>
                <a:ea typeface="Aptos Bold"/>
                <a:cs typeface="Aptos Bold"/>
                <a:sym typeface="Aptos Bold"/>
              </a:rPr>
              <a:t>he risk measure</a:t>
            </a:r>
          </a:p>
          <a:p>
            <a:pPr algn="l">
              <a:lnSpc>
                <a:spcPts val="2585"/>
              </a:lnSpc>
            </a:pPr>
            <a:r>
              <a:rPr lang="en-US" sz="2154">
                <a:solidFill>
                  <a:srgbClr val="051D3A"/>
                </a:solidFill>
                <a:latin typeface="Aptos"/>
                <a:ea typeface="Aptos"/>
                <a:cs typeface="Aptos"/>
                <a:sym typeface="Aptos"/>
              </a:rPr>
              <a:t>Measure risk using benchmark-relative variability, downside risk, multiple benchmarks or classical Markowitz variance.</a:t>
            </a:r>
          </a:p>
        </p:txBody>
      </p:sp>
      <p:grpSp>
        <p:nvGrpSpPr>
          <p:cNvPr name="Group 27" id="27"/>
          <p:cNvGrpSpPr/>
          <p:nvPr/>
        </p:nvGrpSpPr>
        <p:grpSpPr>
          <a:xfrm rot="0">
            <a:off x="553913" y="6222111"/>
            <a:ext cx="490675" cy="466344"/>
            <a:chOff x="0" y="0"/>
            <a:chExt cx="654233" cy="621792"/>
          </a:xfrm>
        </p:grpSpPr>
        <p:sp>
          <p:nvSpPr>
            <p:cNvPr name="Freeform 28" id="28"/>
            <p:cNvSpPr/>
            <p:nvPr/>
          </p:nvSpPr>
          <p:spPr>
            <a:xfrm flipH="false" flipV="false" rot="0">
              <a:off x="0" y="0"/>
              <a:ext cx="654233" cy="621792"/>
            </a:xfrm>
            <a:custGeom>
              <a:avLst/>
              <a:gdLst/>
              <a:ahLst/>
              <a:cxnLst/>
              <a:rect r="r" b="b" t="t" l="l"/>
              <a:pathLst>
                <a:path h="621792" w="654233">
                  <a:moveTo>
                    <a:pt x="0" y="310896"/>
                  </a:moveTo>
                  <a:cubicBezTo>
                    <a:pt x="0" y="139192"/>
                    <a:pt x="146454" y="0"/>
                    <a:pt x="327117" y="0"/>
                  </a:cubicBezTo>
                  <a:cubicBezTo>
                    <a:pt x="507779" y="0"/>
                    <a:pt x="654233" y="139192"/>
                    <a:pt x="654233" y="310896"/>
                  </a:cubicBezTo>
                  <a:cubicBezTo>
                    <a:pt x="654233" y="482600"/>
                    <a:pt x="507779" y="621792"/>
                    <a:pt x="327117" y="621792"/>
                  </a:cubicBezTo>
                  <a:cubicBezTo>
                    <a:pt x="146454" y="621792"/>
                    <a:pt x="0" y="482600"/>
                    <a:pt x="0" y="310896"/>
                  </a:cubicBezTo>
                  <a:close/>
                </a:path>
              </a:pathLst>
            </a:custGeom>
            <a:solidFill>
              <a:srgbClr val="3371A5"/>
            </a:solidFill>
          </p:spPr>
        </p:sp>
        <p:sp>
          <p:nvSpPr>
            <p:cNvPr name="TextBox 29" id="29"/>
            <p:cNvSpPr txBox="true"/>
            <p:nvPr/>
          </p:nvSpPr>
          <p:spPr>
            <a:xfrm>
              <a:off x="0" y="0"/>
              <a:ext cx="654233"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4</a:t>
              </a:r>
            </a:p>
          </p:txBody>
        </p:sp>
      </p:grpSp>
      <p:sp>
        <p:nvSpPr>
          <p:cNvPr name="TextBox 30" id="30"/>
          <p:cNvSpPr txBox="true"/>
          <p:nvPr/>
        </p:nvSpPr>
        <p:spPr>
          <a:xfrm rot="0">
            <a:off x="1217768" y="6222111"/>
            <a:ext cx="7634326" cy="1906228"/>
          </a:xfrm>
          <a:prstGeom prst="rect">
            <a:avLst/>
          </a:prstGeom>
        </p:spPr>
        <p:txBody>
          <a:bodyPr anchor="t" rtlCol="false" tIns="0" lIns="0" bIns="0" rIns="0">
            <a:spAutoFit/>
          </a:bodyPr>
          <a:lstStyle/>
          <a:p>
            <a:pPr algn="l">
              <a:lnSpc>
                <a:spcPts val="2524"/>
              </a:lnSpc>
            </a:pPr>
            <a:r>
              <a:rPr lang="en-US" sz="2103" b="true">
                <a:solidFill>
                  <a:srgbClr val="051D3A"/>
                </a:solidFill>
                <a:latin typeface="Aptos Bold"/>
                <a:ea typeface="Aptos Bold"/>
                <a:cs typeface="Aptos Bold"/>
                <a:sym typeface="Aptos Bold"/>
              </a:rPr>
              <a:t>Define</a:t>
            </a:r>
            <a:r>
              <a:rPr lang="en-US" sz="2103" b="true">
                <a:solidFill>
                  <a:srgbClr val="051D3A"/>
                </a:solidFill>
                <a:latin typeface="Aptos Bold"/>
                <a:ea typeface="Aptos Bold"/>
                <a:cs typeface="Aptos Bold"/>
                <a:sym typeface="Aptos Bold"/>
              </a:rPr>
              <a:t> the optimization model</a:t>
            </a:r>
          </a:p>
          <a:p>
            <a:pPr algn="l">
              <a:lnSpc>
                <a:spcPts val="2524"/>
              </a:lnSpc>
            </a:pPr>
            <a:r>
              <a:rPr lang="en-US" sz="2103">
                <a:solidFill>
                  <a:srgbClr val="051D3A"/>
                </a:solidFill>
                <a:latin typeface="Aptos"/>
                <a:ea typeface="Aptos"/>
                <a:cs typeface="Aptos"/>
                <a:sym typeface="Aptos"/>
              </a:rPr>
              <a:t>Choose portfolio weights such that:</a:t>
            </a:r>
          </a:p>
          <a:p>
            <a:pPr algn="l" marL="454153" indent="-227076" lvl="1">
              <a:lnSpc>
                <a:spcPts val="2524"/>
              </a:lnSpc>
              <a:buFont typeface="Arial"/>
              <a:buChar char="•"/>
            </a:pPr>
            <a:r>
              <a:rPr lang="en-US" sz="2103">
                <a:solidFill>
                  <a:srgbClr val="051D3A"/>
                </a:solidFill>
                <a:latin typeface="Aptos"/>
                <a:ea typeface="Aptos"/>
                <a:cs typeface="Aptos"/>
                <a:sym typeface="Aptos"/>
              </a:rPr>
              <a:t>all weights add to 100%;</a:t>
            </a:r>
          </a:p>
          <a:p>
            <a:pPr algn="l" marL="454153" indent="-227076" lvl="1">
              <a:lnSpc>
                <a:spcPts val="2524"/>
              </a:lnSpc>
              <a:buFont typeface="Arial"/>
              <a:buChar char="•"/>
            </a:pPr>
            <a:r>
              <a:rPr lang="en-US" sz="2103">
                <a:solidFill>
                  <a:srgbClr val="051D3A"/>
                </a:solidFill>
                <a:latin typeface="Aptos"/>
                <a:ea typeface="Aptos"/>
                <a:cs typeface="Aptos"/>
                <a:sym typeface="Aptos"/>
              </a:rPr>
              <a:t>short selling is not allowed;</a:t>
            </a:r>
          </a:p>
          <a:p>
            <a:pPr algn="l" marL="454153" indent="-227076" lvl="1">
              <a:lnSpc>
                <a:spcPts val="2524"/>
              </a:lnSpc>
              <a:buFont typeface="Arial"/>
              <a:buChar char="•"/>
            </a:pPr>
            <a:r>
              <a:rPr lang="en-US" sz="2103">
                <a:solidFill>
                  <a:srgbClr val="051D3A"/>
                </a:solidFill>
                <a:latin typeface="Aptos"/>
                <a:ea typeface="Aptos"/>
                <a:cs typeface="Aptos"/>
                <a:sym typeface="Aptos"/>
              </a:rPr>
              <a:t>customer, liquidity, currency and turnover limits are satisfied.</a:t>
            </a:r>
          </a:p>
          <a:p>
            <a:pPr algn="l">
              <a:lnSpc>
                <a:spcPts val="2524"/>
              </a:lnSpc>
            </a:pPr>
          </a:p>
        </p:txBody>
      </p:sp>
      <p:grpSp>
        <p:nvGrpSpPr>
          <p:cNvPr name="Group 31" id="31"/>
          <p:cNvGrpSpPr/>
          <p:nvPr/>
        </p:nvGrpSpPr>
        <p:grpSpPr>
          <a:xfrm rot="0">
            <a:off x="9289923" y="2921508"/>
            <a:ext cx="514105" cy="479645"/>
            <a:chOff x="0" y="0"/>
            <a:chExt cx="685473" cy="639527"/>
          </a:xfrm>
        </p:grpSpPr>
        <p:sp>
          <p:nvSpPr>
            <p:cNvPr name="Freeform 32" id="32"/>
            <p:cNvSpPr/>
            <p:nvPr/>
          </p:nvSpPr>
          <p:spPr>
            <a:xfrm flipH="false" flipV="false" rot="0">
              <a:off x="0" y="0"/>
              <a:ext cx="685473" cy="639527"/>
            </a:xfrm>
            <a:custGeom>
              <a:avLst/>
              <a:gdLst/>
              <a:ahLst/>
              <a:cxnLst/>
              <a:rect r="r" b="b" t="t" l="l"/>
              <a:pathLst>
                <a:path h="639527" w="685473">
                  <a:moveTo>
                    <a:pt x="0" y="319763"/>
                  </a:moveTo>
                  <a:cubicBezTo>
                    <a:pt x="0" y="143162"/>
                    <a:pt x="153447" y="0"/>
                    <a:pt x="342737" y="0"/>
                  </a:cubicBezTo>
                  <a:cubicBezTo>
                    <a:pt x="532026" y="0"/>
                    <a:pt x="685473" y="143162"/>
                    <a:pt x="685473" y="319763"/>
                  </a:cubicBezTo>
                  <a:cubicBezTo>
                    <a:pt x="685473" y="496365"/>
                    <a:pt x="532026" y="639527"/>
                    <a:pt x="342737" y="639527"/>
                  </a:cubicBezTo>
                  <a:cubicBezTo>
                    <a:pt x="153447" y="639527"/>
                    <a:pt x="0" y="496365"/>
                    <a:pt x="0" y="319763"/>
                  </a:cubicBezTo>
                  <a:close/>
                </a:path>
              </a:pathLst>
            </a:custGeom>
            <a:solidFill>
              <a:srgbClr val="3371A5"/>
            </a:solidFill>
          </p:spPr>
        </p:sp>
        <p:sp>
          <p:nvSpPr>
            <p:cNvPr name="TextBox 33" id="33"/>
            <p:cNvSpPr txBox="true"/>
            <p:nvPr/>
          </p:nvSpPr>
          <p:spPr>
            <a:xfrm>
              <a:off x="0" y="9525"/>
              <a:ext cx="685473" cy="630002"/>
            </a:xfrm>
            <a:prstGeom prst="rect">
              <a:avLst/>
            </a:prstGeom>
          </p:spPr>
          <p:txBody>
            <a:bodyPr anchor="ctr" rtlCol="false" tIns="50800" lIns="50800" bIns="50800" rIns="50800"/>
            <a:lstStyle/>
            <a:p>
              <a:pPr algn="ctr">
                <a:lnSpc>
                  <a:spcPts val="2580"/>
                </a:lnSpc>
              </a:pPr>
              <a:r>
                <a:rPr lang="en-US" sz="2150" b="true">
                  <a:solidFill>
                    <a:srgbClr val="FFFFFF"/>
                  </a:solidFill>
                  <a:latin typeface="Aptos Bold"/>
                  <a:ea typeface="Aptos Bold"/>
                  <a:cs typeface="Aptos Bold"/>
                  <a:sym typeface="Aptos Bold"/>
                </a:rPr>
                <a:t>5</a:t>
              </a:r>
            </a:p>
          </p:txBody>
        </p:sp>
      </p:grpSp>
      <p:sp>
        <p:nvSpPr>
          <p:cNvPr name="TextBox 34" id="34"/>
          <p:cNvSpPr txBox="true"/>
          <p:nvPr/>
        </p:nvSpPr>
        <p:spPr>
          <a:xfrm rot="0">
            <a:off x="9985477" y="2903601"/>
            <a:ext cx="7648023" cy="1285875"/>
          </a:xfrm>
          <a:prstGeom prst="rect">
            <a:avLst/>
          </a:prstGeom>
        </p:spPr>
        <p:txBody>
          <a:bodyPr anchor="t" rtlCol="false" tIns="0" lIns="0" bIns="0" rIns="0">
            <a:spAutoFit/>
          </a:bodyPr>
          <a:lstStyle/>
          <a:p>
            <a:pPr algn="l">
              <a:lnSpc>
                <a:spcPts val="2580"/>
              </a:lnSpc>
            </a:pPr>
            <a:r>
              <a:rPr lang="en-US" sz="2150" b="true">
                <a:solidFill>
                  <a:srgbClr val="051D3A"/>
                </a:solidFill>
                <a:latin typeface="Aptos Bold"/>
                <a:ea typeface="Aptos Bold"/>
                <a:cs typeface="Aptos Bold"/>
                <a:sym typeface="Aptos Bold"/>
              </a:rPr>
              <a:t>Balance risk and diversification</a:t>
            </a:r>
          </a:p>
          <a:p>
            <a:pPr algn="l">
              <a:lnSpc>
                <a:spcPts val="2580"/>
              </a:lnSpc>
            </a:pPr>
            <a:r>
              <a:rPr lang="en-US" sz="2150">
                <a:solidFill>
                  <a:srgbClr val="051D3A"/>
                </a:solidFill>
                <a:latin typeface="Aptos"/>
                <a:ea typeface="Aptos"/>
                <a:cs typeface="Aptos"/>
                <a:sym typeface="Aptos"/>
              </a:rPr>
              <a:t>Minimize the selected risk measure plus a small penalty for moving too far from the market portfolio. This reduces extreme “corner” portfolios.</a:t>
            </a:r>
          </a:p>
        </p:txBody>
      </p:sp>
      <p:grpSp>
        <p:nvGrpSpPr>
          <p:cNvPr name="Group 35" id="35"/>
          <p:cNvGrpSpPr/>
          <p:nvPr/>
        </p:nvGrpSpPr>
        <p:grpSpPr>
          <a:xfrm rot="0">
            <a:off x="9299448" y="4411599"/>
            <a:ext cx="466344" cy="466344"/>
            <a:chOff x="0" y="0"/>
            <a:chExt cx="621792" cy="621792"/>
          </a:xfrm>
        </p:grpSpPr>
        <p:sp>
          <p:nvSpPr>
            <p:cNvPr name="Freeform 36" id="3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371A5"/>
            </a:solidFill>
          </p:spPr>
        </p:sp>
        <p:sp>
          <p:nvSpPr>
            <p:cNvPr name="TextBox 37" id="37"/>
            <p:cNvSpPr txBox="true"/>
            <p:nvPr/>
          </p:nvSpPr>
          <p:spPr>
            <a:xfrm>
              <a:off x="0" y="0"/>
              <a:ext cx="621792"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6</a:t>
              </a:r>
            </a:p>
          </p:txBody>
        </p:sp>
      </p:grpSp>
      <p:sp>
        <p:nvSpPr>
          <p:cNvPr name="TextBox 38" id="38"/>
          <p:cNvSpPr txBox="true"/>
          <p:nvPr/>
        </p:nvSpPr>
        <p:spPr>
          <a:xfrm rot="0">
            <a:off x="9930384" y="4444365"/>
            <a:ext cx="7187184" cy="1609725"/>
          </a:xfrm>
          <a:prstGeom prst="rect">
            <a:avLst/>
          </a:prstGeom>
        </p:spPr>
        <p:txBody>
          <a:bodyPr anchor="t" rtlCol="false" tIns="0" lIns="0" bIns="0" rIns="0">
            <a:spAutoFit/>
          </a:bodyPr>
          <a:lstStyle/>
          <a:p>
            <a:pPr algn="l">
              <a:lnSpc>
                <a:spcPts val="2580"/>
              </a:lnSpc>
            </a:pPr>
            <a:r>
              <a:rPr lang="en-US" sz="2150" b="true">
                <a:solidFill>
                  <a:srgbClr val="051D3A"/>
                </a:solidFill>
                <a:latin typeface="Aptos Bold"/>
                <a:ea typeface="Aptos Bold"/>
                <a:cs typeface="Aptos Bold"/>
                <a:sym typeface="Aptos Bold"/>
              </a:rPr>
              <a:t>B</a:t>
            </a:r>
            <a:r>
              <a:rPr lang="en-US" sz="2150" b="true">
                <a:solidFill>
                  <a:srgbClr val="051D3A"/>
                </a:solidFill>
                <a:latin typeface="Aptos Bold"/>
                <a:ea typeface="Aptos Bold"/>
                <a:cs typeface="Aptos Bold"/>
                <a:sym typeface="Aptos Bold"/>
              </a:rPr>
              <a:t>uild the efficient frontier </a:t>
            </a:r>
          </a:p>
          <a:p>
            <a:pPr algn="l" marL="464186" indent="-232093" lvl="1">
              <a:lnSpc>
                <a:spcPts val="2580"/>
              </a:lnSpc>
              <a:buFont typeface="Arial"/>
              <a:buChar char="•"/>
            </a:pPr>
            <a:r>
              <a:rPr lang="en-US" sz="2150">
                <a:solidFill>
                  <a:srgbClr val="051D3A"/>
                </a:solidFill>
                <a:latin typeface="Aptos"/>
                <a:ea typeface="Aptos"/>
                <a:cs typeface="Aptos"/>
                <a:sym typeface="Aptos"/>
              </a:rPr>
              <a:t>Find the minimum-risk portfolio.</a:t>
            </a:r>
          </a:p>
          <a:p>
            <a:pPr algn="l" marL="464186" indent="-232093" lvl="1">
              <a:lnSpc>
                <a:spcPts val="2580"/>
              </a:lnSpc>
              <a:buFont typeface="Arial"/>
              <a:buChar char="•"/>
            </a:pPr>
            <a:r>
              <a:rPr lang="en-US" sz="2150">
                <a:solidFill>
                  <a:srgbClr val="051D3A"/>
                </a:solidFill>
                <a:latin typeface="Aptos"/>
                <a:ea typeface="Aptos"/>
                <a:cs typeface="Aptos"/>
                <a:sym typeface="Aptos"/>
              </a:rPr>
              <a:t>Find the maximum-return portfolio.</a:t>
            </a:r>
          </a:p>
          <a:p>
            <a:pPr algn="l" marL="464186" indent="-232093" lvl="1">
              <a:lnSpc>
                <a:spcPts val="2580"/>
              </a:lnSpc>
              <a:buFont typeface="Arial"/>
              <a:buChar char="•"/>
            </a:pPr>
            <a:r>
              <a:rPr lang="en-US" sz="2150">
                <a:solidFill>
                  <a:srgbClr val="051D3A"/>
                </a:solidFill>
                <a:latin typeface="Aptos"/>
                <a:ea typeface="Aptos"/>
                <a:cs typeface="Aptos"/>
                <a:sym typeface="Aptos"/>
              </a:rPr>
              <a:t>Solve additional problems at intermediate target returns.</a:t>
            </a:r>
          </a:p>
          <a:p>
            <a:pPr algn="l">
              <a:lnSpc>
                <a:spcPts val="2580"/>
              </a:lnSpc>
            </a:pPr>
          </a:p>
        </p:txBody>
      </p:sp>
      <p:grpSp>
        <p:nvGrpSpPr>
          <p:cNvPr name="Group 39" id="39"/>
          <p:cNvGrpSpPr/>
          <p:nvPr/>
        </p:nvGrpSpPr>
        <p:grpSpPr>
          <a:xfrm rot="0">
            <a:off x="9299448" y="5939409"/>
            <a:ext cx="466344" cy="466344"/>
            <a:chOff x="0" y="0"/>
            <a:chExt cx="621792" cy="621792"/>
          </a:xfrm>
        </p:grpSpPr>
        <p:sp>
          <p:nvSpPr>
            <p:cNvPr name="Freeform 40" id="40"/>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371A5"/>
            </a:solidFill>
          </p:spPr>
        </p:sp>
        <p:sp>
          <p:nvSpPr>
            <p:cNvPr name="TextBox 41" id="41"/>
            <p:cNvSpPr txBox="true"/>
            <p:nvPr/>
          </p:nvSpPr>
          <p:spPr>
            <a:xfrm>
              <a:off x="0" y="0"/>
              <a:ext cx="621792"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7</a:t>
              </a:r>
            </a:p>
          </p:txBody>
        </p:sp>
      </p:grpSp>
      <p:sp>
        <p:nvSpPr>
          <p:cNvPr name="TextBox 42" id="42"/>
          <p:cNvSpPr txBox="true"/>
          <p:nvPr/>
        </p:nvSpPr>
        <p:spPr>
          <a:xfrm rot="0">
            <a:off x="9930384" y="5917311"/>
            <a:ext cx="8563381" cy="638175"/>
          </a:xfrm>
          <a:prstGeom prst="rect">
            <a:avLst/>
          </a:prstGeom>
        </p:spPr>
        <p:txBody>
          <a:bodyPr anchor="t" rtlCol="false" tIns="0" lIns="0" bIns="0" rIns="0">
            <a:spAutoFit/>
          </a:bodyPr>
          <a:lstStyle/>
          <a:p>
            <a:pPr algn="l">
              <a:lnSpc>
                <a:spcPts val="2585"/>
              </a:lnSpc>
            </a:pPr>
            <a:r>
              <a:rPr lang="en-US" sz="2154" b="true">
                <a:solidFill>
                  <a:srgbClr val="051D3A"/>
                </a:solidFill>
                <a:latin typeface="Aptos Bold"/>
                <a:ea typeface="Aptos Bold"/>
                <a:cs typeface="Aptos Bold"/>
                <a:sym typeface="Aptos Bold"/>
              </a:rPr>
              <a:t>Make </a:t>
            </a:r>
            <a:r>
              <a:rPr lang="en-US" sz="2154" b="true">
                <a:solidFill>
                  <a:srgbClr val="051D3A"/>
                </a:solidFill>
                <a:latin typeface="Aptos Bold"/>
                <a:ea typeface="Aptos Bold"/>
                <a:cs typeface="Aptos Bold"/>
                <a:sym typeface="Aptos Bold"/>
              </a:rPr>
              <a:t>the portfolio executable</a:t>
            </a:r>
          </a:p>
          <a:p>
            <a:pPr algn="l">
              <a:lnSpc>
                <a:spcPts val="2585"/>
              </a:lnSpc>
            </a:pPr>
            <a:r>
              <a:rPr lang="en-US" sz="2154">
                <a:solidFill>
                  <a:srgbClr val="051D3A"/>
                </a:solidFill>
                <a:latin typeface="Aptos"/>
                <a:ea typeface="Aptos"/>
                <a:cs typeface="Aptos"/>
                <a:sym typeface="Aptos"/>
              </a:rPr>
              <a:t>Round the continuous asset weights to practical investment %s.</a:t>
            </a:r>
          </a:p>
        </p:txBody>
      </p:sp>
      <p:grpSp>
        <p:nvGrpSpPr>
          <p:cNvPr name="Group 43" id="43"/>
          <p:cNvGrpSpPr/>
          <p:nvPr/>
        </p:nvGrpSpPr>
        <p:grpSpPr>
          <a:xfrm rot="0">
            <a:off x="9299448" y="6815709"/>
            <a:ext cx="466344" cy="466344"/>
            <a:chOff x="0" y="0"/>
            <a:chExt cx="621792" cy="621792"/>
          </a:xfrm>
        </p:grpSpPr>
        <p:sp>
          <p:nvSpPr>
            <p:cNvPr name="Freeform 44" id="4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371A5"/>
            </a:solidFill>
          </p:spPr>
        </p:sp>
        <p:sp>
          <p:nvSpPr>
            <p:cNvPr name="TextBox 45" id="45"/>
            <p:cNvSpPr txBox="true"/>
            <p:nvPr/>
          </p:nvSpPr>
          <p:spPr>
            <a:xfrm>
              <a:off x="0" y="0"/>
              <a:ext cx="621792" cy="621792"/>
            </a:xfrm>
            <a:prstGeom prst="rect">
              <a:avLst/>
            </a:prstGeom>
          </p:spPr>
          <p:txBody>
            <a:bodyPr anchor="ctr" rtlCol="false" tIns="50800" lIns="50800" bIns="50800" rIns="50800"/>
            <a:lstStyle/>
            <a:p>
              <a:pPr algn="ctr">
                <a:lnSpc>
                  <a:spcPts val="1889"/>
                </a:lnSpc>
              </a:pPr>
              <a:r>
                <a:rPr lang="en-US" sz="1575" b="true">
                  <a:solidFill>
                    <a:srgbClr val="FFFFFF"/>
                  </a:solidFill>
                  <a:latin typeface="Aptos Bold"/>
                  <a:ea typeface="Aptos Bold"/>
                  <a:cs typeface="Aptos Bold"/>
                  <a:sym typeface="Aptos Bold"/>
                </a:rPr>
                <a:t>8</a:t>
              </a:r>
            </a:p>
          </p:txBody>
        </p:sp>
      </p:grpSp>
      <p:sp>
        <p:nvSpPr>
          <p:cNvPr name="TextBox 46" id="46"/>
          <p:cNvSpPr txBox="true"/>
          <p:nvPr/>
        </p:nvSpPr>
        <p:spPr>
          <a:xfrm rot="0">
            <a:off x="9930384" y="6710553"/>
            <a:ext cx="7987880" cy="1285875"/>
          </a:xfrm>
          <a:prstGeom prst="rect">
            <a:avLst/>
          </a:prstGeom>
        </p:spPr>
        <p:txBody>
          <a:bodyPr anchor="t" rtlCol="false" tIns="0" lIns="0" bIns="0" rIns="0">
            <a:spAutoFit/>
          </a:bodyPr>
          <a:lstStyle/>
          <a:p>
            <a:pPr algn="l">
              <a:lnSpc>
                <a:spcPts val="2585"/>
              </a:lnSpc>
            </a:pPr>
            <a:r>
              <a:rPr lang="en-US" sz="2154" b="true">
                <a:solidFill>
                  <a:srgbClr val="051D3A"/>
                </a:solidFill>
                <a:latin typeface="Aptos Bold"/>
                <a:ea typeface="Aptos Bold"/>
                <a:cs typeface="Aptos Bold"/>
                <a:sym typeface="Aptos Bold"/>
              </a:rPr>
              <a:t>Retu</a:t>
            </a:r>
            <a:r>
              <a:rPr lang="en-US" sz="2154" b="true">
                <a:solidFill>
                  <a:srgbClr val="051D3A"/>
                </a:solidFill>
                <a:latin typeface="Aptos Bold"/>
                <a:ea typeface="Aptos Bold"/>
                <a:cs typeface="Aptos Bold"/>
                <a:sym typeface="Aptos Bold"/>
              </a:rPr>
              <a:t>rn the recommendation</a:t>
            </a:r>
          </a:p>
          <a:p>
            <a:pPr algn="l">
              <a:lnSpc>
                <a:spcPts val="2585"/>
              </a:lnSpc>
            </a:pPr>
            <a:r>
              <a:rPr lang="en-US" sz="2154">
                <a:solidFill>
                  <a:srgbClr val="051D3A"/>
                </a:solidFill>
                <a:latin typeface="Aptos"/>
                <a:ea typeface="Aptos"/>
                <a:cs typeface="Aptos"/>
                <a:sym typeface="Aptos"/>
              </a:rPr>
              <a:t>Show the asset-class allocation to the CRM. The CRM then selects individual securities and discusses the final recommendation with the customer.</a:t>
            </a:r>
          </a:p>
        </p:txBody>
      </p:sp>
      <p:grpSp>
        <p:nvGrpSpPr>
          <p:cNvPr name="Group 47" id="47"/>
          <p:cNvGrpSpPr/>
          <p:nvPr/>
        </p:nvGrpSpPr>
        <p:grpSpPr>
          <a:xfrm rot="0">
            <a:off x="553913" y="8356939"/>
            <a:ext cx="17079587" cy="641604"/>
            <a:chOff x="0" y="0"/>
            <a:chExt cx="22772782" cy="855472"/>
          </a:xfrm>
        </p:grpSpPr>
        <p:sp>
          <p:nvSpPr>
            <p:cNvPr name="Freeform 48" id="48"/>
            <p:cNvSpPr/>
            <p:nvPr/>
          </p:nvSpPr>
          <p:spPr>
            <a:xfrm flipH="false" flipV="false" rot="0">
              <a:off x="0" y="0"/>
              <a:ext cx="22772782" cy="855472"/>
            </a:xfrm>
            <a:custGeom>
              <a:avLst/>
              <a:gdLst/>
              <a:ahLst/>
              <a:cxnLst/>
              <a:rect r="r" b="b" t="t" l="l"/>
              <a:pathLst>
                <a:path h="855472" w="22772782">
                  <a:moveTo>
                    <a:pt x="0" y="142579"/>
                  </a:moveTo>
                  <a:cubicBezTo>
                    <a:pt x="0" y="63825"/>
                    <a:pt x="112500" y="0"/>
                    <a:pt x="251313" y="0"/>
                  </a:cubicBezTo>
                  <a:lnTo>
                    <a:pt x="22521469" y="0"/>
                  </a:lnTo>
                  <a:cubicBezTo>
                    <a:pt x="22660282" y="0"/>
                    <a:pt x="22772782" y="63825"/>
                    <a:pt x="22772782" y="142579"/>
                  </a:cubicBezTo>
                  <a:lnTo>
                    <a:pt x="22772782" y="712893"/>
                  </a:lnTo>
                  <a:cubicBezTo>
                    <a:pt x="22772782" y="791647"/>
                    <a:pt x="22660282" y="855472"/>
                    <a:pt x="22521469" y="855472"/>
                  </a:cubicBezTo>
                  <a:lnTo>
                    <a:pt x="251313" y="855472"/>
                  </a:lnTo>
                  <a:cubicBezTo>
                    <a:pt x="112500" y="855472"/>
                    <a:pt x="0" y="791647"/>
                    <a:pt x="0" y="712893"/>
                  </a:cubicBezTo>
                  <a:close/>
                </a:path>
              </a:pathLst>
            </a:custGeom>
            <a:solidFill>
              <a:srgbClr val="E1EDF7"/>
            </a:solidFill>
          </p:spPr>
        </p:sp>
      </p:grpSp>
      <p:sp>
        <p:nvSpPr>
          <p:cNvPr name="TextBox 49" id="49"/>
          <p:cNvSpPr txBox="true"/>
          <p:nvPr/>
        </p:nvSpPr>
        <p:spPr>
          <a:xfrm rot="0">
            <a:off x="1233297" y="8530104"/>
            <a:ext cx="1440180" cy="333375"/>
          </a:xfrm>
          <a:prstGeom prst="rect">
            <a:avLst/>
          </a:prstGeom>
        </p:spPr>
        <p:txBody>
          <a:bodyPr anchor="t" rtlCol="false" tIns="0" lIns="0" bIns="0" rIns="0">
            <a:spAutoFit/>
          </a:bodyPr>
          <a:lstStyle/>
          <a:p>
            <a:pPr algn="l">
              <a:lnSpc>
                <a:spcPts val="2639"/>
              </a:lnSpc>
            </a:pPr>
            <a:r>
              <a:rPr lang="en-US" sz="2199" b="true">
                <a:solidFill>
                  <a:srgbClr val="051D3A"/>
                </a:solidFill>
                <a:latin typeface="Aptos Bold"/>
                <a:ea typeface="Aptos Bold"/>
                <a:cs typeface="Aptos Bold"/>
                <a:sym typeface="Aptos Bold"/>
              </a:rPr>
              <a:t>SOFTWARE</a:t>
            </a:r>
          </a:p>
        </p:txBody>
      </p:sp>
      <p:sp>
        <p:nvSpPr>
          <p:cNvPr name="TextBox 50" id="50"/>
          <p:cNvSpPr txBox="true"/>
          <p:nvPr/>
        </p:nvSpPr>
        <p:spPr>
          <a:xfrm rot="0">
            <a:off x="2880360" y="8530104"/>
            <a:ext cx="1097280" cy="333375"/>
          </a:xfrm>
          <a:prstGeom prst="rect">
            <a:avLst/>
          </a:prstGeom>
        </p:spPr>
        <p:txBody>
          <a:bodyPr anchor="t" rtlCol="false" tIns="0" lIns="0" bIns="0" rIns="0">
            <a:spAutoFit/>
          </a:bodyPr>
          <a:lstStyle/>
          <a:p>
            <a:pPr algn="l">
              <a:lnSpc>
                <a:spcPts val="2639"/>
              </a:lnSpc>
            </a:pPr>
            <a:r>
              <a:rPr lang="en-US" sz="2199" b="true">
                <a:solidFill>
                  <a:srgbClr val="3371A5"/>
                </a:solidFill>
                <a:latin typeface="Aptos Bold"/>
                <a:ea typeface="Aptos Bold"/>
                <a:cs typeface="Aptos Bold"/>
                <a:sym typeface="Aptos Bold"/>
              </a:rPr>
              <a:t>GAMS</a:t>
            </a:r>
          </a:p>
        </p:txBody>
      </p:sp>
      <p:sp>
        <p:nvSpPr>
          <p:cNvPr name="TextBox 51" id="51"/>
          <p:cNvSpPr txBox="true"/>
          <p:nvPr/>
        </p:nvSpPr>
        <p:spPr>
          <a:xfrm rot="0">
            <a:off x="3872865" y="8497528"/>
            <a:ext cx="281178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optimization modeling</a:t>
            </a:r>
          </a:p>
        </p:txBody>
      </p:sp>
      <p:sp>
        <p:nvSpPr>
          <p:cNvPr name="TextBox 52" id="52"/>
          <p:cNvSpPr txBox="true"/>
          <p:nvPr/>
        </p:nvSpPr>
        <p:spPr>
          <a:xfrm rot="0">
            <a:off x="7387590" y="8520579"/>
            <a:ext cx="1165860" cy="333375"/>
          </a:xfrm>
          <a:prstGeom prst="rect">
            <a:avLst/>
          </a:prstGeom>
        </p:spPr>
        <p:txBody>
          <a:bodyPr anchor="t" rtlCol="false" tIns="0" lIns="0" bIns="0" rIns="0">
            <a:spAutoFit/>
          </a:bodyPr>
          <a:lstStyle/>
          <a:p>
            <a:pPr algn="l">
              <a:lnSpc>
                <a:spcPts val="2639"/>
              </a:lnSpc>
            </a:pPr>
            <a:r>
              <a:rPr lang="en-US" sz="2199" b="true">
                <a:solidFill>
                  <a:srgbClr val="3371A5"/>
                </a:solidFill>
                <a:latin typeface="Aptos Bold"/>
                <a:ea typeface="Aptos Bold"/>
                <a:cs typeface="Aptos Bold"/>
                <a:sym typeface="Aptos Bold"/>
              </a:rPr>
              <a:t>MINOS</a:t>
            </a:r>
          </a:p>
        </p:txBody>
      </p:sp>
      <p:sp>
        <p:nvSpPr>
          <p:cNvPr name="TextBox 53" id="53"/>
          <p:cNvSpPr txBox="true"/>
          <p:nvPr/>
        </p:nvSpPr>
        <p:spPr>
          <a:xfrm rot="0">
            <a:off x="8524875" y="8530104"/>
            <a:ext cx="226314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nonlinear solver</a:t>
            </a:r>
          </a:p>
        </p:txBody>
      </p:sp>
      <p:sp>
        <p:nvSpPr>
          <p:cNvPr name="TextBox 54" id="54"/>
          <p:cNvSpPr txBox="true"/>
          <p:nvPr/>
        </p:nvSpPr>
        <p:spPr>
          <a:xfrm rot="0">
            <a:off x="11178540" y="8530104"/>
            <a:ext cx="1165860" cy="333375"/>
          </a:xfrm>
          <a:prstGeom prst="rect">
            <a:avLst/>
          </a:prstGeom>
        </p:spPr>
        <p:txBody>
          <a:bodyPr anchor="t" rtlCol="false" tIns="0" lIns="0" bIns="0" rIns="0">
            <a:spAutoFit/>
          </a:bodyPr>
          <a:lstStyle/>
          <a:p>
            <a:pPr algn="l">
              <a:lnSpc>
                <a:spcPts val="2639"/>
              </a:lnSpc>
            </a:pPr>
            <a:r>
              <a:rPr lang="en-US" sz="2199" b="true">
                <a:solidFill>
                  <a:srgbClr val="3371A5"/>
                </a:solidFill>
                <a:latin typeface="Aptos Bold"/>
                <a:ea typeface="Aptos Bold"/>
                <a:cs typeface="Aptos Bold"/>
                <a:sym typeface="Aptos Bold"/>
              </a:rPr>
              <a:t>Delphi</a:t>
            </a:r>
          </a:p>
        </p:txBody>
      </p:sp>
      <p:sp>
        <p:nvSpPr>
          <p:cNvPr name="TextBox 55" id="55"/>
          <p:cNvSpPr txBox="true"/>
          <p:nvPr/>
        </p:nvSpPr>
        <p:spPr>
          <a:xfrm rot="0">
            <a:off x="12371832" y="8530104"/>
            <a:ext cx="4887468"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Windows interface / data bridge</a:t>
            </a:r>
          </a:p>
        </p:txBody>
      </p:sp>
      <p:grpSp>
        <p:nvGrpSpPr>
          <p:cNvPr name="Group 56" id="56"/>
          <p:cNvGrpSpPr/>
          <p:nvPr/>
        </p:nvGrpSpPr>
        <p:grpSpPr>
          <a:xfrm rot="0">
            <a:off x="553913" y="9168384"/>
            <a:ext cx="17079587" cy="1023366"/>
            <a:chOff x="0" y="0"/>
            <a:chExt cx="22772782" cy="1364488"/>
          </a:xfrm>
        </p:grpSpPr>
        <p:sp>
          <p:nvSpPr>
            <p:cNvPr name="Freeform 57" id="57"/>
            <p:cNvSpPr/>
            <p:nvPr/>
          </p:nvSpPr>
          <p:spPr>
            <a:xfrm flipH="false" flipV="false" rot="0">
              <a:off x="0" y="0"/>
              <a:ext cx="22772784" cy="1364488"/>
            </a:xfrm>
            <a:custGeom>
              <a:avLst/>
              <a:gdLst/>
              <a:ahLst/>
              <a:cxnLst/>
              <a:rect r="r" b="b" t="t" l="l"/>
              <a:pathLst>
                <a:path h="1364488" w="22772784">
                  <a:moveTo>
                    <a:pt x="0" y="227415"/>
                  </a:moveTo>
                  <a:cubicBezTo>
                    <a:pt x="0" y="101863"/>
                    <a:pt x="69272" y="0"/>
                    <a:pt x="154654" y="0"/>
                  </a:cubicBezTo>
                  <a:lnTo>
                    <a:pt x="22618129" y="0"/>
                  </a:lnTo>
                  <a:cubicBezTo>
                    <a:pt x="22703510" y="0"/>
                    <a:pt x="22772784" y="101863"/>
                    <a:pt x="22772784" y="227415"/>
                  </a:cubicBezTo>
                  <a:lnTo>
                    <a:pt x="22772784" y="1137073"/>
                  </a:lnTo>
                  <a:cubicBezTo>
                    <a:pt x="22772784" y="1262625"/>
                    <a:pt x="22703510" y="1364488"/>
                    <a:pt x="22618129" y="1364488"/>
                  </a:cubicBezTo>
                  <a:lnTo>
                    <a:pt x="154654" y="1364488"/>
                  </a:lnTo>
                  <a:cubicBezTo>
                    <a:pt x="69272" y="1364488"/>
                    <a:pt x="0" y="1262625"/>
                    <a:pt x="0" y="1137073"/>
                  </a:cubicBezTo>
                  <a:close/>
                </a:path>
              </a:pathLst>
            </a:custGeom>
            <a:solidFill>
              <a:srgbClr val="F4E8CF"/>
            </a:solidFill>
          </p:spPr>
        </p:sp>
      </p:grpSp>
      <p:sp>
        <p:nvSpPr>
          <p:cNvPr name="TextBox 58" id="58"/>
          <p:cNvSpPr txBox="true"/>
          <p:nvPr/>
        </p:nvSpPr>
        <p:spPr>
          <a:xfrm rot="0">
            <a:off x="1324965" y="9332976"/>
            <a:ext cx="15676169" cy="666750"/>
          </a:xfrm>
          <a:prstGeom prst="rect">
            <a:avLst/>
          </a:prstGeom>
        </p:spPr>
        <p:txBody>
          <a:bodyPr anchor="t" rtlCol="false" tIns="0" lIns="0" bIns="0" rIns="0">
            <a:spAutoFit/>
          </a:bodyPr>
          <a:lstStyle/>
          <a:p>
            <a:pPr algn="l">
              <a:lnSpc>
                <a:spcPts val="2645"/>
              </a:lnSpc>
            </a:pPr>
            <a:r>
              <a:rPr lang="en-US" sz="2204">
                <a:solidFill>
                  <a:srgbClr val="2B3541"/>
                </a:solidFill>
                <a:latin typeface="Aptos"/>
                <a:ea typeface="Aptos"/>
                <a:cs typeface="Aptos"/>
                <a:sym typeface="Aptos"/>
              </a:rPr>
              <a:t>Implementation choice: thousands of nonlinear optimizations are run automatically in batch mode; stored solutions are retrieved instantly during CRM consultations.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0392" y="999744"/>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2">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Where Do the Inputs Come From?</a:t>
              </a:r>
            </a:p>
          </p:txBody>
        </p:sp>
      </p:grpSp>
      <p:sp>
        <p:nvSpPr>
          <p:cNvPr name="TextBox 5" id="5"/>
          <p:cNvSpPr txBox="true"/>
          <p:nvPr/>
        </p:nvSpPr>
        <p:spPr>
          <a:xfrm rot="0">
            <a:off x="850392" y="1739713"/>
            <a:ext cx="1652778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Different inputs come from the customer/CRM, the bank’s expert forum, historical market data, and the existing portfolio.</a:t>
            </a:r>
          </a:p>
        </p:txBody>
      </p:sp>
      <p:grpSp>
        <p:nvGrpSpPr>
          <p:cNvPr name="Group 6" id="6"/>
          <p:cNvGrpSpPr/>
          <p:nvPr/>
        </p:nvGrpSpPr>
        <p:grpSpPr>
          <a:xfrm rot="0">
            <a:off x="842776" y="8863663"/>
            <a:ext cx="16476341" cy="1088898"/>
            <a:chOff x="0" y="0"/>
            <a:chExt cx="21968455" cy="1451864"/>
          </a:xfrm>
        </p:grpSpPr>
        <p:sp>
          <p:nvSpPr>
            <p:cNvPr name="Freeform 7" id="7"/>
            <p:cNvSpPr/>
            <p:nvPr/>
          </p:nvSpPr>
          <p:spPr>
            <a:xfrm flipH="false" flipV="false" rot="0">
              <a:off x="0" y="0"/>
              <a:ext cx="21968454" cy="1451737"/>
            </a:xfrm>
            <a:custGeom>
              <a:avLst/>
              <a:gdLst/>
              <a:ahLst/>
              <a:cxnLst/>
              <a:rect r="r" b="b" t="t" l="l"/>
              <a:pathLst>
                <a:path h="1451737" w="21968454">
                  <a:moveTo>
                    <a:pt x="0" y="131953"/>
                  </a:moveTo>
                  <a:cubicBezTo>
                    <a:pt x="0" y="59055"/>
                    <a:pt x="59444" y="0"/>
                    <a:pt x="132822" y="0"/>
                  </a:cubicBezTo>
                  <a:lnTo>
                    <a:pt x="21835633" y="0"/>
                  </a:lnTo>
                  <a:cubicBezTo>
                    <a:pt x="21909012" y="0"/>
                    <a:pt x="21968454" y="59055"/>
                    <a:pt x="21968454" y="131953"/>
                  </a:cubicBezTo>
                  <a:lnTo>
                    <a:pt x="21968454" y="1319784"/>
                  </a:lnTo>
                  <a:cubicBezTo>
                    <a:pt x="21968454" y="1392682"/>
                    <a:pt x="21909012" y="1451737"/>
                    <a:pt x="21835633" y="1451737"/>
                  </a:cubicBezTo>
                  <a:lnTo>
                    <a:pt x="132822" y="1451737"/>
                  </a:lnTo>
                  <a:cubicBezTo>
                    <a:pt x="59444" y="1451864"/>
                    <a:pt x="0" y="1392809"/>
                    <a:pt x="0" y="1319911"/>
                  </a:cubicBezTo>
                  <a:close/>
                </a:path>
              </a:pathLst>
            </a:custGeom>
            <a:solidFill>
              <a:srgbClr val="B7D9F4"/>
            </a:solidFill>
            <a:ln w="19050" cap="sq">
              <a:solidFill>
                <a:srgbClr val="B7D9F4"/>
              </a:solidFill>
              <a:prstDash val="solid"/>
              <a:miter/>
            </a:ln>
          </p:spPr>
        </p:sp>
      </p:grpSp>
      <p:sp>
        <p:nvSpPr>
          <p:cNvPr name="AutoShape 8" id="8"/>
          <p:cNvSpPr/>
          <p:nvPr/>
        </p:nvSpPr>
        <p:spPr>
          <a:xfrm>
            <a:off x="1102228" y="9028879"/>
            <a:ext cx="0" cy="697506"/>
          </a:xfrm>
          <a:prstGeom prst="line">
            <a:avLst/>
          </a:prstGeom>
          <a:ln cap="rnd" w="19050">
            <a:solidFill>
              <a:srgbClr val="3371A5"/>
            </a:solidFill>
            <a:prstDash val="solid"/>
            <a:headEnd type="none" len="sm" w="sm"/>
            <a:tailEnd type="none" len="sm" w="sm"/>
          </a:ln>
        </p:spPr>
      </p:sp>
      <p:sp>
        <p:nvSpPr>
          <p:cNvPr name="TextBox 9" id="9"/>
          <p:cNvSpPr txBox="true"/>
          <p:nvPr/>
        </p:nvSpPr>
        <p:spPr>
          <a:xfrm rot="0">
            <a:off x="1321779" y="9092644"/>
            <a:ext cx="15711623" cy="666750"/>
          </a:xfrm>
          <a:prstGeom prst="rect">
            <a:avLst/>
          </a:prstGeom>
        </p:spPr>
        <p:txBody>
          <a:bodyPr anchor="t" rtlCol="false" tIns="0" lIns="0" bIns="0" rIns="0">
            <a:spAutoFit/>
          </a:bodyPr>
          <a:lstStyle/>
          <a:p>
            <a:pPr algn="l">
              <a:lnSpc>
                <a:spcPts val="2639"/>
              </a:lnSpc>
            </a:pPr>
            <a:r>
              <a:rPr lang="en-US" sz="2199" b="true">
                <a:solidFill>
                  <a:srgbClr val="2B3541"/>
                </a:solidFill>
                <a:latin typeface="Aptos Bold"/>
                <a:ea typeface="Aptos Bold"/>
                <a:cs typeface="Aptos Bold"/>
                <a:sym typeface="Aptos Bold"/>
              </a:rPr>
              <a:t>Key distinction:</a:t>
            </a:r>
            <a:r>
              <a:rPr lang="en-US" sz="2199">
                <a:solidFill>
                  <a:srgbClr val="2B3541"/>
                </a:solidFill>
                <a:latin typeface="Aptos"/>
                <a:ea typeface="Aptos"/>
                <a:cs typeface="Aptos"/>
                <a:sym typeface="Aptos"/>
              </a:rPr>
              <a:t> Historical returns measure risk. Expected future returns and macroeconomic forecasts are external inputs. The selected benchmark also provides the historical series used for benchmark-relative risk.</a:t>
            </a:r>
          </a:p>
        </p:txBody>
      </p:sp>
      <p:graphicFrame>
        <p:nvGraphicFramePr>
          <p:cNvPr name="Table 10" id="10"/>
          <p:cNvGraphicFramePr>
            <a:graphicFrameLocks noGrp="true"/>
          </p:cNvGraphicFramePr>
          <p:nvPr/>
        </p:nvGraphicFramePr>
        <p:xfrm>
          <a:off x="842776" y="2254063"/>
          <a:ext cx="16476341" cy="6266872"/>
        </p:xfrm>
        <a:graphic>
          <a:graphicData uri="http://schemas.openxmlformats.org/drawingml/2006/table">
            <a:tbl>
              <a:tblPr/>
              <a:tblGrid>
                <a:gridCol w="3282334"/>
                <a:gridCol w="7199020"/>
                <a:gridCol w="5994988"/>
              </a:tblGrid>
              <a:tr h="588009">
                <a:tc>
                  <a:txBody>
                    <a:bodyPr anchor="t" rtlCol="false"/>
                    <a:lstStyle/>
                    <a:p>
                      <a:pPr algn="l">
                        <a:lnSpc>
                          <a:spcPts val="2639"/>
                        </a:lnSpc>
                        <a:defRPr/>
                      </a:pPr>
                      <a:r>
                        <a:rPr lang="en-US" sz="2199" b="true">
                          <a:solidFill>
                            <a:srgbClr val="051D3A"/>
                          </a:solidFill>
                          <a:latin typeface="Aptos Bold"/>
                          <a:ea typeface="Aptos Bold"/>
                          <a:cs typeface="Aptos Bold"/>
                          <a:sym typeface="Aptos Bold"/>
                        </a:rPr>
                        <a:t>Provider</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B7D9F4"/>
                    </a:solidFill>
                  </a:tcPr>
                </a:tc>
                <a:tc>
                  <a:txBody>
                    <a:bodyPr anchor="t" rtlCol="false"/>
                    <a:lstStyle/>
                    <a:p>
                      <a:pPr algn="l" marL="0" indent="0" lvl="0">
                        <a:lnSpc>
                          <a:spcPts val="2639"/>
                        </a:lnSpc>
                        <a:spcBef>
                          <a:spcPct val="0"/>
                        </a:spcBef>
                        <a:defRPr/>
                      </a:pPr>
                      <a:r>
                        <a:rPr lang="en-US" b="true" sz="2199" strike="noStrike" u="none">
                          <a:solidFill>
                            <a:srgbClr val="051D3A"/>
                          </a:solidFill>
                          <a:latin typeface="Aptos Bold"/>
                          <a:ea typeface="Aptos Bold"/>
                          <a:cs typeface="Aptos Bold"/>
                          <a:sym typeface="Aptos Bold"/>
                        </a:rPr>
                        <a:t>Input data / source details</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B7D9F4"/>
                    </a:solidFill>
                  </a:tcPr>
                </a:tc>
                <a:tc>
                  <a:txBody>
                    <a:bodyPr anchor="t" rtlCol="false"/>
                    <a:lstStyle/>
                    <a:p>
                      <a:pPr algn="l" marL="0" indent="0" lvl="0">
                        <a:lnSpc>
                          <a:spcPts val="2639"/>
                        </a:lnSpc>
                        <a:spcBef>
                          <a:spcPct val="0"/>
                        </a:spcBef>
                        <a:defRPr/>
                      </a:pPr>
                      <a:r>
                        <a:rPr lang="en-US" b="true" sz="2199" strike="noStrike" u="none">
                          <a:solidFill>
                            <a:srgbClr val="051D3A"/>
                          </a:solidFill>
                          <a:latin typeface="Aptos Bold"/>
                          <a:ea typeface="Aptos Bold"/>
                          <a:cs typeface="Aptos Bold"/>
                          <a:sym typeface="Aptos Bold"/>
                        </a:rPr>
                        <a:t>Timing / role in model</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B7D9F4"/>
                    </a:solidFill>
                  </a:tcPr>
                </a:tc>
              </a:tr>
              <a:tr h="1584361">
                <a:tc>
                  <a:txBody>
                    <a:bodyPr anchor="t" rtlCol="false"/>
                    <a:lstStyle/>
                    <a:p>
                      <a:pPr algn="l">
                        <a:lnSpc>
                          <a:spcPts val="2639"/>
                        </a:lnSpc>
                        <a:defRPr/>
                      </a:pPr>
                      <a:r>
                        <a:rPr lang="en-US" sz="2199" b="true">
                          <a:solidFill>
                            <a:srgbClr val="051D3A"/>
                          </a:solidFill>
                          <a:latin typeface="Aptos Bold"/>
                          <a:ea typeface="Aptos Bold"/>
                          <a:cs typeface="Aptos Bold"/>
                          <a:sym typeface="Aptos Bold"/>
                        </a:rPr>
                        <a:t>Customer / CRM</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Objective and horizon: 1, 2, 5 or 10 years </a:t>
                      </a:r>
                      <a:endParaRPr lang="en-US" sz="1100"/>
                    </a:p>
                    <a:p>
                      <a:pPr algn="l">
                        <a:lnSpc>
                          <a:spcPts val="2639"/>
                        </a:lnSpc>
                      </a:pPr>
                      <a:r>
                        <a:rPr lang="en-US" sz="2199">
                          <a:solidFill>
                            <a:srgbClr val="2B3541"/>
                          </a:solidFill>
                          <a:latin typeface="Aptos"/>
                          <a:ea typeface="Aptos"/>
                          <a:cs typeface="Aptos"/>
                          <a:sym typeface="Aptos"/>
                        </a:rPr>
                        <a:t>• Benchmark: CPI, Bank of Israel rate, USD or Euro </a:t>
                      </a:r>
                    </a:p>
                    <a:p>
                      <a:pPr algn="l">
                        <a:lnSpc>
                          <a:spcPts val="2639"/>
                        </a:lnSpc>
                      </a:pPr>
                      <a:r>
                        <a:rPr lang="en-US" sz="2199">
                          <a:solidFill>
                            <a:srgbClr val="2B3541"/>
                          </a:solidFill>
                          <a:latin typeface="Aptos"/>
                          <a:ea typeface="Aptos"/>
                          <a:cs typeface="Aptos"/>
                          <a:sym typeface="Aptos"/>
                        </a:rPr>
                        <a:t>• Liquidity, currency and risk preferences </a:t>
                      </a:r>
                    </a:p>
                    <a:p>
                      <a:pPr algn="l">
                        <a:lnSpc>
                          <a:spcPts val="2639"/>
                        </a:lnSpc>
                      </a:pPr>
                      <a:r>
                        <a:rPr lang="en-US" sz="2199">
                          <a:solidFill>
                            <a:srgbClr val="2B3541"/>
                          </a:solidFill>
                          <a:latin typeface="Aptos"/>
                          <a:ea typeface="Aptos"/>
                          <a:cs typeface="Aptos"/>
                          <a:sym typeface="Aptos"/>
                        </a:rPr>
                        <a:t>• Customer or CRM may override macro forecasts</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Entered during consultation </a:t>
                      </a:r>
                      <a:endParaRPr lang="en-US" sz="1100"/>
                    </a:p>
                    <a:p>
                      <a:pPr algn="l" marL="0" indent="0" lvl="0">
                        <a:lnSpc>
                          <a:spcPts val="2639"/>
                        </a:lnSpc>
                        <a:spcBef>
                          <a:spcPct val="0"/>
                        </a:spcBef>
                      </a:pPr>
                      <a:r>
                        <a:rPr lang="en-US" sz="2199">
                          <a:solidFill>
                            <a:srgbClr val="2B3541"/>
                          </a:solidFill>
                          <a:latin typeface="Aptos"/>
                          <a:ea typeface="Aptos"/>
                          <a:cs typeface="Aptos"/>
                          <a:sym typeface="Aptos"/>
                        </a:rPr>
                        <a:t>• Profile can be revised and the portfolio regenerated</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r>
              <a:tr h="1259833">
                <a:tc>
                  <a:txBody>
                    <a:bodyPr anchor="t" rtlCol="false"/>
                    <a:lstStyle/>
                    <a:p>
                      <a:pPr algn="l" marL="0" indent="0" lvl="0">
                        <a:lnSpc>
                          <a:spcPts val="2639"/>
                        </a:lnSpc>
                        <a:spcBef>
                          <a:spcPct val="0"/>
                        </a:spcBef>
                        <a:defRPr/>
                      </a:pPr>
                      <a:r>
                        <a:rPr lang="en-US" b="true" sz="2199" strike="noStrike" u="none">
                          <a:solidFill>
                            <a:srgbClr val="051D3A"/>
                          </a:solidFill>
                          <a:latin typeface="Aptos Bold"/>
                          <a:ea typeface="Aptos Bold"/>
                          <a:cs typeface="Aptos Bold"/>
                          <a:sym typeface="Aptos Bold"/>
                        </a:rPr>
                        <a:t>Senior Advisors’ Forum</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Monthly CPI and USD exchange-rate forecasts </a:t>
                      </a:r>
                      <a:endParaRPr lang="en-US" sz="1100"/>
                    </a:p>
                    <a:p>
                      <a:pPr algn="l">
                        <a:lnSpc>
                          <a:spcPts val="2639"/>
                        </a:lnSpc>
                      </a:pPr>
                      <a:r>
                        <a:rPr lang="en-US" sz="2199">
                          <a:solidFill>
                            <a:srgbClr val="2B3541"/>
                          </a:solidFill>
                          <a:latin typeface="Aptos"/>
                          <a:ea typeface="Aptos"/>
                          <a:cs typeface="Aptos"/>
                          <a:sym typeface="Aptos"/>
                        </a:rPr>
                        <a:t>• Benchmark and market outlook </a:t>
                      </a:r>
                    </a:p>
                    <a:p>
                      <a:pPr algn="l" marL="0" indent="0" lvl="0">
                        <a:lnSpc>
                          <a:spcPts val="2639"/>
                        </a:lnSpc>
                        <a:spcBef>
                          <a:spcPct val="0"/>
                        </a:spcBef>
                      </a:pPr>
                      <a:r>
                        <a:rPr lang="en-US" sz="2199">
                          <a:solidFill>
                            <a:srgbClr val="2B3541"/>
                          </a:solidFill>
                          <a:latin typeface="Aptos"/>
                          <a:ea typeface="Aptos"/>
                          <a:cs typeface="Aptos"/>
                          <a:sym typeface="Aptos"/>
                        </a:rPr>
                        <a:t>• Special sessions for major economic or political events</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Supplies external forecasts </a:t>
                      </a:r>
                      <a:endParaRPr lang="en-US" sz="1100"/>
                    </a:p>
                    <a:p>
                      <a:pPr algn="l" marL="0" indent="0" lvl="0">
                        <a:lnSpc>
                          <a:spcPts val="2639"/>
                        </a:lnSpc>
                        <a:spcBef>
                          <a:spcPct val="0"/>
                        </a:spcBef>
                      </a:pPr>
                      <a:r>
                        <a:rPr lang="en-US" sz="2199">
                          <a:solidFill>
                            <a:srgbClr val="2B3541"/>
                          </a:solidFill>
                          <a:latin typeface="Aptos"/>
                          <a:ea typeface="Aptos"/>
                          <a:cs typeface="Aptos"/>
                          <a:sym typeface="Aptos"/>
                        </a:rPr>
                        <a:t>• Updated monthly and after major events</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r>
              <a:tr h="1584361">
                <a:tc>
                  <a:txBody>
                    <a:bodyPr anchor="t" rtlCol="false"/>
                    <a:lstStyle/>
                    <a:p>
                      <a:pPr algn="l" marL="0" indent="0" lvl="0">
                        <a:lnSpc>
                          <a:spcPts val="2639"/>
                        </a:lnSpc>
                        <a:spcBef>
                          <a:spcPct val="0"/>
                        </a:spcBef>
                        <a:defRPr/>
                      </a:pPr>
                      <a:r>
                        <a:rPr lang="en-US" b="true" sz="2199" strike="noStrike" u="none">
                          <a:solidFill>
                            <a:srgbClr val="051D3A"/>
                          </a:solidFill>
                          <a:latin typeface="Aptos Bold"/>
                          <a:ea typeface="Aptos Bold"/>
                          <a:cs typeface="Aptos Bold"/>
                          <a:sym typeface="Aptos Bold"/>
                        </a:rPr>
                        <a:t>Analytics Development / Bank</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Historical returns used to measure risk </a:t>
                      </a:r>
                      <a:endParaRPr lang="en-US" sz="1100"/>
                    </a:p>
                    <a:p>
                      <a:pPr algn="l">
                        <a:lnSpc>
                          <a:spcPts val="2639"/>
                        </a:lnSpc>
                      </a:pPr>
                      <a:r>
                        <a:rPr lang="en-US" sz="2199">
                          <a:solidFill>
                            <a:srgbClr val="2B3541"/>
                          </a:solidFill>
                          <a:latin typeface="Aptos"/>
                          <a:ea typeface="Aptos"/>
                          <a:cs typeface="Aptos"/>
                          <a:sym typeface="Aptos"/>
                        </a:rPr>
                        <a:t>• Expected future returns supplied separately </a:t>
                      </a:r>
                    </a:p>
                    <a:p>
                      <a:pPr algn="l">
                        <a:lnSpc>
                          <a:spcPts val="2639"/>
                        </a:lnSpc>
                      </a:pPr>
                      <a:r>
                        <a:rPr lang="en-US" sz="2199">
                          <a:solidFill>
                            <a:srgbClr val="2B3541"/>
                          </a:solidFill>
                          <a:latin typeface="Aptos"/>
                          <a:ea typeface="Aptos"/>
                          <a:cs typeface="Aptos"/>
                          <a:sym typeface="Aptos"/>
                        </a:rPr>
                        <a:t>• Asset definitions and model parameters </a:t>
                      </a:r>
                    </a:p>
                    <a:p>
                      <a:pPr algn="l" marL="0" indent="0" lvl="0">
                        <a:lnSpc>
                          <a:spcPts val="2639"/>
                        </a:lnSpc>
                        <a:spcBef>
                          <a:spcPct val="0"/>
                        </a:spcBef>
                      </a:pPr>
                      <a:r>
                        <a:rPr lang="en-US" sz="2199">
                          <a:solidFill>
                            <a:srgbClr val="2B3541"/>
                          </a:solidFill>
                          <a:latin typeface="Aptos"/>
                          <a:ea typeface="Aptos"/>
                          <a:cs typeface="Aptos"/>
                          <a:sym typeface="Aptos"/>
                        </a:rPr>
                        <a:t>• Approximately 60 asset classes</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Feeds the monthly batch runs </a:t>
                      </a:r>
                      <a:endParaRPr lang="en-US" sz="1100"/>
                    </a:p>
                    <a:p>
                      <a:pPr algn="l" marL="0" indent="0" lvl="0">
                        <a:lnSpc>
                          <a:spcPts val="2639"/>
                        </a:lnSpc>
                        <a:spcBef>
                          <a:spcPct val="0"/>
                        </a:spcBef>
                      </a:pPr>
                      <a:r>
                        <a:rPr lang="en-US" sz="2199">
                          <a:solidFill>
                            <a:srgbClr val="2B3541"/>
                          </a:solidFill>
                          <a:latin typeface="Aptos"/>
                          <a:ea typeface="Aptos"/>
                          <a:cs typeface="Aptos"/>
                          <a:sym typeface="Aptos"/>
                        </a:rPr>
                        <a:t>• Produces solutions for each customer profile</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r>
              <a:tr h="1250309">
                <a:tc>
                  <a:txBody>
                    <a:bodyPr anchor="t" rtlCol="false"/>
                    <a:lstStyle/>
                    <a:p>
                      <a:pPr algn="l" marL="0" indent="0" lvl="0">
                        <a:lnSpc>
                          <a:spcPts val="2639"/>
                        </a:lnSpc>
                        <a:spcBef>
                          <a:spcPct val="0"/>
                        </a:spcBef>
                        <a:defRPr/>
                      </a:pPr>
                      <a:r>
                        <a:rPr lang="en-US" b="true" sz="2199" strike="noStrike" u="none">
                          <a:solidFill>
                            <a:srgbClr val="051D3A"/>
                          </a:solidFill>
                          <a:latin typeface="Aptos Bold"/>
                          <a:ea typeface="Aptos Bold"/>
                          <a:cs typeface="Aptos Bold"/>
                          <a:sym typeface="Aptos Bold"/>
                        </a:rPr>
                        <a:t>Existing Portfolio</a:t>
                      </a:r>
                      <a:endParaRPr lang="en-US" sz="1100"/>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Current asset mix </a:t>
                      </a:r>
                      <a:endParaRPr lang="en-US" sz="1100"/>
                    </a:p>
                    <a:p>
                      <a:pPr algn="l">
                        <a:lnSpc>
                          <a:spcPts val="2639"/>
                        </a:lnSpc>
                      </a:pPr>
                      <a:r>
                        <a:rPr lang="en-US" sz="2199">
                          <a:solidFill>
                            <a:srgbClr val="2B3541"/>
                          </a:solidFill>
                          <a:latin typeface="Aptos"/>
                          <a:ea typeface="Aptos"/>
                          <a:cs typeface="Aptos"/>
                          <a:sym typeface="Aptos"/>
                        </a:rPr>
                        <a:t>• Used when turnover is constrained </a:t>
                      </a:r>
                    </a:p>
                    <a:p>
                      <a:pPr algn="l" marL="0" indent="0" lvl="0">
                        <a:lnSpc>
                          <a:spcPts val="2639"/>
                        </a:lnSpc>
                        <a:spcBef>
                          <a:spcPct val="0"/>
                        </a:spcBef>
                      </a:pPr>
                      <a:r>
                        <a:rPr lang="en-US" sz="2199">
                          <a:solidFill>
                            <a:srgbClr val="2B3541"/>
                          </a:solidFill>
                          <a:latin typeface="Aptos"/>
                          <a:ea typeface="Aptos"/>
                          <a:cs typeface="Aptos"/>
                          <a:sym typeface="Aptos"/>
                        </a:rPr>
                        <a:t>• Illiquid-asset limits may also apply</a:t>
                      </a: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c>
                  <a:txBody>
                    <a:bodyPr anchor="t" rtlCol="false"/>
                    <a:lstStyle/>
                    <a:p>
                      <a:pPr algn="l">
                        <a:lnSpc>
                          <a:spcPts val="2639"/>
                        </a:lnSpc>
                        <a:defRPr/>
                      </a:pPr>
                      <a:r>
                        <a:rPr lang="en-US" sz="2199">
                          <a:solidFill>
                            <a:srgbClr val="2B3541"/>
                          </a:solidFill>
                          <a:latin typeface="Aptos"/>
                          <a:ea typeface="Aptos"/>
                          <a:cs typeface="Aptos"/>
                          <a:sym typeface="Aptos"/>
                        </a:rPr>
                        <a:t>• Supports portfolio rebalancing </a:t>
                      </a:r>
                      <a:endParaRPr lang="en-US" sz="1100"/>
                    </a:p>
                    <a:p>
                      <a:pPr algn="l">
                        <a:lnSpc>
                          <a:spcPts val="2639"/>
                        </a:lnSpc>
                      </a:pPr>
                      <a:r>
                        <a:rPr lang="en-US" sz="2199">
                          <a:solidFill>
                            <a:srgbClr val="2B3541"/>
                          </a:solidFill>
                          <a:latin typeface="Aptos"/>
                          <a:ea typeface="Aptos"/>
                          <a:cs typeface="Aptos"/>
                          <a:sym typeface="Aptos"/>
                        </a:rPr>
                        <a:t>• Portfolios are normally restructured annually</a:t>
                      </a:r>
                    </a:p>
                    <a:p>
                      <a:pPr algn="l" marL="0" indent="0" lvl="0">
                        <a:lnSpc>
                          <a:spcPts val="2639"/>
                        </a:lnSpc>
                        <a:spcBef>
                          <a:spcPct val="0"/>
                        </a:spcBef>
                      </a:pPr>
                    </a:p>
                  </a:txBody>
                  <a:tcPr marL="73152" marR="73152" marT="73152" marB="73152" anchor="t">
                    <a:lnL cmpd="sng" algn="ctr" cap="flat" w="12700">
                      <a:solidFill>
                        <a:srgbClr val="D5D0C5"/>
                      </a:solidFill>
                      <a:prstDash val="solid"/>
                      <a:round/>
                      <a:headEnd type="none" w="med" len="med"/>
                      <a:tailEnd type="none" w="med" len="med"/>
                    </a:lnL>
                    <a:lnR cmpd="sng" algn="ctr" cap="flat" w="12700">
                      <a:solidFill>
                        <a:srgbClr val="D5D0C5"/>
                      </a:solidFill>
                      <a:prstDash val="solid"/>
                      <a:round/>
                      <a:headEnd type="none" w="med" len="med"/>
                      <a:tailEnd type="none" w="med" len="med"/>
                    </a:lnR>
                    <a:lnT cmpd="sng" algn="ctr" cap="flat" w="12700">
                      <a:solidFill>
                        <a:srgbClr val="D5D0C5"/>
                      </a:solidFill>
                      <a:prstDash val="solid"/>
                      <a:round/>
                      <a:headEnd type="none" w="med" len="med"/>
                      <a:tailEnd type="none" w="med" len="med"/>
                    </a:lnT>
                    <a:lnB cmpd="sng" algn="ctr" cap="flat" w="12700">
                      <a:solidFill>
                        <a:srgbClr val="D5D0C5"/>
                      </a:solidFill>
                      <a:prstDash val="solid"/>
                      <a:round/>
                      <a:headEnd type="none" w="med" len="med"/>
                      <a:tailEnd type="none" w="med" len="med"/>
                    </a:lnB>
                    <a:solidFill>
                      <a:srgbClr val="FAF5EB"/>
                    </a:solidFill>
                  </a:tcPr>
                </a:tc>
              </a:tr>
            </a:tbl>
          </a:graphicData>
        </a:graphic>
      </p:graphicFrame>
      <p:grpSp>
        <p:nvGrpSpPr>
          <p:cNvPr name="Group 11" id="11"/>
          <p:cNvGrpSpPr/>
          <p:nvPr/>
        </p:nvGrpSpPr>
        <p:grpSpPr>
          <a:xfrm rot="0">
            <a:off x="842776" y="218243"/>
            <a:ext cx="3286154" cy="688537"/>
            <a:chOff x="0" y="0"/>
            <a:chExt cx="4043667" cy="847257"/>
          </a:xfrm>
        </p:grpSpPr>
        <p:sp>
          <p:nvSpPr>
            <p:cNvPr name="Freeform 12" id="12"/>
            <p:cNvSpPr/>
            <p:nvPr/>
          </p:nvSpPr>
          <p:spPr>
            <a:xfrm flipH="false" flipV="false" rot="0">
              <a:off x="0" y="0"/>
              <a:ext cx="4043552" cy="847257"/>
            </a:xfrm>
            <a:custGeom>
              <a:avLst/>
              <a:gdLst/>
              <a:ahLst/>
              <a:cxnLst/>
              <a:rect r="r" b="b" t="t" l="l"/>
              <a:pathLst>
                <a:path h="847257" w="4043552">
                  <a:moveTo>
                    <a:pt x="0" y="282356"/>
                  </a:moveTo>
                  <a:cubicBezTo>
                    <a:pt x="0" y="126521"/>
                    <a:pt x="96186" y="0"/>
                    <a:pt x="214657" y="0"/>
                  </a:cubicBezTo>
                  <a:lnTo>
                    <a:pt x="3828895" y="0"/>
                  </a:lnTo>
                  <a:cubicBezTo>
                    <a:pt x="3947510" y="0"/>
                    <a:pt x="4043552" y="126521"/>
                    <a:pt x="4043552" y="282356"/>
                  </a:cubicBezTo>
                  <a:lnTo>
                    <a:pt x="4043552" y="564901"/>
                  </a:lnTo>
                  <a:cubicBezTo>
                    <a:pt x="4043552" y="720925"/>
                    <a:pt x="3947366" y="847257"/>
                    <a:pt x="3828895" y="847257"/>
                  </a:cubicBezTo>
                  <a:lnTo>
                    <a:pt x="214657" y="847257"/>
                  </a:lnTo>
                  <a:cubicBezTo>
                    <a:pt x="96186" y="847257"/>
                    <a:pt x="0" y="720735"/>
                    <a:pt x="0" y="564901"/>
                  </a:cubicBezTo>
                  <a:close/>
                </a:path>
              </a:pathLst>
            </a:custGeom>
            <a:solidFill>
              <a:srgbClr val="FAF5EB"/>
            </a:solidFill>
            <a:ln w="15240" cap="sq">
              <a:solidFill>
                <a:srgbClr val="3371A5"/>
              </a:solidFill>
              <a:prstDash val="solid"/>
              <a:miter/>
            </a:ln>
          </p:spPr>
        </p:sp>
      </p:grpSp>
      <p:grpSp>
        <p:nvGrpSpPr>
          <p:cNvPr name="Group 13" id="13"/>
          <p:cNvGrpSpPr/>
          <p:nvPr/>
        </p:nvGrpSpPr>
        <p:grpSpPr>
          <a:xfrm rot="0">
            <a:off x="974110" y="307375"/>
            <a:ext cx="3023485" cy="510272"/>
            <a:chOff x="0" y="0"/>
            <a:chExt cx="4031314" cy="680363"/>
          </a:xfrm>
        </p:grpSpPr>
        <p:sp>
          <p:nvSpPr>
            <p:cNvPr name="Freeform 14" id="14"/>
            <p:cNvSpPr/>
            <p:nvPr/>
          </p:nvSpPr>
          <p:spPr>
            <a:xfrm flipH="false" flipV="false" rot="0">
              <a:off x="0" y="0"/>
              <a:ext cx="4031314" cy="680363"/>
            </a:xfrm>
            <a:custGeom>
              <a:avLst/>
              <a:gdLst/>
              <a:ahLst/>
              <a:cxnLst/>
              <a:rect r="r" b="b" t="t" l="l"/>
              <a:pathLst>
                <a:path h="680363" w="4031314">
                  <a:moveTo>
                    <a:pt x="0" y="0"/>
                  </a:moveTo>
                  <a:lnTo>
                    <a:pt x="4031314" y="0"/>
                  </a:lnTo>
                  <a:lnTo>
                    <a:pt x="4031314" y="680363"/>
                  </a:lnTo>
                  <a:lnTo>
                    <a:pt x="0" y="680363"/>
                  </a:lnTo>
                  <a:close/>
                </a:path>
              </a:pathLst>
            </a:custGeom>
            <a:blipFill>
              <a:blip r:embed="rId2">
                <a:alphaModFix amt="0"/>
              </a:blip>
              <a:stretch>
                <a:fillRect l="0" t="-56294" r="20974" b="-26181"/>
              </a:stretch>
            </a:blipFill>
          </p:spPr>
        </p:sp>
        <p:sp>
          <p:nvSpPr>
            <p:cNvPr name="TextBox 15" id="15"/>
            <p:cNvSpPr txBox="true"/>
            <p:nvPr/>
          </p:nvSpPr>
          <p:spPr>
            <a:xfrm>
              <a:off x="0" y="0"/>
              <a:ext cx="4031314"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5 — DATA</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526443" y="4258628"/>
            <a:ext cx="8260369" cy="1938147"/>
            <a:chOff x="0" y="0"/>
            <a:chExt cx="11013826" cy="2584196"/>
          </a:xfrm>
        </p:grpSpPr>
        <p:sp>
          <p:nvSpPr>
            <p:cNvPr name="Freeform 3" id="3"/>
            <p:cNvSpPr/>
            <p:nvPr/>
          </p:nvSpPr>
          <p:spPr>
            <a:xfrm flipH="false" flipV="false" rot="0">
              <a:off x="0" y="0"/>
              <a:ext cx="11013825" cy="2584196"/>
            </a:xfrm>
            <a:custGeom>
              <a:avLst/>
              <a:gdLst/>
              <a:ahLst/>
              <a:cxnLst/>
              <a:rect r="r" b="b" t="t" l="l"/>
              <a:pathLst>
                <a:path h="2584196" w="11013825">
                  <a:moveTo>
                    <a:pt x="0" y="430699"/>
                  </a:moveTo>
                  <a:cubicBezTo>
                    <a:pt x="0" y="192818"/>
                    <a:pt x="178120" y="0"/>
                    <a:pt x="397868" y="0"/>
                  </a:cubicBezTo>
                  <a:lnTo>
                    <a:pt x="10615957" y="0"/>
                  </a:lnTo>
                  <a:cubicBezTo>
                    <a:pt x="10835705" y="0"/>
                    <a:pt x="11013825" y="192818"/>
                    <a:pt x="11013825" y="430699"/>
                  </a:cubicBezTo>
                  <a:lnTo>
                    <a:pt x="11013825" y="2153497"/>
                  </a:lnTo>
                  <a:cubicBezTo>
                    <a:pt x="11013825" y="2391378"/>
                    <a:pt x="10835705" y="2584196"/>
                    <a:pt x="10615957" y="2584196"/>
                  </a:cubicBezTo>
                  <a:lnTo>
                    <a:pt x="397868" y="2584196"/>
                  </a:lnTo>
                  <a:cubicBezTo>
                    <a:pt x="178120" y="2584196"/>
                    <a:pt x="0" y="2391378"/>
                    <a:pt x="0" y="2153497"/>
                  </a:cubicBezTo>
                  <a:close/>
                </a:path>
              </a:pathLst>
            </a:custGeom>
            <a:solidFill>
              <a:srgbClr val="FAF5EB"/>
            </a:solidFill>
            <a:ln w="17145" cap="sq">
              <a:solidFill>
                <a:srgbClr val="D5D0C5"/>
              </a:solidFill>
              <a:prstDash val="solid"/>
              <a:miter/>
            </a:ln>
          </p:spPr>
        </p:sp>
      </p:grpSp>
      <p:grpSp>
        <p:nvGrpSpPr>
          <p:cNvPr name="Group 4" id="4"/>
          <p:cNvGrpSpPr/>
          <p:nvPr/>
        </p:nvGrpSpPr>
        <p:grpSpPr>
          <a:xfrm rot="0">
            <a:off x="526443" y="2487739"/>
            <a:ext cx="8260369" cy="1532763"/>
            <a:chOff x="0" y="0"/>
            <a:chExt cx="11013826" cy="2043684"/>
          </a:xfrm>
        </p:grpSpPr>
        <p:sp>
          <p:nvSpPr>
            <p:cNvPr name="Freeform 5" id="5"/>
            <p:cNvSpPr/>
            <p:nvPr/>
          </p:nvSpPr>
          <p:spPr>
            <a:xfrm flipH="false" flipV="false" rot="0">
              <a:off x="0" y="0"/>
              <a:ext cx="11013825" cy="2043684"/>
            </a:xfrm>
            <a:custGeom>
              <a:avLst/>
              <a:gdLst/>
              <a:ahLst/>
              <a:cxnLst/>
              <a:rect r="r" b="b" t="t" l="l"/>
              <a:pathLst>
                <a:path h="2043684" w="11013825">
                  <a:moveTo>
                    <a:pt x="0" y="340614"/>
                  </a:moveTo>
                  <a:cubicBezTo>
                    <a:pt x="0" y="152488"/>
                    <a:pt x="178120" y="0"/>
                    <a:pt x="397868" y="0"/>
                  </a:cubicBezTo>
                  <a:lnTo>
                    <a:pt x="10615957" y="0"/>
                  </a:lnTo>
                  <a:cubicBezTo>
                    <a:pt x="10835705" y="0"/>
                    <a:pt x="11013825" y="152488"/>
                    <a:pt x="11013825" y="340614"/>
                  </a:cubicBezTo>
                  <a:lnTo>
                    <a:pt x="11013825" y="1703070"/>
                  </a:lnTo>
                  <a:cubicBezTo>
                    <a:pt x="11013825" y="1891196"/>
                    <a:pt x="10835705" y="2043684"/>
                    <a:pt x="10615957" y="2043684"/>
                  </a:cubicBezTo>
                  <a:lnTo>
                    <a:pt x="397868" y="2043684"/>
                  </a:lnTo>
                  <a:cubicBezTo>
                    <a:pt x="178120" y="2043684"/>
                    <a:pt x="0" y="1891196"/>
                    <a:pt x="0" y="1703070"/>
                  </a:cubicBezTo>
                  <a:close/>
                </a:path>
              </a:pathLst>
            </a:custGeom>
            <a:solidFill>
              <a:srgbClr val="FAF5EB"/>
            </a:solidFill>
            <a:ln w="17145" cap="sq">
              <a:solidFill>
                <a:srgbClr val="D5D0C5"/>
              </a:solidFill>
              <a:prstDash val="solid"/>
              <a:miter/>
            </a:ln>
          </p:spPr>
        </p:sp>
      </p:grpSp>
      <p:grpSp>
        <p:nvGrpSpPr>
          <p:cNvPr name="Group 6" id="6"/>
          <p:cNvGrpSpPr/>
          <p:nvPr/>
        </p:nvGrpSpPr>
        <p:grpSpPr>
          <a:xfrm rot="0">
            <a:off x="785065" y="5719857"/>
            <a:ext cx="7907450" cy="395043"/>
            <a:chOff x="0" y="0"/>
            <a:chExt cx="10249820" cy="512064"/>
          </a:xfrm>
        </p:grpSpPr>
        <p:sp>
          <p:nvSpPr>
            <p:cNvPr name="Freeform 7" id="7"/>
            <p:cNvSpPr/>
            <p:nvPr/>
          </p:nvSpPr>
          <p:spPr>
            <a:xfrm flipH="false" flipV="false" rot="0">
              <a:off x="0" y="0"/>
              <a:ext cx="10249820" cy="512064"/>
            </a:xfrm>
            <a:custGeom>
              <a:avLst/>
              <a:gdLst/>
              <a:ahLst/>
              <a:cxnLst/>
              <a:rect r="r" b="b" t="t" l="l"/>
              <a:pathLst>
                <a:path h="512064" w="10249820">
                  <a:moveTo>
                    <a:pt x="0" y="0"/>
                  </a:moveTo>
                  <a:lnTo>
                    <a:pt x="10249820" y="0"/>
                  </a:lnTo>
                  <a:lnTo>
                    <a:pt x="10249820" y="512064"/>
                  </a:lnTo>
                  <a:lnTo>
                    <a:pt x="0" y="512064"/>
                  </a:lnTo>
                  <a:close/>
                </a:path>
              </a:pathLst>
            </a:custGeom>
            <a:blipFill>
              <a:blip r:embed="rId2">
                <a:alphaModFix amt="0"/>
              </a:blip>
              <a:stretch>
                <a:fillRect l="0" t="-318823" r="5435" b="-318823"/>
              </a:stretch>
            </a:blipFill>
          </p:spPr>
        </p:sp>
        <p:sp>
          <p:nvSpPr>
            <p:cNvPr name="TextBox 8" id="8"/>
            <p:cNvSpPr txBox="true"/>
            <p:nvPr/>
          </p:nvSpPr>
          <p:spPr>
            <a:xfrm>
              <a:off x="0" y="-9525"/>
              <a:ext cx="10249820" cy="521589"/>
            </a:xfrm>
            <a:prstGeom prst="rect">
              <a:avLst/>
            </a:prstGeom>
          </p:spPr>
          <p:txBody>
            <a:bodyPr anchor="ctr" rtlCol="false" tIns="0" lIns="0" bIns="0" rIns="0"/>
            <a:lstStyle/>
            <a:p>
              <a:pPr algn="l">
                <a:lnSpc>
                  <a:spcPts val="2520"/>
                </a:lnSpc>
              </a:pPr>
              <a:r>
                <a:rPr lang="en-US" sz="2100">
                  <a:solidFill>
                    <a:srgbClr val="2E3B4A"/>
                  </a:solidFill>
                  <a:latin typeface="Aptos"/>
                  <a:ea typeface="Aptos"/>
                  <a:cs typeface="Aptos"/>
                  <a:sym typeface="Aptos"/>
                </a:rPr>
                <a:t>All asset fractions sum to the full portfolio; the appendix states xᵢ ≥ 0.</a:t>
              </a:r>
            </a:p>
          </p:txBody>
        </p:sp>
      </p:grpSp>
      <p:grpSp>
        <p:nvGrpSpPr>
          <p:cNvPr name="Group 9" id="9"/>
          <p:cNvGrpSpPr/>
          <p:nvPr/>
        </p:nvGrpSpPr>
        <p:grpSpPr>
          <a:xfrm rot="0">
            <a:off x="886968" y="228530"/>
            <a:ext cx="6535378" cy="688537"/>
            <a:chOff x="0" y="0"/>
            <a:chExt cx="8041892" cy="847257"/>
          </a:xfrm>
        </p:grpSpPr>
        <p:sp>
          <p:nvSpPr>
            <p:cNvPr name="Freeform 10" id="10"/>
            <p:cNvSpPr/>
            <p:nvPr/>
          </p:nvSpPr>
          <p:spPr>
            <a:xfrm flipH="false" flipV="false" rot="0">
              <a:off x="0" y="0"/>
              <a:ext cx="8041663" cy="847257"/>
            </a:xfrm>
            <a:custGeom>
              <a:avLst/>
              <a:gdLst/>
              <a:ahLst/>
              <a:cxnLst/>
              <a:rect r="r" b="b" t="t" l="l"/>
              <a:pathLst>
                <a:path h="847257" w="8041663">
                  <a:moveTo>
                    <a:pt x="0" y="282356"/>
                  </a:moveTo>
                  <a:cubicBezTo>
                    <a:pt x="0" y="126521"/>
                    <a:pt x="191291" y="0"/>
                    <a:pt x="426902" y="0"/>
                  </a:cubicBezTo>
                  <a:lnTo>
                    <a:pt x="7614761" y="0"/>
                  </a:lnTo>
                  <a:cubicBezTo>
                    <a:pt x="7850658" y="0"/>
                    <a:pt x="8041663" y="126521"/>
                    <a:pt x="8041663" y="282356"/>
                  </a:cubicBezTo>
                  <a:lnTo>
                    <a:pt x="8041663" y="564901"/>
                  </a:lnTo>
                  <a:cubicBezTo>
                    <a:pt x="8041663" y="720925"/>
                    <a:pt x="7850372" y="847257"/>
                    <a:pt x="7614761" y="847257"/>
                  </a:cubicBezTo>
                  <a:lnTo>
                    <a:pt x="426902" y="847257"/>
                  </a:lnTo>
                  <a:cubicBezTo>
                    <a:pt x="191291" y="847257"/>
                    <a:pt x="0" y="720735"/>
                    <a:pt x="0" y="564901"/>
                  </a:cubicBezTo>
                  <a:close/>
                </a:path>
              </a:pathLst>
            </a:custGeom>
            <a:solidFill>
              <a:srgbClr val="FAF5EB"/>
            </a:solidFill>
            <a:ln w="15240" cap="sq">
              <a:solidFill>
                <a:srgbClr val="3371A5"/>
              </a:solidFill>
              <a:prstDash val="solid"/>
              <a:miter/>
            </a:ln>
          </p:spPr>
        </p:sp>
      </p:grpSp>
      <p:grpSp>
        <p:nvGrpSpPr>
          <p:cNvPr name="Group 11" id="11"/>
          <p:cNvGrpSpPr/>
          <p:nvPr/>
        </p:nvGrpSpPr>
        <p:grpSpPr>
          <a:xfrm rot="0">
            <a:off x="1148160" y="317662"/>
            <a:ext cx="6012993" cy="510272"/>
            <a:chOff x="0" y="0"/>
            <a:chExt cx="8017324" cy="680363"/>
          </a:xfrm>
        </p:grpSpPr>
        <p:sp>
          <p:nvSpPr>
            <p:cNvPr name="Freeform 12" id="12"/>
            <p:cNvSpPr/>
            <p:nvPr/>
          </p:nvSpPr>
          <p:spPr>
            <a:xfrm flipH="false" flipV="false" rot="0">
              <a:off x="0" y="0"/>
              <a:ext cx="8017325" cy="680363"/>
            </a:xfrm>
            <a:custGeom>
              <a:avLst/>
              <a:gdLst/>
              <a:ahLst/>
              <a:cxnLst/>
              <a:rect r="r" b="b" t="t" l="l"/>
              <a:pathLst>
                <a:path h="680363" w="8017325">
                  <a:moveTo>
                    <a:pt x="0" y="0"/>
                  </a:moveTo>
                  <a:lnTo>
                    <a:pt x="8017325" y="0"/>
                  </a:lnTo>
                  <a:lnTo>
                    <a:pt x="8017325" y="680363"/>
                  </a:lnTo>
                  <a:lnTo>
                    <a:pt x="0" y="680363"/>
                  </a:lnTo>
                  <a:close/>
                </a:path>
              </a:pathLst>
            </a:custGeom>
            <a:blipFill>
              <a:blip r:embed="rId2">
                <a:alphaModFix amt="0"/>
              </a:blip>
              <a:stretch>
                <a:fillRect l="0" t="-56294" r="60263" b="-26181"/>
              </a:stretch>
            </a:blipFill>
          </p:spPr>
        </p:sp>
        <p:sp>
          <p:nvSpPr>
            <p:cNvPr name="TextBox 13" id="13"/>
            <p:cNvSpPr txBox="true"/>
            <p:nvPr/>
          </p:nvSpPr>
          <p:spPr>
            <a:xfrm>
              <a:off x="0" y="0"/>
              <a:ext cx="8017324"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6 — VARIABLES &amp; OBJECTIVE</a:t>
              </a:r>
            </a:p>
          </p:txBody>
        </p:sp>
      </p:grpSp>
      <p:grpSp>
        <p:nvGrpSpPr>
          <p:cNvPr name="Group 14" id="14"/>
          <p:cNvGrpSpPr/>
          <p:nvPr/>
        </p:nvGrpSpPr>
        <p:grpSpPr>
          <a:xfrm rot="0">
            <a:off x="9427083" y="2487739"/>
            <a:ext cx="8502995" cy="2350770"/>
            <a:chOff x="0" y="0"/>
            <a:chExt cx="11337327" cy="3134360"/>
          </a:xfrm>
        </p:grpSpPr>
        <p:sp>
          <p:nvSpPr>
            <p:cNvPr name="Freeform 15" id="15"/>
            <p:cNvSpPr/>
            <p:nvPr/>
          </p:nvSpPr>
          <p:spPr>
            <a:xfrm flipH="false" flipV="false" rot="0">
              <a:off x="0" y="0"/>
              <a:ext cx="11337327" cy="3134360"/>
            </a:xfrm>
            <a:custGeom>
              <a:avLst/>
              <a:gdLst/>
              <a:ahLst/>
              <a:cxnLst/>
              <a:rect r="r" b="b" t="t" l="l"/>
              <a:pathLst>
                <a:path h="3134360" w="11337327">
                  <a:moveTo>
                    <a:pt x="0" y="522351"/>
                  </a:moveTo>
                  <a:cubicBezTo>
                    <a:pt x="0" y="233934"/>
                    <a:pt x="255148" y="0"/>
                    <a:pt x="569720" y="0"/>
                  </a:cubicBezTo>
                  <a:lnTo>
                    <a:pt x="10767607" y="0"/>
                  </a:lnTo>
                  <a:cubicBezTo>
                    <a:pt x="11082317" y="0"/>
                    <a:pt x="11337327" y="233934"/>
                    <a:pt x="11337327" y="522351"/>
                  </a:cubicBezTo>
                  <a:lnTo>
                    <a:pt x="11337327" y="2612009"/>
                  </a:lnTo>
                  <a:cubicBezTo>
                    <a:pt x="11337327" y="2900553"/>
                    <a:pt x="11082179" y="3134360"/>
                    <a:pt x="10767607" y="3134360"/>
                  </a:cubicBezTo>
                  <a:lnTo>
                    <a:pt x="569720" y="3134360"/>
                  </a:lnTo>
                  <a:cubicBezTo>
                    <a:pt x="255148" y="3134360"/>
                    <a:pt x="0" y="2900426"/>
                    <a:pt x="0" y="2612009"/>
                  </a:cubicBezTo>
                  <a:close/>
                </a:path>
              </a:pathLst>
            </a:custGeom>
            <a:solidFill>
              <a:srgbClr val="F9F4EA"/>
            </a:solidFill>
            <a:ln w="19050" cap="sq">
              <a:solidFill>
                <a:srgbClr val="D3CDC2"/>
              </a:solidFill>
              <a:prstDash val="solid"/>
              <a:miter/>
            </a:ln>
          </p:spPr>
        </p:sp>
      </p:grpSp>
      <p:grpSp>
        <p:nvGrpSpPr>
          <p:cNvPr name="Group 16" id="16"/>
          <p:cNvGrpSpPr/>
          <p:nvPr/>
        </p:nvGrpSpPr>
        <p:grpSpPr>
          <a:xfrm rot="0">
            <a:off x="9427083" y="5093780"/>
            <a:ext cx="8326252" cy="2152459"/>
            <a:chOff x="0" y="0"/>
            <a:chExt cx="11101669" cy="2869946"/>
          </a:xfrm>
        </p:grpSpPr>
        <p:sp>
          <p:nvSpPr>
            <p:cNvPr name="Freeform 17" id="17"/>
            <p:cNvSpPr/>
            <p:nvPr/>
          </p:nvSpPr>
          <p:spPr>
            <a:xfrm flipH="false" flipV="false" rot="0">
              <a:off x="0" y="0"/>
              <a:ext cx="11101670" cy="2869946"/>
            </a:xfrm>
            <a:custGeom>
              <a:avLst/>
              <a:gdLst/>
              <a:ahLst/>
              <a:cxnLst/>
              <a:rect r="r" b="b" t="t" l="l"/>
              <a:pathLst>
                <a:path h="2869946" w="11101670">
                  <a:moveTo>
                    <a:pt x="0" y="478288"/>
                  </a:moveTo>
                  <a:cubicBezTo>
                    <a:pt x="0" y="214147"/>
                    <a:pt x="264358" y="0"/>
                    <a:pt x="590431" y="0"/>
                  </a:cubicBezTo>
                  <a:lnTo>
                    <a:pt x="10511239" y="0"/>
                  </a:lnTo>
                  <a:cubicBezTo>
                    <a:pt x="10837311" y="0"/>
                    <a:pt x="11101670" y="214147"/>
                    <a:pt x="11101670" y="478288"/>
                  </a:cubicBezTo>
                  <a:lnTo>
                    <a:pt x="11101670" y="2391658"/>
                  </a:lnTo>
                  <a:cubicBezTo>
                    <a:pt x="11101670" y="2655799"/>
                    <a:pt x="10837311" y="2869946"/>
                    <a:pt x="10511239" y="2869946"/>
                  </a:cubicBezTo>
                  <a:lnTo>
                    <a:pt x="590431" y="2869946"/>
                  </a:lnTo>
                  <a:cubicBezTo>
                    <a:pt x="264358" y="2869946"/>
                    <a:pt x="0" y="2655799"/>
                    <a:pt x="0" y="2391658"/>
                  </a:cubicBezTo>
                  <a:close/>
                </a:path>
              </a:pathLst>
            </a:custGeom>
            <a:solidFill>
              <a:srgbClr val="F9F4EA"/>
            </a:solidFill>
            <a:ln w="19050" cap="sq">
              <a:solidFill>
                <a:srgbClr val="D3CDC2"/>
              </a:solidFill>
              <a:prstDash val="solid"/>
              <a:miter/>
            </a:ln>
          </p:spPr>
        </p:sp>
      </p:grpSp>
      <p:grpSp>
        <p:nvGrpSpPr>
          <p:cNvPr name="Group 18" id="18"/>
          <p:cNvGrpSpPr/>
          <p:nvPr/>
        </p:nvGrpSpPr>
        <p:grpSpPr>
          <a:xfrm rot="0">
            <a:off x="9427083" y="7503414"/>
            <a:ext cx="8326252" cy="2234666"/>
            <a:chOff x="0" y="0"/>
            <a:chExt cx="11101669" cy="2979554"/>
          </a:xfrm>
        </p:grpSpPr>
        <p:sp>
          <p:nvSpPr>
            <p:cNvPr name="Freeform 19" id="19"/>
            <p:cNvSpPr/>
            <p:nvPr/>
          </p:nvSpPr>
          <p:spPr>
            <a:xfrm flipH="false" flipV="false" rot="0">
              <a:off x="0" y="0"/>
              <a:ext cx="11101670" cy="2979342"/>
            </a:xfrm>
            <a:custGeom>
              <a:avLst/>
              <a:gdLst/>
              <a:ahLst/>
              <a:cxnLst/>
              <a:rect r="r" b="b" t="t" l="l"/>
              <a:pathLst>
                <a:path h="2979342" w="11101670">
                  <a:moveTo>
                    <a:pt x="0" y="496522"/>
                  </a:moveTo>
                  <a:cubicBezTo>
                    <a:pt x="0" y="222234"/>
                    <a:pt x="166480" y="0"/>
                    <a:pt x="371955" y="0"/>
                  </a:cubicBezTo>
                  <a:lnTo>
                    <a:pt x="10729715" y="0"/>
                  </a:lnTo>
                  <a:cubicBezTo>
                    <a:pt x="10935188" y="0"/>
                    <a:pt x="11101670" y="222234"/>
                    <a:pt x="11101670" y="496522"/>
                  </a:cubicBezTo>
                  <a:lnTo>
                    <a:pt x="11101670" y="2482820"/>
                  </a:lnTo>
                  <a:cubicBezTo>
                    <a:pt x="11101670" y="2757108"/>
                    <a:pt x="10935188" y="2979342"/>
                    <a:pt x="10729715" y="2979342"/>
                  </a:cubicBezTo>
                  <a:lnTo>
                    <a:pt x="371955" y="2979342"/>
                  </a:lnTo>
                  <a:cubicBezTo>
                    <a:pt x="166480" y="2979554"/>
                    <a:pt x="0" y="2757320"/>
                    <a:pt x="0" y="2483033"/>
                  </a:cubicBezTo>
                  <a:close/>
                </a:path>
              </a:pathLst>
            </a:custGeom>
            <a:solidFill>
              <a:srgbClr val="F9F4EA"/>
            </a:solidFill>
            <a:ln w="19050" cap="sq">
              <a:solidFill>
                <a:srgbClr val="D3CDC2"/>
              </a:solidFill>
              <a:prstDash val="solid"/>
              <a:miter/>
            </a:ln>
          </p:spPr>
        </p:sp>
      </p:grpSp>
      <p:sp>
        <p:nvSpPr>
          <p:cNvPr name="Freeform 20" id="20"/>
          <p:cNvSpPr/>
          <p:nvPr/>
        </p:nvSpPr>
        <p:spPr>
          <a:xfrm flipH="false" flipV="false" rot="0">
            <a:off x="2577653" y="4817079"/>
            <a:ext cx="2795004" cy="902778"/>
          </a:xfrm>
          <a:custGeom>
            <a:avLst/>
            <a:gdLst/>
            <a:ahLst/>
            <a:cxnLst/>
            <a:rect r="r" b="b" t="t" l="l"/>
            <a:pathLst>
              <a:path h="902778" w="2795004">
                <a:moveTo>
                  <a:pt x="0" y="0"/>
                </a:moveTo>
                <a:lnTo>
                  <a:pt x="2795004" y="0"/>
                </a:lnTo>
                <a:lnTo>
                  <a:pt x="2795004" y="902778"/>
                </a:lnTo>
                <a:lnTo>
                  <a:pt x="0" y="902778"/>
                </a:lnTo>
                <a:lnTo>
                  <a:pt x="0" y="0"/>
                </a:lnTo>
                <a:close/>
              </a:path>
            </a:pathLst>
          </a:custGeom>
          <a:blipFill>
            <a:blip r:embed="rId3"/>
            <a:stretch>
              <a:fillRect l="-236" t="0" r="-236" b="0"/>
            </a:stretch>
          </a:blipFill>
        </p:spPr>
      </p:sp>
      <p:grpSp>
        <p:nvGrpSpPr>
          <p:cNvPr name="Group 21" id="21"/>
          <p:cNvGrpSpPr/>
          <p:nvPr/>
        </p:nvGrpSpPr>
        <p:grpSpPr>
          <a:xfrm rot="0">
            <a:off x="526443" y="6434900"/>
            <a:ext cx="3711283" cy="1704213"/>
            <a:chOff x="0" y="0"/>
            <a:chExt cx="4948377" cy="2272284"/>
          </a:xfrm>
        </p:grpSpPr>
        <p:sp>
          <p:nvSpPr>
            <p:cNvPr name="Freeform 22" id="22"/>
            <p:cNvSpPr/>
            <p:nvPr/>
          </p:nvSpPr>
          <p:spPr>
            <a:xfrm flipH="false" flipV="false" rot="0">
              <a:off x="0" y="0"/>
              <a:ext cx="4948377" cy="2272284"/>
            </a:xfrm>
            <a:custGeom>
              <a:avLst/>
              <a:gdLst/>
              <a:ahLst/>
              <a:cxnLst/>
              <a:rect r="r" b="b" t="t" l="l"/>
              <a:pathLst>
                <a:path h="2272284" w="4948377">
                  <a:moveTo>
                    <a:pt x="0" y="378714"/>
                  </a:moveTo>
                  <a:cubicBezTo>
                    <a:pt x="0" y="169545"/>
                    <a:pt x="80027" y="0"/>
                    <a:pt x="178757" y="0"/>
                  </a:cubicBezTo>
                  <a:lnTo>
                    <a:pt x="4769620" y="0"/>
                  </a:lnTo>
                  <a:cubicBezTo>
                    <a:pt x="4868350" y="0"/>
                    <a:pt x="4948377" y="169545"/>
                    <a:pt x="4948377" y="378714"/>
                  </a:cubicBezTo>
                  <a:lnTo>
                    <a:pt x="4948377" y="1893570"/>
                  </a:lnTo>
                  <a:cubicBezTo>
                    <a:pt x="4948377" y="2102739"/>
                    <a:pt x="4868350" y="2272284"/>
                    <a:pt x="4769620" y="2272284"/>
                  </a:cubicBezTo>
                  <a:lnTo>
                    <a:pt x="178757" y="2272284"/>
                  </a:lnTo>
                  <a:cubicBezTo>
                    <a:pt x="80027" y="2272284"/>
                    <a:pt x="0" y="2102739"/>
                    <a:pt x="0" y="1893570"/>
                  </a:cubicBezTo>
                  <a:close/>
                </a:path>
              </a:pathLst>
            </a:custGeom>
            <a:solidFill>
              <a:srgbClr val="FAF5EB"/>
            </a:solidFill>
            <a:ln w="17145" cap="sq">
              <a:solidFill>
                <a:srgbClr val="D5D0C5"/>
              </a:solidFill>
              <a:prstDash val="solid"/>
              <a:miter/>
            </a:ln>
          </p:spPr>
        </p:sp>
      </p:grpSp>
      <p:sp>
        <p:nvSpPr>
          <p:cNvPr name="Freeform 23" id="23"/>
          <p:cNvSpPr/>
          <p:nvPr/>
        </p:nvSpPr>
        <p:spPr>
          <a:xfrm flipH="false" flipV="false" rot="0">
            <a:off x="943253" y="6993468"/>
            <a:ext cx="2940175" cy="942930"/>
          </a:xfrm>
          <a:custGeom>
            <a:avLst/>
            <a:gdLst/>
            <a:ahLst/>
            <a:cxnLst/>
            <a:rect r="r" b="b" t="t" l="l"/>
            <a:pathLst>
              <a:path h="942930" w="2940175">
                <a:moveTo>
                  <a:pt x="0" y="0"/>
                </a:moveTo>
                <a:lnTo>
                  <a:pt x="2940175" y="0"/>
                </a:lnTo>
                <a:lnTo>
                  <a:pt x="2940175" y="942930"/>
                </a:lnTo>
                <a:lnTo>
                  <a:pt x="0" y="942930"/>
                </a:lnTo>
                <a:lnTo>
                  <a:pt x="0" y="0"/>
                </a:lnTo>
                <a:close/>
              </a:path>
            </a:pathLst>
          </a:custGeom>
          <a:blipFill>
            <a:blip r:embed="rId4"/>
            <a:stretch>
              <a:fillRect l="-575" t="0" r="-575" b="0"/>
            </a:stretch>
          </a:blipFill>
        </p:spPr>
      </p:sp>
      <p:grpSp>
        <p:nvGrpSpPr>
          <p:cNvPr name="Group 24" id="24"/>
          <p:cNvGrpSpPr/>
          <p:nvPr/>
        </p:nvGrpSpPr>
        <p:grpSpPr>
          <a:xfrm rot="0">
            <a:off x="5084131" y="6434900"/>
            <a:ext cx="3702682" cy="1704213"/>
            <a:chOff x="0" y="0"/>
            <a:chExt cx="4936909" cy="2272284"/>
          </a:xfrm>
        </p:grpSpPr>
        <p:sp>
          <p:nvSpPr>
            <p:cNvPr name="Freeform 25" id="25"/>
            <p:cNvSpPr/>
            <p:nvPr/>
          </p:nvSpPr>
          <p:spPr>
            <a:xfrm flipH="false" flipV="false" rot="0">
              <a:off x="0" y="0"/>
              <a:ext cx="4936909" cy="2272284"/>
            </a:xfrm>
            <a:custGeom>
              <a:avLst/>
              <a:gdLst/>
              <a:ahLst/>
              <a:cxnLst/>
              <a:rect r="r" b="b" t="t" l="l"/>
              <a:pathLst>
                <a:path h="2272284" w="4936909">
                  <a:moveTo>
                    <a:pt x="0" y="378714"/>
                  </a:moveTo>
                  <a:cubicBezTo>
                    <a:pt x="0" y="169545"/>
                    <a:pt x="79842" y="0"/>
                    <a:pt x="178343" y="0"/>
                  </a:cubicBezTo>
                  <a:lnTo>
                    <a:pt x="4758566" y="0"/>
                  </a:lnTo>
                  <a:cubicBezTo>
                    <a:pt x="4857067" y="0"/>
                    <a:pt x="4936909" y="169545"/>
                    <a:pt x="4936909" y="378714"/>
                  </a:cubicBezTo>
                  <a:lnTo>
                    <a:pt x="4936909" y="1893570"/>
                  </a:lnTo>
                  <a:cubicBezTo>
                    <a:pt x="4936909" y="2102739"/>
                    <a:pt x="4857067" y="2272284"/>
                    <a:pt x="4758566" y="2272284"/>
                  </a:cubicBezTo>
                  <a:lnTo>
                    <a:pt x="178343" y="2272284"/>
                  </a:lnTo>
                  <a:cubicBezTo>
                    <a:pt x="79842" y="2272284"/>
                    <a:pt x="0" y="2102739"/>
                    <a:pt x="0" y="1893570"/>
                  </a:cubicBezTo>
                  <a:close/>
                </a:path>
              </a:pathLst>
            </a:custGeom>
            <a:solidFill>
              <a:srgbClr val="FAF5EB"/>
            </a:solidFill>
            <a:ln w="17145" cap="sq">
              <a:solidFill>
                <a:srgbClr val="D5D0C5"/>
              </a:solidFill>
              <a:prstDash val="solid"/>
              <a:miter/>
            </a:ln>
          </p:spPr>
        </p:sp>
      </p:grpSp>
      <p:sp>
        <p:nvSpPr>
          <p:cNvPr name="Freeform 26" id="26"/>
          <p:cNvSpPr/>
          <p:nvPr/>
        </p:nvSpPr>
        <p:spPr>
          <a:xfrm flipH="false" flipV="false" rot="0">
            <a:off x="5373612" y="7001637"/>
            <a:ext cx="2802386" cy="966492"/>
          </a:xfrm>
          <a:custGeom>
            <a:avLst/>
            <a:gdLst/>
            <a:ahLst/>
            <a:cxnLst/>
            <a:rect r="r" b="b" t="t" l="l"/>
            <a:pathLst>
              <a:path h="966492" w="2802386">
                <a:moveTo>
                  <a:pt x="0" y="0"/>
                </a:moveTo>
                <a:lnTo>
                  <a:pt x="2802387" y="0"/>
                </a:lnTo>
                <a:lnTo>
                  <a:pt x="2802387" y="966492"/>
                </a:lnTo>
                <a:lnTo>
                  <a:pt x="0" y="966492"/>
                </a:lnTo>
                <a:lnTo>
                  <a:pt x="0" y="0"/>
                </a:lnTo>
                <a:close/>
              </a:path>
            </a:pathLst>
          </a:custGeom>
          <a:blipFill>
            <a:blip r:embed="rId5"/>
            <a:stretch>
              <a:fillRect l="0" t="-2132" r="0" b="-2132"/>
            </a:stretch>
          </a:blipFill>
        </p:spPr>
      </p:sp>
      <p:grpSp>
        <p:nvGrpSpPr>
          <p:cNvPr name="Group 27" id="27"/>
          <p:cNvGrpSpPr/>
          <p:nvPr/>
        </p:nvGrpSpPr>
        <p:grpSpPr>
          <a:xfrm rot="0">
            <a:off x="526443" y="8348853"/>
            <a:ext cx="8260369" cy="1439799"/>
            <a:chOff x="0" y="0"/>
            <a:chExt cx="11013826" cy="1919732"/>
          </a:xfrm>
        </p:grpSpPr>
        <p:sp>
          <p:nvSpPr>
            <p:cNvPr name="Freeform 28" id="28"/>
            <p:cNvSpPr/>
            <p:nvPr/>
          </p:nvSpPr>
          <p:spPr>
            <a:xfrm flipH="false" flipV="false" rot="0">
              <a:off x="0" y="0"/>
              <a:ext cx="11013825" cy="1919732"/>
            </a:xfrm>
            <a:custGeom>
              <a:avLst/>
              <a:gdLst/>
              <a:ahLst/>
              <a:cxnLst/>
              <a:rect r="r" b="b" t="t" l="l"/>
              <a:pathLst>
                <a:path h="1919732" w="11013825">
                  <a:moveTo>
                    <a:pt x="0" y="319955"/>
                  </a:moveTo>
                  <a:cubicBezTo>
                    <a:pt x="0" y="143240"/>
                    <a:pt x="178120" y="0"/>
                    <a:pt x="397868" y="0"/>
                  </a:cubicBezTo>
                  <a:lnTo>
                    <a:pt x="10615957" y="0"/>
                  </a:lnTo>
                  <a:cubicBezTo>
                    <a:pt x="10835705" y="0"/>
                    <a:pt x="11013825" y="143240"/>
                    <a:pt x="11013825" y="319955"/>
                  </a:cubicBezTo>
                  <a:lnTo>
                    <a:pt x="11013825" y="1599777"/>
                  </a:lnTo>
                  <a:cubicBezTo>
                    <a:pt x="11013825" y="1776493"/>
                    <a:pt x="10835705" y="1919732"/>
                    <a:pt x="10615957" y="1919732"/>
                  </a:cubicBezTo>
                  <a:lnTo>
                    <a:pt x="397868" y="1919732"/>
                  </a:lnTo>
                  <a:cubicBezTo>
                    <a:pt x="178120" y="1919732"/>
                    <a:pt x="0" y="1776493"/>
                    <a:pt x="0" y="1599777"/>
                  </a:cubicBezTo>
                  <a:close/>
                </a:path>
              </a:pathLst>
            </a:custGeom>
            <a:solidFill>
              <a:srgbClr val="FAF5EB"/>
            </a:solidFill>
            <a:ln w="17145" cap="sq">
              <a:solidFill>
                <a:srgbClr val="D5D0C5"/>
              </a:solidFill>
              <a:prstDash val="solid"/>
              <a:miter/>
            </a:ln>
          </p:spPr>
        </p:sp>
      </p:grpSp>
      <p:sp>
        <p:nvSpPr>
          <p:cNvPr name="Freeform 29" id="29"/>
          <p:cNvSpPr/>
          <p:nvPr/>
        </p:nvSpPr>
        <p:spPr>
          <a:xfrm flipH="false" flipV="false" rot="0">
            <a:off x="697092" y="8722614"/>
            <a:ext cx="7296760" cy="1015466"/>
          </a:xfrm>
          <a:custGeom>
            <a:avLst/>
            <a:gdLst/>
            <a:ahLst/>
            <a:cxnLst/>
            <a:rect r="r" b="b" t="t" l="l"/>
            <a:pathLst>
              <a:path h="1015466" w="7296760">
                <a:moveTo>
                  <a:pt x="0" y="0"/>
                </a:moveTo>
                <a:lnTo>
                  <a:pt x="7296761" y="0"/>
                </a:lnTo>
                <a:lnTo>
                  <a:pt x="7296761" y="1015466"/>
                </a:lnTo>
                <a:lnTo>
                  <a:pt x="0" y="1015466"/>
                </a:lnTo>
                <a:lnTo>
                  <a:pt x="0" y="0"/>
                </a:lnTo>
                <a:close/>
              </a:path>
            </a:pathLst>
          </a:custGeom>
          <a:blipFill>
            <a:blip r:embed="rId6"/>
            <a:stretch>
              <a:fillRect l="0" t="0" r="0" b="0"/>
            </a:stretch>
          </a:blipFill>
        </p:spPr>
      </p:sp>
      <p:sp>
        <p:nvSpPr>
          <p:cNvPr name="TextBox 30" id="30"/>
          <p:cNvSpPr txBox="true"/>
          <p:nvPr/>
        </p:nvSpPr>
        <p:spPr>
          <a:xfrm rot="0">
            <a:off x="16632936" y="9779127"/>
            <a:ext cx="777240" cy="128397"/>
          </a:xfrm>
          <a:prstGeom prst="rect">
            <a:avLst/>
          </a:prstGeom>
        </p:spPr>
        <p:txBody>
          <a:bodyPr anchor="t" rtlCol="false" tIns="0" lIns="0" bIns="0" rIns="0">
            <a:spAutoFit/>
          </a:bodyPr>
          <a:lstStyle/>
          <a:p>
            <a:pPr algn="ctr">
              <a:lnSpc>
                <a:spcPts val="1260"/>
              </a:lnSpc>
            </a:pPr>
            <a:r>
              <a:rPr lang="en-US" sz="1050" b="true">
                <a:solidFill>
                  <a:srgbClr val="FFFFFF"/>
                </a:solidFill>
                <a:latin typeface="Aptos Bold"/>
                <a:ea typeface="Aptos Bold"/>
                <a:cs typeface="Aptos Bold"/>
                <a:sym typeface="Aptos Bold"/>
              </a:rPr>
              <a:t>7</a:t>
            </a:r>
          </a:p>
        </p:txBody>
      </p:sp>
      <p:sp>
        <p:nvSpPr>
          <p:cNvPr name="TextBox 31" id="31"/>
          <p:cNvSpPr txBox="true"/>
          <p:nvPr/>
        </p:nvSpPr>
        <p:spPr>
          <a:xfrm rot="0">
            <a:off x="5373612" y="6573012"/>
            <a:ext cx="3413200" cy="323850"/>
          </a:xfrm>
          <a:prstGeom prst="rect">
            <a:avLst/>
          </a:prstGeom>
        </p:spPr>
        <p:txBody>
          <a:bodyPr anchor="t" rtlCol="false" tIns="0" lIns="0" bIns="0" rIns="0">
            <a:spAutoFit/>
          </a:bodyPr>
          <a:lstStyle/>
          <a:p>
            <a:pPr algn="l">
              <a:lnSpc>
                <a:spcPts val="2507"/>
              </a:lnSpc>
            </a:pPr>
            <a:r>
              <a:rPr lang="en-US" sz="2089" b="true">
                <a:solidFill>
                  <a:srgbClr val="051D3A"/>
                </a:solidFill>
                <a:latin typeface="Aptos Bold"/>
                <a:ea typeface="Aptos Bold"/>
                <a:cs typeface="Aptos Bold"/>
                <a:sym typeface="Aptos Bold"/>
              </a:rPr>
              <a:t>Expected future return</a:t>
            </a:r>
          </a:p>
        </p:txBody>
      </p:sp>
      <p:sp>
        <p:nvSpPr>
          <p:cNvPr name="TextBox 32" id="32"/>
          <p:cNvSpPr txBox="true"/>
          <p:nvPr/>
        </p:nvSpPr>
        <p:spPr>
          <a:xfrm rot="0">
            <a:off x="886968" y="1078992"/>
            <a:ext cx="16386048" cy="514350"/>
          </a:xfrm>
          <a:prstGeom prst="rect">
            <a:avLst/>
          </a:prstGeom>
        </p:spPr>
        <p:txBody>
          <a:bodyPr anchor="t" rtlCol="false" tIns="0" lIns="0" bIns="0" rIns="0">
            <a:spAutoFit/>
          </a:bodyPr>
          <a:lstStyle/>
          <a:p>
            <a:pPr algn="l">
              <a:lnSpc>
                <a:spcPts val="4079"/>
              </a:lnSpc>
            </a:pPr>
            <a:r>
              <a:rPr lang="en-US" sz="3399">
                <a:solidFill>
                  <a:srgbClr val="051D3A"/>
                </a:solidFill>
                <a:latin typeface="Aptos"/>
                <a:ea typeface="Aptos"/>
                <a:cs typeface="Aptos"/>
                <a:sym typeface="Aptos"/>
              </a:rPr>
              <a:t>Decision Variables &amp; Objective Function</a:t>
            </a:r>
          </a:p>
        </p:txBody>
      </p:sp>
      <p:sp>
        <p:nvSpPr>
          <p:cNvPr name="TextBox 33" id="33"/>
          <p:cNvSpPr txBox="true"/>
          <p:nvPr/>
        </p:nvSpPr>
        <p:spPr>
          <a:xfrm rot="0">
            <a:off x="886968" y="1755267"/>
            <a:ext cx="16386048" cy="333375"/>
          </a:xfrm>
          <a:prstGeom prst="rect">
            <a:avLst/>
          </a:prstGeom>
        </p:spPr>
        <p:txBody>
          <a:bodyPr anchor="t" rtlCol="false" tIns="0" lIns="0" bIns="0" rIns="0">
            <a:spAutoFit/>
          </a:bodyPr>
          <a:lstStyle/>
          <a:p>
            <a:pPr algn="l">
              <a:lnSpc>
                <a:spcPts val="2639"/>
              </a:lnSpc>
            </a:pPr>
            <a:r>
              <a:rPr lang="en-US" sz="2199">
                <a:solidFill>
                  <a:srgbClr val="2E3B4A"/>
                </a:solidFill>
                <a:latin typeface="Aptos"/>
                <a:ea typeface="Aptos"/>
                <a:cs typeface="Aptos"/>
                <a:sym typeface="Aptos"/>
              </a:rPr>
              <a:t>The decision variables are portfolio weights across asset classes; the model balances return, risk and diversification.</a:t>
            </a:r>
          </a:p>
        </p:txBody>
      </p:sp>
      <p:sp>
        <p:nvSpPr>
          <p:cNvPr name="TextBox 34" id="34"/>
          <p:cNvSpPr txBox="true"/>
          <p:nvPr/>
        </p:nvSpPr>
        <p:spPr>
          <a:xfrm rot="0">
            <a:off x="960691" y="2703004"/>
            <a:ext cx="7333488" cy="342900"/>
          </a:xfrm>
          <a:prstGeom prst="rect">
            <a:avLst/>
          </a:prstGeom>
        </p:spPr>
        <p:txBody>
          <a:bodyPr anchor="t" rtlCol="false" tIns="0" lIns="0" bIns="0" rIns="0">
            <a:spAutoFit/>
          </a:bodyPr>
          <a:lstStyle/>
          <a:p>
            <a:pPr algn="l">
              <a:lnSpc>
                <a:spcPts val="2747"/>
              </a:lnSpc>
            </a:pPr>
            <a:r>
              <a:rPr lang="en-US" sz="2289" b="true">
                <a:solidFill>
                  <a:srgbClr val="051D3A"/>
                </a:solidFill>
                <a:latin typeface="Aptos Bold"/>
                <a:ea typeface="Aptos Bold"/>
                <a:cs typeface="Aptos Bold"/>
                <a:sym typeface="Aptos Bold"/>
              </a:rPr>
              <a:t>Portfolio variables</a:t>
            </a:r>
          </a:p>
        </p:txBody>
      </p:sp>
      <p:sp>
        <p:nvSpPr>
          <p:cNvPr name="TextBox 35" id="35"/>
          <p:cNvSpPr txBox="true"/>
          <p:nvPr/>
        </p:nvSpPr>
        <p:spPr>
          <a:xfrm rot="0">
            <a:off x="924116" y="3134678"/>
            <a:ext cx="7174801" cy="638175"/>
          </a:xfrm>
          <a:prstGeom prst="rect">
            <a:avLst/>
          </a:prstGeom>
        </p:spPr>
        <p:txBody>
          <a:bodyPr anchor="t" rtlCol="false" tIns="0" lIns="0" bIns="0" rIns="0">
            <a:spAutoFit/>
          </a:bodyPr>
          <a:lstStyle/>
          <a:p>
            <a:pPr algn="l">
              <a:lnSpc>
                <a:spcPts val="2520"/>
              </a:lnSpc>
            </a:pPr>
            <a:r>
              <a:rPr lang="en-US" sz="2100">
                <a:solidFill>
                  <a:srgbClr val="2E3B4A"/>
                </a:solidFill>
                <a:latin typeface="Aptos"/>
                <a:ea typeface="Aptos"/>
                <a:cs typeface="Aptos"/>
                <a:sym typeface="Aptos"/>
              </a:rPr>
              <a:t>x₁, x₂, …, xₙ are the fractions of the portfolio invested in assets i = 1, …, n.</a:t>
            </a:r>
          </a:p>
        </p:txBody>
      </p:sp>
      <p:sp>
        <p:nvSpPr>
          <p:cNvPr name="TextBox 36" id="36"/>
          <p:cNvSpPr txBox="true"/>
          <p:nvPr/>
        </p:nvSpPr>
        <p:spPr>
          <a:xfrm rot="0">
            <a:off x="944852" y="4411028"/>
            <a:ext cx="7264197" cy="342900"/>
          </a:xfrm>
          <a:prstGeom prst="rect">
            <a:avLst/>
          </a:prstGeom>
        </p:spPr>
        <p:txBody>
          <a:bodyPr anchor="t" rtlCol="false" tIns="0" lIns="0" bIns="0" rIns="0">
            <a:spAutoFit/>
          </a:bodyPr>
          <a:lstStyle/>
          <a:p>
            <a:pPr algn="l">
              <a:lnSpc>
                <a:spcPts val="2747"/>
              </a:lnSpc>
            </a:pPr>
            <a:r>
              <a:rPr lang="en-US" sz="2289" b="true">
                <a:solidFill>
                  <a:srgbClr val="051D3A"/>
                </a:solidFill>
                <a:latin typeface="Aptos Bold"/>
                <a:ea typeface="Aptos Bold"/>
                <a:cs typeface="Aptos Bold"/>
                <a:sym typeface="Aptos Bold"/>
              </a:rPr>
              <a:t>Basic portfolio construction</a:t>
            </a:r>
          </a:p>
        </p:txBody>
      </p:sp>
      <p:sp>
        <p:nvSpPr>
          <p:cNvPr name="TextBox 37" id="37"/>
          <p:cNvSpPr txBox="true"/>
          <p:nvPr/>
        </p:nvSpPr>
        <p:spPr>
          <a:xfrm rot="0">
            <a:off x="818480" y="6573012"/>
            <a:ext cx="3273552" cy="323850"/>
          </a:xfrm>
          <a:prstGeom prst="rect">
            <a:avLst/>
          </a:prstGeom>
        </p:spPr>
        <p:txBody>
          <a:bodyPr anchor="t" rtlCol="false" tIns="0" lIns="0" bIns="0" rIns="0">
            <a:spAutoFit/>
          </a:bodyPr>
          <a:lstStyle/>
          <a:p>
            <a:pPr algn="l">
              <a:lnSpc>
                <a:spcPts val="2507"/>
              </a:lnSpc>
            </a:pPr>
            <a:r>
              <a:rPr lang="en-US" sz="2089" b="true">
                <a:solidFill>
                  <a:srgbClr val="051D3A"/>
                </a:solidFill>
                <a:latin typeface="Aptos Bold"/>
                <a:ea typeface="Aptos Bold"/>
                <a:cs typeface="Aptos Bold"/>
                <a:sym typeface="Aptos Bold"/>
              </a:rPr>
              <a:t>Historical portfolio return</a:t>
            </a:r>
          </a:p>
        </p:txBody>
      </p:sp>
      <p:sp>
        <p:nvSpPr>
          <p:cNvPr name="TextBox 38" id="38"/>
          <p:cNvSpPr txBox="true"/>
          <p:nvPr/>
        </p:nvSpPr>
        <p:spPr>
          <a:xfrm rot="0">
            <a:off x="9738360" y="2703004"/>
            <a:ext cx="7338060" cy="466344"/>
          </a:xfrm>
          <a:prstGeom prst="rect">
            <a:avLst/>
          </a:prstGeom>
        </p:spPr>
        <p:txBody>
          <a:bodyPr anchor="t" rtlCol="false" tIns="0" lIns="0" bIns="0" rIns="0">
            <a:spAutoFit/>
          </a:bodyPr>
          <a:lstStyle/>
          <a:p>
            <a:pPr algn="l">
              <a:lnSpc>
                <a:spcPts val="2735"/>
              </a:lnSpc>
            </a:pPr>
            <a:r>
              <a:rPr lang="en-US" sz="2279" b="true">
                <a:solidFill>
                  <a:srgbClr val="082646"/>
                </a:solidFill>
                <a:latin typeface="Aptos Bold"/>
                <a:ea typeface="Aptos Bold"/>
                <a:cs typeface="Aptos Bold"/>
                <a:sym typeface="Aptos Bold"/>
              </a:rPr>
              <a:t>Return data</a:t>
            </a:r>
          </a:p>
        </p:txBody>
      </p:sp>
      <p:sp>
        <p:nvSpPr>
          <p:cNvPr name="TextBox 39" id="39"/>
          <p:cNvSpPr txBox="true"/>
          <p:nvPr/>
        </p:nvSpPr>
        <p:spPr>
          <a:xfrm rot="0">
            <a:off x="9672338" y="3084004"/>
            <a:ext cx="7835741" cy="1581150"/>
          </a:xfrm>
          <a:prstGeom prst="rect">
            <a:avLst/>
          </a:prstGeom>
        </p:spPr>
        <p:txBody>
          <a:bodyPr anchor="t" rtlCol="false" tIns="0" lIns="0" bIns="0" rIns="0">
            <a:spAutoFit/>
          </a:bodyPr>
          <a:lstStyle/>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Historical returns rₜ,ᵢ for t = 1, 2, …, T; typically monthly returns with T = 36.</a:t>
            </a:r>
          </a:p>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Expected future returns ρᵢ on all assets, e.g. for the next year.</a:t>
            </a:r>
          </a:p>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Expected future return is not necessarily the expected historical average.</a:t>
            </a:r>
          </a:p>
        </p:txBody>
      </p:sp>
      <p:sp>
        <p:nvSpPr>
          <p:cNvPr name="TextBox 40" id="40"/>
          <p:cNvSpPr txBox="true"/>
          <p:nvPr/>
        </p:nvSpPr>
        <p:spPr>
          <a:xfrm rot="0">
            <a:off x="9738360" y="5309045"/>
            <a:ext cx="7338060" cy="466344"/>
          </a:xfrm>
          <a:prstGeom prst="rect">
            <a:avLst/>
          </a:prstGeom>
        </p:spPr>
        <p:txBody>
          <a:bodyPr anchor="t" rtlCol="false" tIns="0" lIns="0" bIns="0" rIns="0">
            <a:spAutoFit/>
          </a:bodyPr>
          <a:lstStyle/>
          <a:p>
            <a:pPr algn="l">
              <a:lnSpc>
                <a:spcPts val="2735"/>
              </a:lnSpc>
            </a:pPr>
            <a:r>
              <a:rPr lang="en-US" sz="2279" b="true">
                <a:solidFill>
                  <a:srgbClr val="082646"/>
                </a:solidFill>
                <a:latin typeface="Aptos Bold"/>
                <a:ea typeface="Aptos Bold"/>
                <a:cs typeface="Aptos Bold"/>
                <a:sym typeface="Aptos Bold"/>
              </a:rPr>
              <a:t>Classical Markowitz principle</a:t>
            </a:r>
          </a:p>
        </p:txBody>
      </p:sp>
      <p:sp>
        <p:nvSpPr>
          <p:cNvPr name="TextBox 41" id="41"/>
          <p:cNvSpPr txBox="true"/>
          <p:nvPr/>
        </p:nvSpPr>
        <p:spPr>
          <a:xfrm rot="0">
            <a:off x="9695634" y="5796725"/>
            <a:ext cx="7732001" cy="1266825"/>
          </a:xfrm>
          <a:prstGeom prst="rect">
            <a:avLst/>
          </a:prstGeom>
        </p:spPr>
        <p:txBody>
          <a:bodyPr anchor="t" rtlCol="false" tIns="0" lIns="0" bIns="0" rIns="0">
            <a:spAutoFit/>
          </a:bodyPr>
          <a:lstStyle/>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Historical returns are used internally to compute risk.</a:t>
            </a:r>
          </a:p>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Portfolio variance is the classical measure of risk.</a:t>
            </a:r>
          </a:p>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Maximize expected return at a given risk level, or minimize risk at a given expected return level.</a:t>
            </a:r>
          </a:p>
        </p:txBody>
      </p:sp>
      <p:sp>
        <p:nvSpPr>
          <p:cNvPr name="TextBox 42" id="42"/>
          <p:cNvSpPr txBox="true"/>
          <p:nvPr/>
        </p:nvSpPr>
        <p:spPr>
          <a:xfrm rot="0">
            <a:off x="9738360" y="7741920"/>
            <a:ext cx="6185916" cy="466344"/>
          </a:xfrm>
          <a:prstGeom prst="rect">
            <a:avLst/>
          </a:prstGeom>
        </p:spPr>
        <p:txBody>
          <a:bodyPr anchor="t" rtlCol="false" tIns="0" lIns="0" bIns="0" rIns="0">
            <a:spAutoFit/>
          </a:bodyPr>
          <a:lstStyle/>
          <a:p>
            <a:pPr algn="l">
              <a:lnSpc>
                <a:spcPts val="2735"/>
              </a:lnSpc>
            </a:pPr>
            <a:r>
              <a:rPr lang="en-US" sz="2279" b="true">
                <a:solidFill>
                  <a:srgbClr val="082646"/>
                </a:solidFill>
                <a:latin typeface="Aptos Bold"/>
                <a:ea typeface="Aptos Bold"/>
                <a:cs typeface="Aptos Bold"/>
                <a:sym typeface="Aptos Bold"/>
              </a:rPr>
              <a:t>Additional practical constraints</a:t>
            </a:r>
          </a:p>
        </p:txBody>
      </p:sp>
      <p:sp>
        <p:nvSpPr>
          <p:cNvPr name="TextBox 43" id="43"/>
          <p:cNvSpPr txBox="true"/>
          <p:nvPr/>
        </p:nvSpPr>
        <p:spPr>
          <a:xfrm rot="0">
            <a:off x="9738360" y="8208264"/>
            <a:ext cx="7689274" cy="1266825"/>
          </a:xfrm>
          <a:prstGeom prst="rect">
            <a:avLst/>
          </a:prstGeom>
        </p:spPr>
        <p:txBody>
          <a:bodyPr anchor="t" rtlCol="false" tIns="0" lIns="0" bIns="0" rIns="0">
            <a:spAutoFit/>
          </a:bodyPr>
          <a:lstStyle/>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Turnover can limit the percentage of new assets relative to the existing portfolio.</a:t>
            </a:r>
          </a:p>
          <a:p>
            <a:pPr algn="l">
              <a:lnSpc>
                <a:spcPts val="2520"/>
              </a:lnSpc>
            </a:pPr>
            <a:r>
              <a:rPr lang="en-US" sz="2100" b="true">
                <a:solidFill>
                  <a:srgbClr val="377CB3"/>
                </a:solidFill>
                <a:latin typeface="Aptos Bold"/>
                <a:ea typeface="Aptos Bold"/>
                <a:cs typeface="Aptos Bold"/>
                <a:sym typeface="Aptos Bold"/>
              </a:rPr>
              <a:t>• </a:t>
            </a:r>
            <a:r>
              <a:rPr lang="en-US" sz="2100">
                <a:solidFill>
                  <a:srgbClr val="2F3A48"/>
                </a:solidFill>
                <a:latin typeface="Aptos"/>
                <a:ea typeface="Aptos"/>
                <a:cs typeface="Aptos"/>
                <a:sym typeface="Aptos"/>
              </a:rPr>
              <a:t>Customer-specific rules can restrict asset inclusion and the fraction of illiquid assets.</a:t>
            </a:r>
          </a:p>
        </p:txBody>
      </p:sp>
      <p:sp>
        <p:nvSpPr>
          <p:cNvPr name="TextBox 44" id="44"/>
          <p:cNvSpPr txBox="true"/>
          <p:nvPr/>
        </p:nvSpPr>
        <p:spPr>
          <a:xfrm rot="0">
            <a:off x="782456" y="8480012"/>
            <a:ext cx="3273552" cy="323850"/>
          </a:xfrm>
          <a:prstGeom prst="rect">
            <a:avLst/>
          </a:prstGeom>
        </p:spPr>
        <p:txBody>
          <a:bodyPr anchor="t" rtlCol="false" tIns="0" lIns="0" bIns="0" rIns="0">
            <a:spAutoFit/>
          </a:bodyPr>
          <a:lstStyle/>
          <a:p>
            <a:pPr algn="l">
              <a:lnSpc>
                <a:spcPts val="2507"/>
              </a:lnSpc>
            </a:pPr>
            <a:r>
              <a:rPr lang="en-US" sz="2089" b="true">
                <a:solidFill>
                  <a:srgbClr val="051D3A"/>
                </a:solidFill>
                <a:latin typeface="Aptos Bold"/>
                <a:ea typeface="Aptos Bold"/>
                <a:cs typeface="Aptos Bold"/>
                <a:sym typeface="Aptos Bold"/>
              </a:rPr>
              <a:t>OBJECTIVE FUNCTION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627639" y="332829"/>
            <a:ext cx="5153460" cy="688537"/>
            <a:chOff x="0" y="0"/>
            <a:chExt cx="6341419" cy="847257"/>
          </a:xfrm>
        </p:grpSpPr>
        <p:sp>
          <p:nvSpPr>
            <p:cNvPr name="Freeform 3" id="3"/>
            <p:cNvSpPr/>
            <p:nvPr/>
          </p:nvSpPr>
          <p:spPr>
            <a:xfrm flipH="false" flipV="false" rot="0">
              <a:off x="0" y="0"/>
              <a:ext cx="6341238" cy="847257"/>
            </a:xfrm>
            <a:custGeom>
              <a:avLst/>
              <a:gdLst/>
              <a:ahLst/>
              <a:cxnLst/>
              <a:rect r="r" b="b" t="t" l="l"/>
              <a:pathLst>
                <a:path h="847257" w="6341238">
                  <a:moveTo>
                    <a:pt x="0" y="282356"/>
                  </a:moveTo>
                  <a:cubicBezTo>
                    <a:pt x="0" y="126521"/>
                    <a:pt x="150842" y="0"/>
                    <a:pt x="336633" y="0"/>
                  </a:cubicBezTo>
                  <a:lnTo>
                    <a:pt x="6004605" y="0"/>
                  </a:lnTo>
                  <a:cubicBezTo>
                    <a:pt x="6190621" y="0"/>
                    <a:pt x="6341238" y="126521"/>
                    <a:pt x="6341238" y="282356"/>
                  </a:cubicBezTo>
                  <a:lnTo>
                    <a:pt x="6341238" y="564901"/>
                  </a:lnTo>
                  <a:cubicBezTo>
                    <a:pt x="6341238" y="720925"/>
                    <a:pt x="6190396" y="847257"/>
                    <a:pt x="6004605" y="847257"/>
                  </a:cubicBezTo>
                  <a:lnTo>
                    <a:pt x="336633" y="847257"/>
                  </a:lnTo>
                  <a:cubicBezTo>
                    <a:pt x="150842" y="847257"/>
                    <a:pt x="0" y="720735"/>
                    <a:pt x="0" y="564901"/>
                  </a:cubicBezTo>
                  <a:close/>
                </a:path>
              </a:pathLst>
            </a:custGeom>
            <a:solidFill>
              <a:srgbClr val="FAF5EB"/>
            </a:solidFill>
            <a:ln w="15240" cap="sq">
              <a:solidFill>
                <a:srgbClr val="3371A5"/>
              </a:solidFill>
              <a:prstDash val="solid"/>
              <a:miter/>
            </a:ln>
          </p:spPr>
        </p:sp>
      </p:grpSp>
      <p:grpSp>
        <p:nvGrpSpPr>
          <p:cNvPr name="Group 4" id="4"/>
          <p:cNvGrpSpPr/>
          <p:nvPr/>
        </p:nvGrpSpPr>
        <p:grpSpPr>
          <a:xfrm rot="0">
            <a:off x="616458" y="6433328"/>
            <a:ext cx="8281196" cy="3169568"/>
            <a:chOff x="0" y="0"/>
            <a:chExt cx="11041595" cy="4226091"/>
          </a:xfrm>
        </p:grpSpPr>
        <p:sp>
          <p:nvSpPr>
            <p:cNvPr name="Freeform 5" id="5"/>
            <p:cNvSpPr/>
            <p:nvPr/>
          </p:nvSpPr>
          <p:spPr>
            <a:xfrm flipH="false" flipV="false" rot="0">
              <a:off x="0" y="0"/>
              <a:ext cx="11041595" cy="4226091"/>
            </a:xfrm>
            <a:custGeom>
              <a:avLst/>
              <a:gdLst/>
              <a:ahLst/>
              <a:cxnLst/>
              <a:rect r="r" b="b" t="t" l="l"/>
              <a:pathLst>
                <a:path h="4226091" w="11041595">
                  <a:moveTo>
                    <a:pt x="0" y="704349"/>
                  </a:moveTo>
                  <a:cubicBezTo>
                    <a:pt x="0" y="315389"/>
                    <a:pt x="285362" y="0"/>
                    <a:pt x="637291" y="0"/>
                  </a:cubicBezTo>
                  <a:lnTo>
                    <a:pt x="10404304" y="0"/>
                  </a:lnTo>
                  <a:cubicBezTo>
                    <a:pt x="10756233" y="0"/>
                    <a:pt x="11041595" y="315389"/>
                    <a:pt x="11041595" y="704349"/>
                  </a:cubicBezTo>
                  <a:lnTo>
                    <a:pt x="11041595" y="3521743"/>
                  </a:lnTo>
                  <a:cubicBezTo>
                    <a:pt x="11041595" y="3910702"/>
                    <a:pt x="10756233" y="4226091"/>
                    <a:pt x="10404304" y="4226091"/>
                  </a:cubicBezTo>
                  <a:lnTo>
                    <a:pt x="637291" y="4226091"/>
                  </a:lnTo>
                  <a:cubicBezTo>
                    <a:pt x="285362" y="4226091"/>
                    <a:pt x="0" y="3910702"/>
                    <a:pt x="0" y="3521743"/>
                  </a:cubicBezTo>
                  <a:close/>
                </a:path>
              </a:pathLst>
            </a:custGeom>
            <a:solidFill>
              <a:srgbClr val="FAF5EB"/>
            </a:solidFill>
            <a:ln w="17145" cap="sq">
              <a:solidFill>
                <a:srgbClr val="D5D0C5"/>
              </a:solidFill>
              <a:prstDash val="solid"/>
              <a:miter/>
            </a:ln>
          </p:spPr>
        </p:sp>
      </p:grpSp>
      <p:grpSp>
        <p:nvGrpSpPr>
          <p:cNvPr name="Group 6" id="6"/>
          <p:cNvGrpSpPr/>
          <p:nvPr/>
        </p:nvGrpSpPr>
        <p:grpSpPr>
          <a:xfrm rot="0">
            <a:off x="616458" y="3162732"/>
            <a:ext cx="8281196" cy="2889596"/>
            <a:chOff x="0" y="0"/>
            <a:chExt cx="11041595" cy="3852795"/>
          </a:xfrm>
        </p:grpSpPr>
        <p:sp>
          <p:nvSpPr>
            <p:cNvPr name="Freeform 7" id="7"/>
            <p:cNvSpPr/>
            <p:nvPr/>
          </p:nvSpPr>
          <p:spPr>
            <a:xfrm flipH="false" flipV="false" rot="0">
              <a:off x="0" y="0"/>
              <a:ext cx="11041595" cy="3852795"/>
            </a:xfrm>
            <a:custGeom>
              <a:avLst/>
              <a:gdLst/>
              <a:ahLst/>
              <a:cxnLst/>
              <a:rect r="r" b="b" t="t" l="l"/>
              <a:pathLst>
                <a:path h="3852795" w="11041595">
                  <a:moveTo>
                    <a:pt x="0" y="642133"/>
                  </a:moveTo>
                  <a:cubicBezTo>
                    <a:pt x="0" y="287530"/>
                    <a:pt x="285362" y="0"/>
                    <a:pt x="637291" y="0"/>
                  </a:cubicBezTo>
                  <a:lnTo>
                    <a:pt x="10404304" y="0"/>
                  </a:lnTo>
                  <a:cubicBezTo>
                    <a:pt x="10756233" y="0"/>
                    <a:pt x="11041595" y="287530"/>
                    <a:pt x="11041595" y="642133"/>
                  </a:cubicBezTo>
                  <a:lnTo>
                    <a:pt x="11041595" y="3210663"/>
                  </a:lnTo>
                  <a:cubicBezTo>
                    <a:pt x="11041595" y="3565265"/>
                    <a:pt x="10756233" y="3852795"/>
                    <a:pt x="10404304" y="3852795"/>
                  </a:cubicBezTo>
                  <a:lnTo>
                    <a:pt x="637291" y="3852795"/>
                  </a:lnTo>
                  <a:cubicBezTo>
                    <a:pt x="285362" y="3852795"/>
                    <a:pt x="0" y="3565265"/>
                    <a:pt x="0" y="3210663"/>
                  </a:cubicBezTo>
                  <a:close/>
                </a:path>
              </a:pathLst>
            </a:custGeom>
            <a:solidFill>
              <a:srgbClr val="FAF5EB"/>
            </a:solidFill>
            <a:ln w="17145" cap="sq">
              <a:solidFill>
                <a:srgbClr val="D5D0C5"/>
              </a:solidFill>
              <a:prstDash val="solid"/>
              <a:miter/>
            </a:ln>
          </p:spPr>
        </p:sp>
      </p:grpSp>
      <p:sp>
        <p:nvSpPr>
          <p:cNvPr name="Freeform 8" id="8"/>
          <p:cNvSpPr/>
          <p:nvPr/>
        </p:nvSpPr>
        <p:spPr>
          <a:xfrm flipH="false" flipV="false" rot="0">
            <a:off x="748910" y="3699086"/>
            <a:ext cx="8010661" cy="1277293"/>
          </a:xfrm>
          <a:custGeom>
            <a:avLst/>
            <a:gdLst/>
            <a:ahLst/>
            <a:cxnLst/>
            <a:rect r="r" b="b" t="t" l="l"/>
            <a:pathLst>
              <a:path h="1277293" w="8010661">
                <a:moveTo>
                  <a:pt x="0" y="0"/>
                </a:moveTo>
                <a:lnTo>
                  <a:pt x="8010661" y="0"/>
                </a:lnTo>
                <a:lnTo>
                  <a:pt x="8010661" y="1277293"/>
                </a:lnTo>
                <a:lnTo>
                  <a:pt x="0" y="1277293"/>
                </a:lnTo>
                <a:lnTo>
                  <a:pt x="0" y="0"/>
                </a:lnTo>
                <a:close/>
              </a:path>
            </a:pathLst>
          </a:custGeom>
          <a:blipFill>
            <a:blip r:embed="rId2"/>
            <a:stretch>
              <a:fillRect l="0" t="-2263" r="0" b="-2263"/>
            </a:stretch>
          </a:blipFill>
        </p:spPr>
      </p:sp>
      <p:grpSp>
        <p:nvGrpSpPr>
          <p:cNvPr name="Group 9" id="9"/>
          <p:cNvGrpSpPr/>
          <p:nvPr/>
        </p:nvGrpSpPr>
        <p:grpSpPr>
          <a:xfrm rot="0">
            <a:off x="9332077" y="3162732"/>
            <a:ext cx="8281196" cy="2889596"/>
            <a:chOff x="0" y="0"/>
            <a:chExt cx="11041595" cy="3852795"/>
          </a:xfrm>
        </p:grpSpPr>
        <p:sp>
          <p:nvSpPr>
            <p:cNvPr name="Freeform 10" id="10"/>
            <p:cNvSpPr/>
            <p:nvPr/>
          </p:nvSpPr>
          <p:spPr>
            <a:xfrm flipH="false" flipV="false" rot="0">
              <a:off x="0" y="0"/>
              <a:ext cx="11041595" cy="3852795"/>
            </a:xfrm>
            <a:custGeom>
              <a:avLst/>
              <a:gdLst/>
              <a:ahLst/>
              <a:cxnLst/>
              <a:rect r="r" b="b" t="t" l="l"/>
              <a:pathLst>
                <a:path h="3852795" w="11041595">
                  <a:moveTo>
                    <a:pt x="0" y="642133"/>
                  </a:moveTo>
                  <a:cubicBezTo>
                    <a:pt x="0" y="287530"/>
                    <a:pt x="285362" y="0"/>
                    <a:pt x="637291" y="0"/>
                  </a:cubicBezTo>
                  <a:lnTo>
                    <a:pt x="10404304" y="0"/>
                  </a:lnTo>
                  <a:cubicBezTo>
                    <a:pt x="10756233" y="0"/>
                    <a:pt x="11041595" y="287530"/>
                    <a:pt x="11041595" y="642133"/>
                  </a:cubicBezTo>
                  <a:lnTo>
                    <a:pt x="11041595" y="3210663"/>
                  </a:lnTo>
                  <a:cubicBezTo>
                    <a:pt x="11041595" y="3565265"/>
                    <a:pt x="10756233" y="3852795"/>
                    <a:pt x="10404304" y="3852795"/>
                  </a:cubicBezTo>
                  <a:lnTo>
                    <a:pt x="637291" y="3852795"/>
                  </a:lnTo>
                  <a:cubicBezTo>
                    <a:pt x="285362" y="3852795"/>
                    <a:pt x="0" y="3565265"/>
                    <a:pt x="0" y="3210663"/>
                  </a:cubicBezTo>
                  <a:close/>
                </a:path>
              </a:pathLst>
            </a:custGeom>
            <a:solidFill>
              <a:srgbClr val="FAF5EB"/>
            </a:solidFill>
            <a:ln w="17145" cap="sq">
              <a:solidFill>
                <a:srgbClr val="D5D0C5"/>
              </a:solidFill>
              <a:prstDash val="solid"/>
              <a:miter/>
            </a:ln>
          </p:spPr>
        </p:sp>
      </p:grpSp>
      <p:sp>
        <p:nvSpPr>
          <p:cNvPr name="Freeform 11" id="11"/>
          <p:cNvSpPr/>
          <p:nvPr/>
        </p:nvSpPr>
        <p:spPr>
          <a:xfrm flipH="false" flipV="false" rot="0">
            <a:off x="9571863" y="3627698"/>
            <a:ext cx="7801623" cy="1537570"/>
          </a:xfrm>
          <a:custGeom>
            <a:avLst/>
            <a:gdLst/>
            <a:ahLst/>
            <a:cxnLst/>
            <a:rect r="r" b="b" t="t" l="l"/>
            <a:pathLst>
              <a:path h="1537570" w="7801623">
                <a:moveTo>
                  <a:pt x="0" y="0"/>
                </a:moveTo>
                <a:lnTo>
                  <a:pt x="7801623" y="0"/>
                </a:lnTo>
                <a:lnTo>
                  <a:pt x="7801623" y="1537570"/>
                </a:lnTo>
                <a:lnTo>
                  <a:pt x="0" y="1537570"/>
                </a:lnTo>
                <a:lnTo>
                  <a:pt x="0" y="0"/>
                </a:lnTo>
                <a:close/>
              </a:path>
            </a:pathLst>
          </a:custGeom>
          <a:blipFill>
            <a:blip r:embed="rId3"/>
            <a:stretch>
              <a:fillRect l="0" t="0" r="0" b="0"/>
            </a:stretch>
          </a:blipFill>
        </p:spPr>
      </p:sp>
      <p:sp>
        <p:nvSpPr>
          <p:cNvPr name="Freeform 12" id="12"/>
          <p:cNvSpPr/>
          <p:nvPr/>
        </p:nvSpPr>
        <p:spPr>
          <a:xfrm flipH="false" flipV="false" rot="0">
            <a:off x="1824167" y="7002415"/>
            <a:ext cx="4377955" cy="1417098"/>
          </a:xfrm>
          <a:custGeom>
            <a:avLst/>
            <a:gdLst/>
            <a:ahLst/>
            <a:cxnLst/>
            <a:rect r="r" b="b" t="t" l="l"/>
            <a:pathLst>
              <a:path h="1417098" w="4377955">
                <a:moveTo>
                  <a:pt x="0" y="0"/>
                </a:moveTo>
                <a:lnTo>
                  <a:pt x="4377955" y="0"/>
                </a:lnTo>
                <a:lnTo>
                  <a:pt x="4377955" y="1417098"/>
                </a:lnTo>
                <a:lnTo>
                  <a:pt x="0" y="1417098"/>
                </a:lnTo>
                <a:lnTo>
                  <a:pt x="0" y="0"/>
                </a:lnTo>
                <a:close/>
              </a:path>
            </a:pathLst>
          </a:custGeom>
          <a:blipFill>
            <a:blip r:embed="rId4"/>
            <a:stretch>
              <a:fillRect l="-153" t="-1073" r="0" b="-893"/>
            </a:stretch>
          </a:blipFill>
        </p:spPr>
      </p:sp>
      <p:grpSp>
        <p:nvGrpSpPr>
          <p:cNvPr name="Group 13" id="13"/>
          <p:cNvGrpSpPr/>
          <p:nvPr/>
        </p:nvGrpSpPr>
        <p:grpSpPr>
          <a:xfrm rot="0">
            <a:off x="9341602" y="6433328"/>
            <a:ext cx="8271671" cy="3274343"/>
            <a:chOff x="0" y="0"/>
            <a:chExt cx="11028895" cy="4365791"/>
          </a:xfrm>
        </p:grpSpPr>
        <p:sp>
          <p:nvSpPr>
            <p:cNvPr name="Freeform 14" id="14"/>
            <p:cNvSpPr/>
            <p:nvPr/>
          </p:nvSpPr>
          <p:spPr>
            <a:xfrm flipH="false" flipV="false" rot="0">
              <a:off x="0" y="0"/>
              <a:ext cx="11028895" cy="4365791"/>
            </a:xfrm>
            <a:custGeom>
              <a:avLst/>
              <a:gdLst/>
              <a:ahLst/>
              <a:cxnLst/>
              <a:rect r="r" b="b" t="t" l="l"/>
              <a:pathLst>
                <a:path h="4365791" w="11028895">
                  <a:moveTo>
                    <a:pt x="0" y="727632"/>
                  </a:moveTo>
                  <a:cubicBezTo>
                    <a:pt x="0" y="325814"/>
                    <a:pt x="285034" y="0"/>
                    <a:pt x="636558" y="0"/>
                  </a:cubicBezTo>
                  <a:lnTo>
                    <a:pt x="10392338" y="0"/>
                  </a:lnTo>
                  <a:cubicBezTo>
                    <a:pt x="10743861" y="0"/>
                    <a:pt x="11028895" y="325814"/>
                    <a:pt x="11028895" y="727632"/>
                  </a:cubicBezTo>
                  <a:lnTo>
                    <a:pt x="11028895" y="3638159"/>
                  </a:lnTo>
                  <a:cubicBezTo>
                    <a:pt x="11028895" y="4039977"/>
                    <a:pt x="10743861" y="4365791"/>
                    <a:pt x="10392338" y="4365791"/>
                  </a:cubicBezTo>
                  <a:lnTo>
                    <a:pt x="636558" y="4365791"/>
                  </a:lnTo>
                  <a:cubicBezTo>
                    <a:pt x="285034" y="4365791"/>
                    <a:pt x="0" y="4039977"/>
                    <a:pt x="0" y="3638159"/>
                  </a:cubicBezTo>
                  <a:close/>
                </a:path>
              </a:pathLst>
            </a:custGeom>
            <a:solidFill>
              <a:srgbClr val="FAF5EB"/>
            </a:solidFill>
            <a:ln w="17145" cap="sq">
              <a:solidFill>
                <a:srgbClr val="D5D0C5"/>
              </a:solidFill>
              <a:prstDash val="solid"/>
              <a:miter/>
            </a:ln>
          </p:spPr>
        </p:sp>
      </p:grpSp>
      <p:sp>
        <p:nvSpPr>
          <p:cNvPr name="Freeform 15" id="15"/>
          <p:cNvSpPr/>
          <p:nvPr/>
        </p:nvSpPr>
        <p:spPr>
          <a:xfrm flipH="false" flipV="false" rot="0">
            <a:off x="10142464" y="6970561"/>
            <a:ext cx="6536750" cy="1821491"/>
          </a:xfrm>
          <a:custGeom>
            <a:avLst/>
            <a:gdLst/>
            <a:ahLst/>
            <a:cxnLst/>
            <a:rect r="r" b="b" t="t" l="l"/>
            <a:pathLst>
              <a:path h="1821491" w="6536750">
                <a:moveTo>
                  <a:pt x="0" y="0"/>
                </a:moveTo>
                <a:lnTo>
                  <a:pt x="6536750" y="0"/>
                </a:lnTo>
                <a:lnTo>
                  <a:pt x="6536750" y="1821490"/>
                </a:lnTo>
                <a:lnTo>
                  <a:pt x="0" y="1821490"/>
                </a:lnTo>
                <a:lnTo>
                  <a:pt x="0" y="0"/>
                </a:lnTo>
                <a:close/>
              </a:path>
            </a:pathLst>
          </a:custGeom>
          <a:blipFill>
            <a:blip r:embed="rId5"/>
            <a:stretch>
              <a:fillRect l="-57" t="0" r="-57" b="0"/>
            </a:stretch>
          </a:blipFill>
        </p:spPr>
      </p:sp>
      <p:sp>
        <p:nvSpPr>
          <p:cNvPr name="TextBox 16" id="16"/>
          <p:cNvSpPr txBox="true"/>
          <p:nvPr/>
        </p:nvSpPr>
        <p:spPr>
          <a:xfrm rot="0">
            <a:off x="1204971" y="6629876"/>
            <a:ext cx="7402068" cy="333375"/>
          </a:xfrm>
          <a:prstGeom prst="rect">
            <a:avLst/>
          </a:prstGeom>
        </p:spPr>
        <p:txBody>
          <a:bodyPr anchor="t" rtlCol="false" tIns="0" lIns="0" bIns="0" rIns="0">
            <a:spAutoFit/>
          </a:bodyPr>
          <a:lstStyle/>
          <a:p>
            <a:pPr algn="l">
              <a:lnSpc>
                <a:spcPts val="2627"/>
              </a:lnSpc>
            </a:pPr>
            <a:r>
              <a:rPr lang="en-US" sz="2189" b="true">
                <a:solidFill>
                  <a:srgbClr val="051D3A"/>
                </a:solidFill>
                <a:latin typeface="Aptos Bold"/>
                <a:ea typeface="Aptos Bold"/>
                <a:cs typeface="Aptos Bold"/>
                <a:sym typeface="Aptos Bold"/>
              </a:rPr>
              <a:t>Exponentially decaying historical weights</a:t>
            </a:r>
          </a:p>
        </p:txBody>
      </p:sp>
      <p:sp>
        <p:nvSpPr>
          <p:cNvPr name="TextBox 17" id="17"/>
          <p:cNvSpPr txBox="true"/>
          <p:nvPr/>
        </p:nvSpPr>
        <p:spPr>
          <a:xfrm rot="0">
            <a:off x="9599295" y="3294323"/>
            <a:ext cx="7731252" cy="333375"/>
          </a:xfrm>
          <a:prstGeom prst="rect">
            <a:avLst/>
          </a:prstGeom>
        </p:spPr>
        <p:txBody>
          <a:bodyPr anchor="t" rtlCol="false" tIns="0" lIns="0" bIns="0" rIns="0">
            <a:spAutoFit/>
          </a:bodyPr>
          <a:lstStyle/>
          <a:p>
            <a:pPr algn="l">
              <a:lnSpc>
                <a:spcPts val="2639"/>
              </a:lnSpc>
            </a:pPr>
            <a:r>
              <a:rPr lang="en-US" sz="2199" b="true">
                <a:solidFill>
                  <a:srgbClr val="051D3A"/>
                </a:solidFill>
                <a:latin typeface="Aptos Bold"/>
                <a:ea typeface="Aptos Bold"/>
                <a:cs typeface="Aptos Bold"/>
                <a:sym typeface="Aptos Bold"/>
              </a:rPr>
              <a:t>Asymmetric downside risk</a:t>
            </a:r>
          </a:p>
        </p:txBody>
      </p:sp>
      <p:sp>
        <p:nvSpPr>
          <p:cNvPr name="TextBox 18" id="18"/>
          <p:cNvSpPr txBox="true"/>
          <p:nvPr/>
        </p:nvSpPr>
        <p:spPr>
          <a:xfrm rot="0">
            <a:off x="1120331" y="3308414"/>
            <a:ext cx="7402068" cy="333375"/>
          </a:xfrm>
          <a:prstGeom prst="rect">
            <a:avLst/>
          </a:prstGeom>
        </p:spPr>
        <p:txBody>
          <a:bodyPr anchor="t" rtlCol="false" tIns="0" lIns="0" bIns="0" rIns="0">
            <a:spAutoFit/>
          </a:bodyPr>
          <a:lstStyle/>
          <a:p>
            <a:pPr algn="l">
              <a:lnSpc>
                <a:spcPts val="2627"/>
              </a:lnSpc>
            </a:pPr>
            <a:r>
              <a:rPr lang="en-US" sz="2189" b="true">
                <a:solidFill>
                  <a:srgbClr val="051D3A"/>
                </a:solidFill>
                <a:latin typeface="Aptos Bold"/>
                <a:ea typeface="Aptos Bold"/>
                <a:cs typeface="Aptos Bold"/>
                <a:sym typeface="Aptos Bold"/>
              </a:rPr>
              <a:t>Symmetric return variability around a benchmark</a:t>
            </a:r>
          </a:p>
        </p:txBody>
      </p:sp>
      <p:sp>
        <p:nvSpPr>
          <p:cNvPr name="TextBox 19" id="19"/>
          <p:cNvSpPr txBox="true"/>
          <p:nvPr/>
        </p:nvSpPr>
        <p:spPr>
          <a:xfrm rot="0">
            <a:off x="844732" y="459867"/>
            <a:ext cx="4806315" cy="409575"/>
          </a:xfrm>
          <a:prstGeom prst="rect">
            <a:avLst/>
          </a:prstGeom>
        </p:spPr>
        <p:txBody>
          <a:bodyPr anchor="t" rtlCol="false" tIns="0" lIns="0" bIns="0" rIns="0">
            <a:spAutoFit/>
          </a:bodyPr>
          <a:lstStyle/>
          <a:p>
            <a:pPr algn="l">
              <a:lnSpc>
                <a:spcPts val="3264"/>
              </a:lnSpc>
            </a:pPr>
            <a:r>
              <a:rPr lang="en-US" sz="2720" b="true">
                <a:solidFill>
                  <a:srgbClr val="3371A5"/>
                </a:solidFill>
                <a:latin typeface="Aptos Bold"/>
                <a:ea typeface="Aptos Bold"/>
                <a:cs typeface="Aptos Bold"/>
                <a:sym typeface="Aptos Bold"/>
              </a:rPr>
              <a:t>SECTION 7 — RISK MEASURES</a:t>
            </a:r>
          </a:p>
        </p:txBody>
      </p:sp>
      <p:sp>
        <p:nvSpPr>
          <p:cNvPr name="TextBox 20" id="20"/>
          <p:cNvSpPr txBox="true"/>
          <p:nvPr/>
        </p:nvSpPr>
        <p:spPr>
          <a:xfrm rot="0">
            <a:off x="616458" y="1297591"/>
            <a:ext cx="16386048" cy="514350"/>
          </a:xfrm>
          <a:prstGeom prst="rect">
            <a:avLst/>
          </a:prstGeom>
        </p:spPr>
        <p:txBody>
          <a:bodyPr anchor="t" rtlCol="false" tIns="0" lIns="0" bIns="0" rIns="0">
            <a:spAutoFit/>
          </a:bodyPr>
          <a:lstStyle/>
          <a:p>
            <a:pPr algn="l">
              <a:lnSpc>
                <a:spcPts val="4110"/>
              </a:lnSpc>
            </a:pPr>
            <a:r>
              <a:rPr lang="en-US" sz="3425">
                <a:solidFill>
                  <a:srgbClr val="051D3A"/>
                </a:solidFill>
                <a:latin typeface="Aptos"/>
                <a:ea typeface="Aptos"/>
                <a:cs typeface="Aptos"/>
                <a:sym typeface="Aptos"/>
              </a:rPr>
              <a:t>Risk Measures &amp; Mathematical Modifications</a:t>
            </a:r>
          </a:p>
        </p:txBody>
      </p:sp>
      <p:sp>
        <p:nvSpPr>
          <p:cNvPr name="TextBox 21" id="21"/>
          <p:cNvSpPr txBox="true"/>
          <p:nvPr/>
        </p:nvSpPr>
        <p:spPr>
          <a:xfrm rot="0">
            <a:off x="627639" y="2088166"/>
            <a:ext cx="16731673" cy="666750"/>
          </a:xfrm>
          <a:prstGeom prst="rect">
            <a:avLst/>
          </a:prstGeom>
        </p:spPr>
        <p:txBody>
          <a:bodyPr anchor="t" rtlCol="false" tIns="0" lIns="0" bIns="0" rIns="0">
            <a:spAutoFit/>
          </a:bodyPr>
          <a:lstStyle/>
          <a:p>
            <a:pPr algn="l">
              <a:lnSpc>
                <a:spcPts val="2674"/>
              </a:lnSpc>
            </a:pPr>
            <a:r>
              <a:rPr lang="en-US" sz="2228">
                <a:solidFill>
                  <a:srgbClr val="2E3B4A"/>
                </a:solidFill>
                <a:latin typeface="Aptos"/>
                <a:ea typeface="Aptos"/>
                <a:cs typeface="Aptos"/>
                <a:sym typeface="Aptos"/>
              </a:rPr>
              <a:t>Opti-Money extends basic Markowitz by measuring risk relative to benchmarks, emphasizing downside performance and lightly tracking the market portfolio.</a:t>
            </a:r>
          </a:p>
        </p:txBody>
      </p:sp>
      <p:sp>
        <p:nvSpPr>
          <p:cNvPr name="TextBox 22" id="22"/>
          <p:cNvSpPr txBox="true"/>
          <p:nvPr/>
        </p:nvSpPr>
        <p:spPr>
          <a:xfrm rot="0">
            <a:off x="1147762" y="5043202"/>
            <a:ext cx="7292340" cy="638175"/>
          </a:xfrm>
          <a:prstGeom prst="rect">
            <a:avLst/>
          </a:prstGeom>
        </p:spPr>
        <p:txBody>
          <a:bodyPr anchor="t" rtlCol="false" tIns="0" lIns="0" bIns="0" rIns="0">
            <a:spAutoFit/>
          </a:bodyPr>
          <a:lstStyle/>
          <a:p>
            <a:pPr algn="l">
              <a:lnSpc>
                <a:spcPts val="2561"/>
              </a:lnSpc>
            </a:pPr>
            <a:r>
              <a:rPr lang="en-US" sz="2134">
                <a:solidFill>
                  <a:srgbClr val="2E3B4A"/>
                </a:solidFill>
                <a:latin typeface="Aptos"/>
                <a:ea typeface="Aptos"/>
                <a:cs typeface="Aptos"/>
                <a:sym typeface="Aptos"/>
              </a:rPr>
              <a:t>Measures up- and down-variability of portfolio performance around a known benchmark.</a:t>
            </a:r>
          </a:p>
        </p:txBody>
      </p:sp>
      <p:sp>
        <p:nvSpPr>
          <p:cNvPr name="TextBox 23" id="23"/>
          <p:cNvSpPr txBox="true"/>
          <p:nvPr/>
        </p:nvSpPr>
        <p:spPr>
          <a:xfrm rot="0">
            <a:off x="9599295" y="5260181"/>
            <a:ext cx="7621524" cy="333375"/>
          </a:xfrm>
          <a:prstGeom prst="rect">
            <a:avLst/>
          </a:prstGeom>
        </p:spPr>
        <p:txBody>
          <a:bodyPr anchor="t" rtlCol="false" tIns="0" lIns="0" bIns="0" rIns="0">
            <a:spAutoFit/>
          </a:bodyPr>
          <a:lstStyle/>
          <a:p>
            <a:pPr algn="l">
              <a:lnSpc>
                <a:spcPts val="2639"/>
              </a:lnSpc>
            </a:pPr>
            <a:r>
              <a:rPr lang="en-US" sz="2199">
                <a:solidFill>
                  <a:srgbClr val="2E3B4A"/>
                </a:solidFill>
                <a:latin typeface="Aptos"/>
                <a:ea typeface="Aptos"/>
                <a:cs typeface="Aptos"/>
                <a:sym typeface="Aptos"/>
              </a:rPr>
              <a:t>Keeps only underperformance relative to the benchmark.</a:t>
            </a:r>
          </a:p>
        </p:txBody>
      </p:sp>
      <p:sp>
        <p:nvSpPr>
          <p:cNvPr name="TextBox 24" id="24"/>
          <p:cNvSpPr txBox="true"/>
          <p:nvPr/>
        </p:nvSpPr>
        <p:spPr>
          <a:xfrm rot="0">
            <a:off x="9577060" y="6677501"/>
            <a:ext cx="7722360" cy="333375"/>
          </a:xfrm>
          <a:prstGeom prst="rect">
            <a:avLst/>
          </a:prstGeom>
        </p:spPr>
        <p:txBody>
          <a:bodyPr anchor="t" rtlCol="false" tIns="0" lIns="0" bIns="0" rIns="0">
            <a:spAutoFit/>
          </a:bodyPr>
          <a:lstStyle/>
          <a:p>
            <a:pPr algn="l">
              <a:lnSpc>
                <a:spcPts val="2639"/>
              </a:lnSpc>
            </a:pPr>
            <a:r>
              <a:rPr lang="en-US" sz="2199" b="true">
                <a:solidFill>
                  <a:srgbClr val="051D3A"/>
                </a:solidFill>
                <a:latin typeface="Aptos Bold"/>
                <a:ea typeface="Aptos Bold"/>
                <a:cs typeface="Aptos Bold"/>
                <a:sym typeface="Aptos Bold"/>
              </a:rPr>
              <a:t>Modified risk measure with market tracking</a:t>
            </a:r>
          </a:p>
        </p:txBody>
      </p:sp>
      <p:sp>
        <p:nvSpPr>
          <p:cNvPr name="TextBox 25" id="25"/>
          <p:cNvSpPr txBox="true"/>
          <p:nvPr/>
        </p:nvSpPr>
        <p:spPr>
          <a:xfrm rot="0">
            <a:off x="9631861" y="8792051"/>
            <a:ext cx="7612758" cy="666750"/>
          </a:xfrm>
          <a:prstGeom prst="rect">
            <a:avLst/>
          </a:prstGeom>
        </p:spPr>
        <p:txBody>
          <a:bodyPr anchor="t" rtlCol="false" tIns="0" lIns="0" bIns="0" rIns="0">
            <a:spAutoFit/>
          </a:bodyPr>
          <a:lstStyle/>
          <a:p>
            <a:pPr algn="l">
              <a:lnSpc>
                <a:spcPts val="2639"/>
              </a:lnSpc>
            </a:pPr>
            <a:r>
              <a:rPr lang="en-US" sz="2199">
                <a:solidFill>
                  <a:srgbClr val="535E6C"/>
                </a:solidFill>
                <a:latin typeface="Aptos"/>
                <a:ea typeface="Aptos"/>
                <a:cs typeface="Aptos"/>
                <a:sym typeface="Aptos"/>
              </a:rPr>
              <a:t>γ is a small positive constant; the second term is the Euclidean distance from the value-weighted market portfolio.</a:t>
            </a:r>
          </a:p>
        </p:txBody>
      </p:sp>
      <p:sp>
        <p:nvSpPr>
          <p:cNvPr name="TextBox 26" id="26"/>
          <p:cNvSpPr txBox="true"/>
          <p:nvPr/>
        </p:nvSpPr>
        <p:spPr>
          <a:xfrm rot="0">
            <a:off x="1017519" y="8458676"/>
            <a:ext cx="7292340" cy="1000125"/>
          </a:xfrm>
          <a:prstGeom prst="rect">
            <a:avLst/>
          </a:prstGeom>
        </p:spPr>
        <p:txBody>
          <a:bodyPr anchor="t" rtlCol="false" tIns="0" lIns="0" bIns="0" rIns="0">
            <a:spAutoFit/>
          </a:bodyPr>
          <a:lstStyle/>
          <a:p>
            <a:pPr algn="l">
              <a:lnSpc>
                <a:spcPts val="2639"/>
              </a:lnSpc>
            </a:pPr>
            <a:r>
              <a:rPr lang="en-US" sz="2199">
                <a:solidFill>
                  <a:srgbClr val="535E6C"/>
                </a:solidFill>
                <a:latin typeface="Aptos"/>
                <a:ea typeface="Aptos"/>
                <a:cs typeface="Aptos"/>
                <a:sym typeface="Aptos"/>
              </a:rPr>
              <a:t>The model usually observes T = 36 months. λ = 1 gives equal weights; the paper gives λ = 0.95 as an example, so recent observations receive greater weight.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586924" y="2223266"/>
            <a:ext cx="7170121" cy="7805154"/>
            <a:chOff x="0" y="0"/>
            <a:chExt cx="9606079" cy="10456857"/>
          </a:xfrm>
        </p:grpSpPr>
        <p:sp>
          <p:nvSpPr>
            <p:cNvPr name="Freeform 3" id="3"/>
            <p:cNvSpPr/>
            <p:nvPr/>
          </p:nvSpPr>
          <p:spPr>
            <a:xfrm flipH="false" flipV="false" rot="0">
              <a:off x="0" y="0"/>
              <a:ext cx="9606079" cy="10456857"/>
            </a:xfrm>
            <a:custGeom>
              <a:avLst/>
              <a:gdLst/>
              <a:ahLst/>
              <a:cxnLst/>
              <a:rect r="r" b="b" t="t" l="l"/>
              <a:pathLst>
                <a:path h="10456857" w="9606079">
                  <a:moveTo>
                    <a:pt x="0" y="1742691"/>
                  </a:moveTo>
                  <a:cubicBezTo>
                    <a:pt x="0" y="780123"/>
                    <a:pt x="216456" y="0"/>
                    <a:pt x="483533" y="0"/>
                  </a:cubicBezTo>
                  <a:lnTo>
                    <a:pt x="9122545" y="0"/>
                  </a:lnTo>
                  <a:cubicBezTo>
                    <a:pt x="9389623" y="0"/>
                    <a:pt x="9606079" y="780123"/>
                    <a:pt x="9606079" y="1742691"/>
                  </a:cubicBezTo>
                  <a:lnTo>
                    <a:pt x="9606079" y="8714167"/>
                  </a:lnTo>
                  <a:cubicBezTo>
                    <a:pt x="9606079" y="9676734"/>
                    <a:pt x="9389623" y="10456857"/>
                    <a:pt x="9122545" y="10456857"/>
                  </a:cubicBezTo>
                  <a:lnTo>
                    <a:pt x="483533" y="10456857"/>
                  </a:lnTo>
                  <a:cubicBezTo>
                    <a:pt x="216456" y="10456857"/>
                    <a:pt x="0" y="9676734"/>
                    <a:pt x="0" y="8714167"/>
                  </a:cubicBezTo>
                  <a:close/>
                </a:path>
              </a:pathLst>
            </a:custGeom>
            <a:solidFill>
              <a:srgbClr val="F9F4EA"/>
            </a:solidFill>
            <a:ln w="19050" cap="sq">
              <a:solidFill>
                <a:srgbClr val="D3CDC2"/>
              </a:solidFill>
              <a:prstDash val="solid"/>
              <a:miter/>
            </a:ln>
          </p:spPr>
        </p:sp>
      </p:grpSp>
      <p:grpSp>
        <p:nvGrpSpPr>
          <p:cNvPr name="Group 4" id="4"/>
          <p:cNvGrpSpPr/>
          <p:nvPr/>
        </p:nvGrpSpPr>
        <p:grpSpPr>
          <a:xfrm rot="0">
            <a:off x="830465" y="4434197"/>
            <a:ext cx="6926580" cy="1047402"/>
            <a:chOff x="0" y="0"/>
            <a:chExt cx="9235440" cy="1396536"/>
          </a:xfrm>
        </p:grpSpPr>
        <p:sp>
          <p:nvSpPr>
            <p:cNvPr name="Freeform 5" id="5"/>
            <p:cNvSpPr/>
            <p:nvPr/>
          </p:nvSpPr>
          <p:spPr>
            <a:xfrm flipH="false" flipV="false" rot="0">
              <a:off x="0" y="0"/>
              <a:ext cx="9235440" cy="1396536"/>
            </a:xfrm>
            <a:custGeom>
              <a:avLst/>
              <a:gdLst/>
              <a:ahLst/>
              <a:cxnLst/>
              <a:rect r="r" b="b" t="t" l="l"/>
              <a:pathLst>
                <a:path h="1396536" w="9235440">
                  <a:moveTo>
                    <a:pt x="0" y="0"/>
                  </a:moveTo>
                  <a:lnTo>
                    <a:pt x="9235440" y="0"/>
                  </a:lnTo>
                  <a:lnTo>
                    <a:pt x="9235440" y="1396536"/>
                  </a:lnTo>
                  <a:lnTo>
                    <a:pt x="0" y="1396536"/>
                  </a:lnTo>
                  <a:close/>
                </a:path>
              </a:pathLst>
            </a:custGeom>
            <a:blipFill>
              <a:blip r:embed="rId2">
                <a:alphaModFix amt="0"/>
              </a:blip>
              <a:stretch>
                <a:fillRect l="0" t="-97427" r="0" b="-60285"/>
              </a:stretch>
            </a:blipFill>
          </p:spPr>
        </p:sp>
        <p:sp>
          <p:nvSpPr>
            <p:cNvPr name="TextBox 6" id="6"/>
            <p:cNvSpPr txBox="true"/>
            <p:nvPr/>
          </p:nvSpPr>
          <p:spPr>
            <a:xfrm>
              <a:off x="0" y="0"/>
              <a:ext cx="9235440" cy="1396536"/>
            </a:xfrm>
            <a:prstGeom prst="rect">
              <a:avLst/>
            </a:prstGeom>
          </p:spPr>
          <p:txBody>
            <a:bodyPr anchor="ctr" rtlCol="false" tIns="0" lIns="0" bIns="0" rIns="0"/>
            <a:lstStyle/>
            <a:p>
              <a:pPr algn="ctr">
                <a:lnSpc>
                  <a:spcPts val="3329"/>
                </a:lnSpc>
              </a:pPr>
            </a:p>
          </p:txBody>
        </p:sp>
      </p:grpSp>
      <p:grpSp>
        <p:nvGrpSpPr>
          <p:cNvPr name="Group 7" id="7"/>
          <p:cNvGrpSpPr/>
          <p:nvPr/>
        </p:nvGrpSpPr>
        <p:grpSpPr>
          <a:xfrm rot="0">
            <a:off x="8398002" y="4794249"/>
            <a:ext cx="9606604" cy="3662546"/>
            <a:chOff x="0" y="0"/>
            <a:chExt cx="11601377" cy="4423059"/>
          </a:xfrm>
        </p:grpSpPr>
        <p:sp>
          <p:nvSpPr>
            <p:cNvPr name="Freeform 8" id="8"/>
            <p:cNvSpPr/>
            <p:nvPr/>
          </p:nvSpPr>
          <p:spPr>
            <a:xfrm flipH="false" flipV="false" rot="0">
              <a:off x="0" y="0"/>
              <a:ext cx="11601376" cy="4423059"/>
            </a:xfrm>
            <a:custGeom>
              <a:avLst/>
              <a:gdLst/>
              <a:ahLst/>
              <a:cxnLst/>
              <a:rect r="r" b="b" t="t" l="l"/>
              <a:pathLst>
                <a:path h="4423059" w="11601376">
                  <a:moveTo>
                    <a:pt x="0" y="737126"/>
                  </a:moveTo>
                  <a:cubicBezTo>
                    <a:pt x="0" y="329978"/>
                    <a:pt x="261416" y="0"/>
                    <a:pt x="583969" y="0"/>
                  </a:cubicBezTo>
                  <a:lnTo>
                    <a:pt x="11017407" y="0"/>
                  </a:lnTo>
                  <a:cubicBezTo>
                    <a:pt x="11339961" y="0"/>
                    <a:pt x="11601376" y="329978"/>
                    <a:pt x="11601376" y="737126"/>
                  </a:cubicBezTo>
                  <a:lnTo>
                    <a:pt x="11601376" y="3685933"/>
                  </a:lnTo>
                  <a:cubicBezTo>
                    <a:pt x="11601376" y="4093082"/>
                    <a:pt x="11339961" y="4423059"/>
                    <a:pt x="11017407" y="4423059"/>
                  </a:cubicBezTo>
                  <a:lnTo>
                    <a:pt x="583969" y="4423059"/>
                  </a:lnTo>
                  <a:cubicBezTo>
                    <a:pt x="261416" y="4423059"/>
                    <a:pt x="0" y="4093082"/>
                    <a:pt x="0" y="3685933"/>
                  </a:cubicBezTo>
                  <a:close/>
                </a:path>
              </a:pathLst>
            </a:custGeom>
            <a:solidFill>
              <a:srgbClr val="F9F4EA"/>
            </a:solidFill>
            <a:ln w="19050" cap="sq">
              <a:solidFill>
                <a:srgbClr val="D3CDC2"/>
              </a:solidFill>
              <a:prstDash val="solid"/>
              <a:miter/>
            </a:ln>
          </p:spPr>
        </p:sp>
      </p:grpSp>
      <p:grpSp>
        <p:nvGrpSpPr>
          <p:cNvPr name="Group 9" id="9"/>
          <p:cNvGrpSpPr/>
          <p:nvPr/>
        </p:nvGrpSpPr>
        <p:grpSpPr>
          <a:xfrm rot="0">
            <a:off x="8398002" y="8599670"/>
            <a:ext cx="9606604" cy="1576578"/>
            <a:chOff x="0" y="0"/>
            <a:chExt cx="12923071" cy="2120857"/>
          </a:xfrm>
        </p:grpSpPr>
        <p:sp>
          <p:nvSpPr>
            <p:cNvPr name="Freeform 10" id="10"/>
            <p:cNvSpPr/>
            <p:nvPr/>
          </p:nvSpPr>
          <p:spPr>
            <a:xfrm flipH="false" flipV="false" rot="0">
              <a:off x="0" y="0"/>
              <a:ext cx="12923072" cy="2120705"/>
            </a:xfrm>
            <a:custGeom>
              <a:avLst/>
              <a:gdLst/>
              <a:ahLst/>
              <a:cxnLst/>
              <a:rect r="r" b="b" t="t" l="l"/>
              <a:pathLst>
                <a:path h="2120705" w="12923072">
                  <a:moveTo>
                    <a:pt x="0" y="353426"/>
                  </a:moveTo>
                  <a:cubicBezTo>
                    <a:pt x="0" y="158187"/>
                    <a:pt x="193794" y="0"/>
                    <a:pt x="432980" y="0"/>
                  </a:cubicBezTo>
                  <a:lnTo>
                    <a:pt x="12490092" y="0"/>
                  </a:lnTo>
                  <a:cubicBezTo>
                    <a:pt x="12729277" y="0"/>
                    <a:pt x="12923072" y="158187"/>
                    <a:pt x="12923072" y="353426"/>
                  </a:cubicBezTo>
                  <a:lnTo>
                    <a:pt x="12923072" y="1767280"/>
                  </a:lnTo>
                  <a:cubicBezTo>
                    <a:pt x="12923072" y="1962518"/>
                    <a:pt x="12729277" y="2120705"/>
                    <a:pt x="12490092" y="2120705"/>
                  </a:cubicBezTo>
                  <a:lnTo>
                    <a:pt x="432980" y="2120705"/>
                  </a:lnTo>
                  <a:cubicBezTo>
                    <a:pt x="193794" y="2120857"/>
                    <a:pt x="0" y="1962670"/>
                    <a:pt x="0" y="1767431"/>
                  </a:cubicBezTo>
                  <a:close/>
                </a:path>
              </a:pathLst>
            </a:custGeom>
            <a:solidFill>
              <a:srgbClr val="F9F4EA"/>
            </a:solidFill>
            <a:ln w="19050" cap="sq">
              <a:solidFill>
                <a:srgbClr val="D3CDC2"/>
              </a:solidFill>
              <a:prstDash val="solid"/>
              <a:miter/>
            </a:ln>
          </p:spPr>
        </p:sp>
      </p:grpSp>
      <p:grpSp>
        <p:nvGrpSpPr>
          <p:cNvPr name="Group 11" id="11"/>
          <p:cNvGrpSpPr/>
          <p:nvPr/>
        </p:nvGrpSpPr>
        <p:grpSpPr>
          <a:xfrm rot="0">
            <a:off x="8398002" y="2240542"/>
            <a:ext cx="9606604" cy="2410832"/>
            <a:chOff x="0" y="0"/>
            <a:chExt cx="12870327" cy="3229882"/>
          </a:xfrm>
        </p:grpSpPr>
        <p:sp>
          <p:nvSpPr>
            <p:cNvPr name="Freeform 12" id="12"/>
            <p:cNvSpPr/>
            <p:nvPr/>
          </p:nvSpPr>
          <p:spPr>
            <a:xfrm flipH="false" flipV="false" rot="0">
              <a:off x="0" y="0"/>
              <a:ext cx="12870327" cy="3229882"/>
            </a:xfrm>
            <a:custGeom>
              <a:avLst/>
              <a:gdLst/>
              <a:ahLst/>
              <a:cxnLst/>
              <a:rect r="r" b="b" t="t" l="l"/>
              <a:pathLst>
                <a:path h="3229882" w="12870327">
                  <a:moveTo>
                    <a:pt x="0" y="538277"/>
                  </a:moveTo>
                  <a:cubicBezTo>
                    <a:pt x="0" y="240962"/>
                    <a:pt x="290010" y="0"/>
                    <a:pt x="647843" y="0"/>
                  </a:cubicBezTo>
                  <a:lnTo>
                    <a:pt x="12222483" y="0"/>
                  </a:lnTo>
                  <a:cubicBezTo>
                    <a:pt x="12580317" y="0"/>
                    <a:pt x="12870327" y="240962"/>
                    <a:pt x="12870327" y="538277"/>
                  </a:cubicBezTo>
                  <a:lnTo>
                    <a:pt x="12870327" y="2691605"/>
                  </a:lnTo>
                  <a:cubicBezTo>
                    <a:pt x="12870327" y="2988920"/>
                    <a:pt x="12580317" y="3229882"/>
                    <a:pt x="12222483" y="3229882"/>
                  </a:cubicBezTo>
                  <a:lnTo>
                    <a:pt x="647843" y="3229882"/>
                  </a:lnTo>
                  <a:cubicBezTo>
                    <a:pt x="290010" y="3229882"/>
                    <a:pt x="0" y="2988920"/>
                    <a:pt x="0" y="2691605"/>
                  </a:cubicBezTo>
                  <a:close/>
                </a:path>
              </a:pathLst>
            </a:custGeom>
            <a:solidFill>
              <a:srgbClr val="F9F4EA"/>
            </a:solidFill>
            <a:ln w="19050" cap="sq">
              <a:solidFill>
                <a:srgbClr val="D3CDC2"/>
              </a:solidFill>
              <a:prstDash val="solid"/>
              <a:miter/>
            </a:ln>
          </p:spPr>
        </p:sp>
      </p:grpSp>
      <p:sp>
        <p:nvSpPr>
          <p:cNvPr name="Freeform 13" id="13"/>
          <p:cNvSpPr/>
          <p:nvPr/>
        </p:nvSpPr>
        <p:spPr>
          <a:xfrm flipH="false" flipV="false" rot="0">
            <a:off x="2308254" y="3024497"/>
            <a:ext cx="2969391" cy="1092163"/>
          </a:xfrm>
          <a:custGeom>
            <a:avLst/>
            <a:gdLst/>
            <a:ahLst/>
            <a:cxnLst/>
            <a:rect r="r" b="b" t="t" l="l"/>
            <a:pathLst>
              <a:path h="1092163" w="2969391">
                <a:moveTo>
                  <a:pt x="0" y="0"/>
                </a:moveTo>
                <a:lnTo>
                  <a:pt x="2969391" y="0"/>
                </a:lnTo>
                <a:lnTo>
                  <a:pt x="2969391" y="1092163"/>
                </a:lnTo>
                <a:lnTo>
                  <a:pt x="0" y="1092163"/>
                </a:lnTo>
                <a:lnTo>
                  <a:pt x="0" y="0"/>
                </a:lnTo>
                <a:close/>
              </a:path>
            </a:pathLst>
          </a:custGeom>
          <a:blipFill>
            <a:blip r:embed="rId3"/>
            <a:stretch>
              <a:fillRect l="0" t="0" r="0" b="0"/>
            </a:stretch>
          </a:blipFill>
        </p:spPr>
      </p:sp>
      <p:grpSp>
        <p:nvGrpSpPr>
          <p:cNvPr name="Group 14" id="14"/>
          <p:cNvGrpSpPr/>
          <p:nvPr/>
        </p:nvGrpSpPr>
        <p:grpSpPr>
          <a:xfrm rot="0">
            <a:off x="586924" y="340163"/>
            <a:ext cx="4887858" cy="688537"/>
            <a:chOff x="0" y="0"/>
            <a:chExt cx="6014591" cy="847257"/>
          </a:xfrm>
        </p:grpSpPr>
        <p:sp>
          <p:nvSpPr>
            <p:cNvPr name="Freeform 15" id="15"/>
            <p:cNvSpPr/>
            <p:nvPr/>
          </p:nvSpPr>
          <p:spPr>
            <a:xfrm flipH="false" flipV="false" rot="0">
              <a:off x="0" y="0"/>
              <a:ext cx="6014420" cy="847257"/>
            </a:xfrm>
            <a:custGeom>
              <a:avLst/>
              <a:gdLst/>
              <a:ahLst/>
              <a:cxnLst/>
              <a:rect r="r" b="b" t="t" l="l"/>
              <a:pathLst>
                <a:path h="847257" w="6014420">
                  <a:moveTo>
                    <a:pt x="0" y="282356"/>
                  </a:moveTo>
                  <a:cubicBezTo>
                    <a:pt x="0" y="126521"/>
                    <a:pt x="143068" y="0"/>
                    <a:pt x="319284" y="0"/>
                  </a:cubicBezTo>
                  <a:lnTo>
                    <a:pt x="5695136" y="0"/>
                  </a:lnTo>
                  <a:cubicBezTo>
                    <a:pt x="5871566" y="0"/>
                    <a:pt x="6014420" y="126521"/>
                    <a:pt x="6014420" y="282356"/>
                  </a:cubicBezTo>
                  <a:lnTo>
                    <a:pt x="6014420" y="564901"/>
                  </a:lnTo>
                  <a:cubicBezTo>
                    <a:pt x="6014420" y="720925"/>
                    <a:pt x="5871352" y="847257"/>
                    <a:pt x="5695136" y="847257"/>
                  </a:cubicBezTo>
                  <a:lnTo>
                    <a:pt x="319284" y="847257"/>
                  </a:lnTo>
                  <a:cubicBezTo>
                    <a:pt x="143068" y="847257"/>
                    <a:pt x="0" y="720735"/>
                    <a:pt x="0" y="564901"/>
                  </a:cubicBezTo>
                  <a:close/>
                </a:path>
              </a:pathLst>
            </a:custGeom>
            <a:solidFill>
              <a:srgbClr val="FAF5EB"/>
            </a:solidFill>
            <a:ln w="15240" cap="sq">
              <a:solidFill>
                <a:srgbClr val="3371A5"/>
              </a:solidFill>
              <a:prstDash val="solid"/>
              <a:miter/>
            </a:ln>
          </p:spPr>
        </p:sp>
      </p:grpSp>
      <p:sp>
        <p:nvSpPr>
          <p:cNvPr name="Freeform 16" id="16"/>
          <p:cNvSpPr/>
          <p:nvPr/>
        </p:nvSpPr>
        <p:spPr>
          <a:xfrm flipH="false" flipV="false" rot="0">
            <a:off x="1543681" y="8694920"/>
            <a:ext cx="4896359" cy="1022115"/>
          </a:xfrm>
          <a:custGeom>
            <a:avLst/>
            <a:gdLst/>
            <a:ahLst/>
            <a:cxnLst/>
            <a:rect r="r" b="b" t="t" l="l"/>
            <a:pathLst>
              <a:path h="1022115" w="4896359">
                <a:moveTo>
                  <a:pt x="0" y="0"/>
                </a:moveTo>
                <a:lnTo>
                  <a:pt x="4896359" y="0"/>
                </a:lnTo>
                <a:lnTo>
                  <a:pt x="4896359" y="1022115"/>
                </a:lnTo>
                <a:lnTo>
                  <a:pt x="0" y="1022115"/>
                </a:lnTo>
                <a:lnTo>
                  <a:pt x="0" y="0"/>
                </a:lnTo>
                <a:close/>
              </a:path>
            </a:pathLst>
          </a:custGeom>
          <a:blipFill>
            <a:blip r:embed="rId4"/>
            <a:stretch>
              <a:fillRect l="0" t="0" r="0" b="0"/>
            </a:stretch>
          </a:blipFill>
        </p:spPr>
      </p:sp>
      <p:sp>
        <p:nvSpPr>
          <p:cNvPr name="Freeform 17" id="17"/>
          <p:cNvSpPr/>
          <p:nvPr/>
        </p:nvSpPr>
        <p:spPr>
          <a:xfrm flipH="false" flipV="false" rot="0">
            <a:off x="830465" y="5876830"/>
            <a:ext cx="6561016" cy="2285420"/>
          </a:xfrm>
          <a:custGeom>
            <a:avLst/>
            <a:gdLst/>
            <a:ahLst/>
            <a:cxnLst/>
            <a:rect r="r" b="b" t="t" l="l"/>
            <a:pathLst>
              <a:path h="2285420" w="6561016">
                <a:moveTo>
                  <a:pt x="0" y="0"/>
                </a:moveTo>
                <a:lnTo>
                  <a:pt x="6561016" y="0"/>
                </a:lnTo>
                <a:lnTo>
                  <a:pt x="6561016" y="2285420"/>
                </a:lnTo>
                <a:lnTo>
                  <a:pt x="0" y="2285420"/>
                </a:lnTo>
                <a:lnTo>
                  <a:pt x="0" y="0"/>
                </a:lnTo>
                <a:close/>
              </a:path>
            </a:pathLst>
          </a:custGeom>
          <a:blipFill>
            <a:blip r:embed="rId5"/>
            <a:stretch>
              <a:fillRect l="0" t="0" r="0" b="0"/>
            </a:stretch>
          </a:blipFill>
        </p:spPr>
      </p:sp>
      <p:sp>
        <p:nvSpPr>
          <p:cNvPr name="TextBox 18" id="18"/>
          <p:cNvSpPr txBox="true"/>
          <p:nvPr/>
        </p:nvSpPr>
        <p:spPr>
          <a:xfrm rot="0">
            <a:off x="837057" y="479644"/>
            <a:ext cx="4436938" cy="409575"/>
          </a:xfrm>
          <a:prstGeom prst="rect">
            <a:avLst/>
          </a:prstGeom>
        </p:spPr>
        <p:txBody>
          <a:bodyPr anchor="t" rtlCol="false" tIns="0" lIns="0" bIns="0" rIns="0">
            <a:spAutoFit/>
          </a:bodyPr>
          <a:lstStyle/>
          <a:p>
            <a:pPr algn="l">
              <a:lnSpc>
                <a:spcPts val="3264"/>
              </a:lnSpc>
            </a:pPr>
            <a:r>
              <a:rPr lang="en-US" sz="2720" b="true">
                <a:solidFill>
                  <a:srgbClr val="3371A5"/>
                </a:solidFill>
                <a:latin typeface="Aptos Bold"/>
                <a:ea typeface="Aptos Bold"/>
                <a:cs typeface="Aptos Bold"/>
                <a:sym typeface="Aptos Bold"/>
              </a:rPr>
              <a:t>SECTION 8 — CONSTRAINTS</a:t>
            </a:r>
          </a:p>
        </p:txBody>
      </p:sp>
      <p:sp>
        <p:nvSpPr>
          <p:cNvPr name="TextBox 19" id="19"/>
          <p:cNvSpPr txBox="true"/>
          <p:nvPr/>
        </p:nvSpPr>
        <p:spPr>
          <a:xfrm rot="0">
            <a:off x="868068" y="1127760"/>
            <a:ext cx="16386048" cy="640080"/>
          </a:xfrm>
          <a:prstGeom prst="rect">
            <a:avLst/>
          </a:prstGeom>
        </p:spPr>
        <p:txBody>
          <a:bodyPr anchor="t" rtlCol="false" tIns="0" lIns="0" bIns="0" rIns="0">
            <a:spAutoFit/>
          </a:bodyPr>
          <a:lstStyle/>
          <a:p>
            <a:pPr algn="l">
              <a:lnSpc>
                <a:spcPts val="4230"/>
              </a:lnSpc>
            </a:pPr>
            <a:r>
              <a:rPr lang="en-US" sz="3525">
                <a:solidFill>
                  <a:srgbClr val="082346"/>
                </a:solidFill>
                <a:latin typeface="Aptos"/>
                <a:ea typeface="Aptos"/>
                <a:cs typeface="Aptos"/>
                <a:sym typeface="Aptos"/>
              </a:rPr>
              <a:t>Classical Markowitz Risk &amp; Practical Constraints</a:t>
            </a:r>
          </a:p>
        </p:txBody>
      </p:sp>
      <p:sp>
        <p:nvSpPr>
          <p:cNvPr name="TextBox 20" id="20"/>
          <p:cNvSpPr txBox="true"/>
          <p:nvPr/>
        </p:nvSpPr>
        <p:spPr>
          <a:xfrm rot="0">
            <a:off x="837057" y="1767840"/>
            <a:ext cx="16386048" cy="295275"/>
          </a:xfrm>
          <a:prstGeom prst="rect">
            <a:avLst/>
          </a:prstGeom>
        </p:spPr>
        <p:txBody>
          <a:bodyPr anchor="t" rtlCol="false" tIns="0" lIns="0" bIns="0" rIns="0">
            <a:spAutoFit/>
          </a:bodyPr>
          <a:lstStyle/>
          <a:p>
            <a:pPr algn="l">
              <a:lnSpc>
                <a:spcPts val="2399"/>
              </a:lnSpc>
            </a:pPr>
            <a:r>
              <a:rPr lang="en-US" sz="1999">
                <a:solidFill>
                  <a:srgbClr val="303A49"/>
                </a:solidFill>
                <a:latin typeface="Aptos"/>
                <a:ea typeface="Aptos"/>
                <a:cs typeface="Aptos"/>
                <a:sym typeface="Aptos"/>
              </a:rPr>
              <a:t>The classical Markowitz risk measure provides the mathematical risk foundation; practical portfolio rules are then layered onto the optimization.</a:t>
            </a:r>
          </a:p>
        </p:txBody>
      </p:sp>
      <p:sp>
        <p:nvSpPr>
          <p:cNvPr name="TextBox 21" id="21"/>
          <p:cNvSpPr txBox="true"/>
          <p:nvPr/>
        </p:nvSpPr>
        <p:spPr>
          <a:xfrm rot="0">
            <a:off x="873708" y="2526530"/>
            <a:ext cx="7292340" cy="342900"/>
          </a:xfrm>
          <a:prstGeom prst="rect">
            <a:avLst/>
          </a:prstGeom>
        </p:spPr>
        <p:txBody>
          <a:bodyPr anchor="t" rtlCol="false" tIns="0" lIns="0" bIns="0" rIns="0">
            <a:spAutoFit/>
          </a:bodyPr>
          <a:lstStyle/>
          <a:p>
            <a:pPr algn="l">
              <a:lnSpc>
                <a:spcPts val="2747"/>
              </a:lnSpc>
            </a:pPr>
            <a:r>
              <a:rPr lang="en-US" sz="2289" b="true">
                <a:solidFill>
                  <a:srgbClr val="082346"/>
                </a:solidFill>
                <a:latin typeface="Aptos Bold"/>
                <a:ea typeface="Aptos Bold"/>
                <a:cs typeface="Aptos Bold"/>
                <a:sym typeface="Aptos Bold"/>
              </a:rPr>
              <a:t>Classical Markowitz portfolio risk</a:t>
            </a:r>
          </a:p>
        </p:txBody>
      </p:sp>
      <p:sp>
        <p:nvSpPr>
          <p:cNvPr name="TextBox 22" id="22"/>
          <p:cNvSpPr txBox="true"/>
          <p:nvPr/>
        </p:nvSpPr>
        <p:spPr>
          <a:xfrm rot="0">
            <a:off x="880751" y="4317999"/>
            <a:ext cx="7045452" cy="666750"/>
          </a:xfrm>
          <a:prstGeom prst="rect">
            <a:avLst/>
          </a:prstGeom>
        </p:spPr>
        <p:txBody>
          <a:bodyPr anchor="t" rtlCol="false" tIns="0" lIns="0" bIns="0" rIns="0">
            <a:spAutoFit/>
          </a:bodyPr>
          <a:lstStyle/>
          <a:p>
            <a:pPr algn="l">
              <a:lnSpc>
                <a:spcPts val="2681"/>
              </a:lnSpc>
            </a:pPr>
            <a:r>
              <a:rPr lang="en-US" sz="2234">
                <a:solidFill>
                  <a:srgbClr val="303A49"/>
                </a:solidFill>
                <a:latin typeface="Aptos"/>
                <a:ea typeface="Aptos"/>
                <a:cs typeface="Aptos"/>
                <a:sym typeface="Aptos"/>
              </a:rPr>
              <a:t>V is the portfolio variance; σᵢⱼ are the covariance terms between historical returns of assets i and j.</a:t>
            </a:r>
          </a:p>
        </p:txBody>
      </p:sp>
      <p:sp>
        <p:nvSpPr>
          <p:cNvPr name="TextBox 23" id="23"/>
          <p:cNvSpPr txBox="true"/>
          <p:nvPr/>
        </p:nvSpPr>
        <p:spPr>
          <a:xfrm rot="0">
            <a:off x="830465" y="5372005"/>
            <a:ext cx="7292340" cy="361950"/>
          </a:xfrm>
          <a:prstGeom prst="rect">
            <a:avLst/>
          </a:prstGeom>
        </p:spPr>
        <p:txBody>
          <a:bodyPr anchor="t" rtlCol="false" tIns="0" lIns="0" bIns="0" rIns="0">
            <a:spAutoFit/>
          </a:bodyPr>
          <a:lstStyle/>
          <a:p>
            <a:pPr algn="l">
              <a:lnSpc>
                <a:spcPts val="2987"/>
              </a:lnSpc>
            </a:pPr>
            <a:r>
              <a:rPr lang="en-US" sz="2489" b="true">
                <a:solidFill>
                  <a:srgbClr val="082346"/>
                </a:solidFill>
                <a:latin typeface="Aptos Bold"/>
                <a:ea typeface="Aptos Bold"/>
                <a:cs typeface="Aptos Bold"/>
                <a:sym typeface="Aptos Bold"/>
              </a:rPr>
              <a:t>Covariance between asset returns</a:t>
            </a:r>
          </a:p>
        </p:txBody>
      </p:sp>
      <p:sp>
        <p:nvSpPr>
          <p:cNvPr name="TextBox 24" id="24"/>
          <p:cNvSpPr txBox="true"/>
          <p:nvPr/>
        </p:nvSpPr>
        <p:spPr>
          <a:xfrm rot="0">
            <a:off x="873708" y="8261723"/>
            <a:ext cx="7292340" cy="381000"/>
          </a:xfrm>
          <a:prstGeom prst="rect">
            <a:avLst/>
          </a:prstGeom>
        </p:spPr>
        <p:txBody>
          <a:bodyPr anchor="t" rtlCol="false" tIns="0" lIns="0" bIns="0" rIns="0">
            <a:spAutoFit/>
          </a:bodyPr>
          <a:lstStyle/>
          <a:p>
            <a:pPr algn="l">
              <a:lnSpc>
                <a:spcPts val="2927"/>
              </a:lnSpc>
            </a:pPr>
            <a:r>
              <a:rPr lang="en-US" sz="2439" b="true">
                <a:solidFill>
                  <a:srgbClr val="082346"/>
                </a:solidFill>
                <a:latin typeface="Aptos Bold"/>
                <a:ea typeface="Aptos Bold"/>
                <a:cs typeface="Aptos Bold"/>
                <a:sym typeface="Aptos Bold"/>
              </a:rPr>
              <a:t>Equivalent expression used in the appendix</a:t>
            </a:r>
          </a:p>
        </p:txBody>
      </p:sp>
      <p:sp>
        <p:nvSpPr>
          <p:cNvPr name="TextBox 25" id="25"/>
          <p:cNvSpPr txBox="true"/>
          <p:nvPr/>
        </p:nvSpPr>
        <p:spPr>
          <a:xfrm rot="0">
            <a:off x="8770028" y="4880348"/>
            <a:ext cx="8030083" cy="371475"/>
          </a:xfrm>
          <a:prstGeom prst="rect">
            <a:avLst/>
          </a:prstGeom>
        </p:spPr>
        <p:txBody>
          <a:bodyPr anchor="t" rtlCol="false" tIns="0" lIns="0" bIns="0" rIns="0">
            <a:spAutoFit/>
          </a:bodyPr>
          <a:lstStyle/>
          <a:p>
            <a:pPr algn="l">
              <a:lnSpc>
                <a:spcPts val="2975"/>
              </a:lnSpc>
            </a:pPr>
            <a:r>
              <a:rPr lang="en-US" sz="2479" b="true">
                <a:solidFill>
                  <a:srgbClr val="082646"/>
                </a:solidFill>
                <a:latin typeface="Aptos Bold"/>
                <a:ea typeface="Aptos Bold"/>
                <a:cs typeface="Aptos Bold"/>
                <a:sym typeface="Aptos Bold"/>
              </a:rPr>
              <a:t>Constructing a balanced efficient frontier</a:t>
            </a:r>
          </a:p>
        </p:txBody>
      </p:sp>
      <p:sp>
        <p:nvSpPr>
          <p:cNvPr name="TextBox 26" id="26"/>
          <p:cNvSpPr txBox="true"/>
          <p:nvPr/>
        </p:nvSpPr>
        <p:spPr>
          <a:xfrm rot="0">
            <a:off x="8658059" y="5270873"/>
            <a:ext cx="8614687" cy="3000375"/>
          </a:xfrm>
          <a:prstGeom prst="rect">
            <a:avLst/>
          </a:prstGeom>
        </p:spPr>
        <p:txBody>
          <a:bodyPr anchor="t" rtlCol="false" tIns="0" lIns="0" bIns="0" rIns="0">
            <a:spAutoFit/>
          </a:bodyPr>
          <a:lstStyle/>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1. Find the portfolio with minimum risk + tracking error, irrespective of expected return.</a:t>
            </a:r>
          </a:p>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2. Find the portfolio with maximum expected return, irrespective of portfolio risk.</a:t>
            </a:r>
          </a:p>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3. Compute K intermediate expected-return points between the two extremes (e.g., equally spaced).</a:t>
            </a:r>
          </a:p>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4. Solve K optimization problems minimizing risk + tracking error subject to those expected-return targets; together with the endpoints, these form a discrete approximation of the frontier.</a:t>
            </a:r>
          </a:p>
        </p:txBody>
      </p:sp>
      <p:sp>
        <p:nvSpPr>
          <p:cNvPr name="TextBox 27" id="27"/>
          <p:cNvSpPr txBox="true"/>
          <p:nvPr/>
        </p:nvSpPr>
        <p:spPr>
          <a:xfrm rot="0">
            <a:off x="8877681" y="8656820"/>
            <a:ext cx="6185916" cy="371475"/>
          </a:xfrm>
          <a:prstGeom prst="rect">
            <a:avLst/>
          </a:prstGeom>
        </p:spPr>
        <p:txBody>
          <a:bodyPr anchor="t" rtlCol="false" tIns="0" lIns="0" bIns="0" rIns="0">
            <a:spAutoFit/>
          </a:bodyPr>
          <a:lstStyle/>
          <a:p>
            <a:pPr algn="l">
              <a:lnSpc>
                <a:spcPts val="2975"/>
              </a:lnSpc>
            </a:pPr>
            <a:r>
              <a:rPr lang="en-US" sz="2479" b="true">
                <a:solidFill>
                  <a:srgbClr val="082646"/>
                </a:solidFill>
                <a:latin typeface="Aptos Bold"/>
                <a:ea typeface="Aptos Bold"/>
                <a:cs typeface="Aptos Bold"/>
                <a:sym typeface="Aptos Bold"/>
              </a:rPr>
              <a:t>Postoptimal adjustment</a:t>
            </a:r>
          </a:p>
        </p:txBody>
      </p:sp>
      <p:sp>
        <p:nvSpPr>
          <p:cNvPr name="TextBox 28" id="28"/>
          <p:cNvSpPr txBox="true"/>
          <p:nvPr/>
        </p:nvSpPr>
        <p:spPr>
          <a:xfrm rot="0">
            <a:off x="8658059" y="9028295"/>
            <a:ext cx="9346547" cy="1000125"/>
          </a:xfrm>
          <a:prstGeom prst="rect">
            <a:avLst/>
          </a:prstGeom>
        </p:spPr>
        <p:txBody>
          <a:bodyPr anchor="t" rtlCol="false" tIns="0" lIns="0" bIns="0" rIns="0">
            <a:spAutoFit/>
          </a:bodyPr>
          <a:lstStyle/>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Round asset fractions to predetermined discrete values before execution.</a:t>
            </a:r>
          </a:p>
          <a:p>
            <a:pPr algn="l">
              <a:lnSpc>
                <a:spcPts val="2639"/>
              </a:lnSpc>
            </a:pPr>
            <a:r>
              <a:rPr lang="en-US" sz="2199" b="true">
                <a:solidFill>
                  <a:srgbClr val="377CB3"/>
                </a:solidFill>
                <a:latin typeface="Aptos Bold"/>
                <a:ea typeface="Aptos Bold"/>
                <a:cs typeface="Aptos Bold"/>
                <a:sym typeface="Aptos Bold"/>
              </a:rPr>
              <a:t>• </a:t>
            </a:r>
            <a:r>
              <a:rPr lang="en-US" sz="2199">
                <a:solidFill>
                  <a:srgbClr val="2F3A48"/>
                </a:solidFill>
                <a:latin typeface="Aptos"/>
                <a:ea typeface="Aptos"/>
                <a:cs typeface="Aptos"/>
                <a:sym typeface="Aptos"/>
              </a:rPr>
              <a:t>The authors use continuous programming plus a rounding procedure instead of a mixed-integer nonlinear formulation.</a:t>
            </a:r>
          </a:p>
        </p:txBody>
      </p:sp>
      <p:sp>
        <p:nvSpPr>
          <p:cNvPr name="TextBox 29" id="29"/>
          <p:cNvSpPr txBox="true"/>
          <p:nvPr/>
        </p:nvSpPr>
        <p:spPr>
          <a:xfrm rot="0">
            <a:off x="8820150" y="3100697"/>
            <a:ext cx="8509746" cy="1333500"/>
          </a:xfrm>
          <a:prstGeom prst="rect">
            <a:avLst/>
          </a:prstGeom>
        </p:spPr>
        <p:txBody>
          <a:bodyPr anchor="t" rtlCol="false" tIns="0" lIns="0" bIns="0" rIns="0">
            <a:spAutoFit/>
          </a:bodyPr>
          <a:lstStyle/>
          <a:p>
            <a:pPr algn="l">
              <a:lnSpc>
                <a:spcPts val="2639"/>
              </a:lnSpc>
            </a:pPr>
            <a:r>
              <a:rPr lang="en-US" sz="2199">
                <a:solidFill>
                  <a:srgbClr val="535E6C"/>
                </a:solidFill>
                <a:latin typeface="Aptos"/>
                <a:ea typeface="Aptos"/>
                <a:cs typeface="Aptos"/>
                <a:sym typeface="Aptos"/>
              </a:rPr>
              <a:t>Benchmark-relative optimization can produce “corner” solutions: zero weights in many assets and very large weights in others. Opti-Money adds a small market-portfolio tracking term to obtain balanced portfolios without significant compromise in frontier optimality.</a:t>
            </a:r>
          </a:p>
        </p:txBody>
      </p:sp>
      <p:sp>
        <p:nvSpPr>
          <p:cNvPr name="TextBox 30" id="30"/>
          <p:cNvSpPr txBox="true"/>
          <p:nvPr/>
        </p:nvSpPr>
        <p:spPr>
          <a:xfrm rot="0">
            <a:off x="8813442" y="2681597"/>
            <a:ext cx="5672435" cy="342900"/>
          </a:xfrm>
          <a:prstGeom prst="rect">
            <a:avLst/>
          </a:prstGeom>
        </p:spPr>
        <p:txBody>
          <a:bodyPr anchor="t" rtlCol="false" tIns="0" lIns="0" bIns="0" rIns="0">
            <a:spAutoFit/>
          </a:bodyPr>
          <a:lstStyle/>
          <a:p>
            <a:pPr algn="l">
              <a:lnSpc>
                <a:spcPts val="2764"/>
              </a:lnSpc>
            </a:pPr>
            <a:r>
              <a:rPr lang="en-US" sz="2303" b="true">
                <a:solidFill>
                  <a:srgbClr val="0A2342"/>
                </a:solidFill>
                <a:latin typeface="Aptos Bold"/>
                <a:ea typeface="Aptos Bold"/>
                <a:cs typeface="Aptos Bold"/>
                <a:sym typeface="Aptos Bold"/>
              </a:rPr>
              <a:t>Why the basic optimum can be impractical</a:t>
            </a:r>
          </a:p>
        </p:txBody>
      </p:sp>
      <p:sp>
        <p:nvSpPr>
          <p:cNvPr name="TextBox 31" id="31"/>
          <p:cNvSpPr txBox="true"/>
          <p:nvPr/>
        </p:nvSpPr>
        <p:spPr>
          <a:xfrm rot="0">
            <a:off x="8820150" y="2355080"/>
            <a:ext cx="5442645" cy="342900"/>
          </a:xfrm>
          <a:prstGeom prst="rect">
            <a:avLst/>
          </a:prstGeom>
        </p:spPr>
        <p:txBody>
          <a:bodyPr anchor="t" rtlCol="false" tIns="0" lIns="0" bIns="0" rIns="0">
            <a:spAutoFit/>
          </a:bodyPr>
          <a:lstStyle/>
          <a:p>
            <a:pPr algn="l">
              <a:lnSpc>
                <a:spcPts val="2759"/>
              </a:lnSpc>
            </a:pPr>
            <a:r>
              <a:rPr lang="en-US" sz="2299" b="true">
                <a:solidFill>
                  <a:srgbClr val="051D3A"/>
                </a:solidFill>
                <a:latin typeface="Aptos Bold"/>
                <a:ea typeface="Aptos Bold"/>
                <a:cs typeface="Aptos Bold"/>
                <a:sym typeface="Aptos Bold"/>
              </a:rPr>
              <a:t>COMPOSITION OF OPTIMAL PORTFOLIOS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6EC"/>
        </a:solidFill>
      </p:bgPr>
    </p:bg>
    <p:spTree>
      <p:nvGrpSpPr>
        <p:cNvPr id="1" name=""/>
        <p:cNvGrpSpPr/>
        <p:nvPr/>
      </p:nvGrpSpPr>
      <p:grpSpPr>
        <a:xfrm>
          <a:off x="0" y="0"/>
          <a:ext cx="0" cy="0"/>
          <a:chOff x="0" y="0"/>
          <a:chExt cx="0" cy="0"/>
        </a:xfrm>
      </p:grpSpPr>
      <p:grpSp>
        <p:nvGrpSpPr>
          <p:cNvPr name="Group 2" id="2"/>
          <p:cNvGrpSpPr/>
          <p:nvPr/>
        </p:nvGrpSpPr>
        <p:grpSpPr>
          <a:xfrm rot="0">
            <a:off x="726948" y="519839"/>
            <a:ext cx="5335102" cy="688537"/>
            <a:chOff x="0" y="0"/>
            <a:chExt cx="6564932" cy="847257"/>
          </a:xfrm>
        </p:grpSpPr>
        <p:sp>
          <p:nvSpPr>
            <p:cNvPr name="Freeform 3" id="3"/>
            <p:cNvSpPr/>
            <p:nvPr/>
          </p:nvSpPr>
          <p:spPr>
            <a:xfrm flipH="false" flipV="false" rot="0">
              <a:off x="0" y="0"/>
              <a:ext cx="6564746" cy="847257"/>
            </a:xfrm>
            <a:custGeom>
              <a:avLst/>
              <a:gdLst/>
              <a:ahLst/>
              <a:cxnLst/>
              <a:rect r="r" b="b" t="t" l="l"/>
              <a:pathLst>
                <a:path h="847257" w="6564746">
                  <a:moveTo>
                    <a:pt x="0" y="282356"/>
                  </a:moveTo>
                  <a:cubicBezTo>
                    <a:pt x="0" y="126521"/>
                    <a:pt x="156159" y="0"/>
                    <a:pt x="348498" y="0"/>
                  </a:cubicBezTo>
                  <a:lnTo>
                    <a:pt x="6216247" y="0"/>
                  </a:lnTo>
                  <a:cubicBezTo>
                    <a:pt x="6408820" y="0"/>
                    <a:pt x="6564746" y="126521"/>
                    <a:pt x="6564746" y="282356"/>
                  </a:cubicBezTo>
                  <a:lnTo>
                    <a:pt x="6564746" y="564901"/>
                  </a:lnTo>
                  <a:cubicBezTo>
                    <a:pt x="6564746" y="720925"/>
                    <a:pt x="6408586" y="847257"/>
                    <a:pt x="6216247" y="847257"/>
                  </a:cubicBezTo>
                  <a:lnTo>
                    <a:pt x="348498" y="847257"/>
                  </a:lnTo>
                  <a:cubicBezTo>
                    <a:pt x="156159" y="847257"/>
                    <a:pt x="0" y="720735"/>
                    <a:pt x="0" y="564901"/>
                  </a:cubicBezTo>
                  <a:close/>
                </a:path>
              </a:pathLst>
            </a:custGeom>
            <a:solidFill>
              <a:srgbClr val="FAF5EB"/>
            </a:solidFill>
            <a:ln w="15240" cap="sq">
              <a:solidFill>
                <a:srgbClr val="3371A5"/>
              </a:solidFill>
              <a:prstDash val="solid"/>
              <a:miter/>
            </a:ln>
          </p:spPr>
        </p:sp>
      </p:grpSp>
      <p:grpSp>
        <p:nvGrpSpPr>
          <p:cNvPr name="Group 4" id="4"/>
          <p:cNvGrpSpPr/>
          <p:nvPr/>
        </p:nvGrpSpPr>
        <p:grpSpPr>
          <a:xfrm rot="0">
            <a:off x="800100" y="548640"/>
            <a:ext cx="5143500" cy="630936"/>
            <a:chOff x="0" y="0"/>
            <a:chExt cx="6858000" cy="841248"/>
          </a:xfrm>
        </p:grpSpPr>
        <p:sp>
          <p:nvSpPr>
            <p:cNvPr name="Freeform 5" id="5"/>
            <p:cNvSpPr/>
            <p:nvPr/>
          </p:nvSpPr>
          <p:spPr>
            <a:xfrm flipH="false" flipV="false" rot="0">
              <a:off x="0" y="0"/>
              <a:ext cx="6858000" cy="841248"/>
            </a:xfrm>
            <a:custGeom>
              <a:avLst/>
              <a:gdLst/>
              <a:ahLst/>
              <a:cxnLst/>
              <a:rect r="r" b="b" t="t" l="l"/>
              <a:pathLst>
                <a:path h="841248" w="6858000">
                  <a:moveTo>
                    <a:pt x="0" y="0"/>
                  </a:moveTo>
                  <a:lnTo>
                    <a:pt x="6858000" y="0"/>
                  </a:lnTo>
                  <a:lnTo>
                    <a:pt x="6858000" y="841248"/>
                  </a:lnTo>
                  <a:lnTo>
                    <a:pt x="0" y="841248"/>
                  </a:lnTo>
                  <a:close/>
                </a:path>
              </a:pathLst>
            </a:custGeom>
            <a:blipFill>
              <a:blip r:embed="rId2">
                <a:alphaModFix amt="0"/>
              </a:blip>
              <a:stretch>
                <a:fillRect l="0" t="-108845" r="0" b="-108845"/>
              </a:stretch>
            </a:blipFill>
          </p:spPr>
        </p:sp>
        <p:sp>
          <p:nvSpPr>
            <p:cNvPr name="TextBox 6" id="6"/>
            <p:cNvSpPr txBox="true"/>
            <p:nvPr/>
          </p:nvSpPr>
          <p:spPr>
            <a:xfrm>
              <a:off x="0" y="0"/>
              <a:ext cx="6858000" cy="841248"/>
            </a:xfrm>
            <a:prstGeom prst="rect">
              <a:avLst/>
            </a:prstGeom>
          </p:spPr>
          <p:txBody>
            <a:bodyPr anchor="ctr" rtlCol="false" tIns="0" lIns="0" bIns="0" rIns="0"/>
            <a:lstStyle/>
            <a:p>
              <a:pPr algn="ctr">
                <a:lnSpc>
                  <a:spcPts val="3264"/>
                </a:lnSpc>
              </a:pPr>
              <a:r>
                <a:rPr lang="en-US" sz="2720" b="true">
                  <a:solidFill>
                    <a:srgbClr val="2E5AAC"/>
                  </a:solidFill>
                  <a:latin typeface="Aptos Bold"/>
                  <a:ea typeface="Aptos Bold"/>
                  <a:cs typeface="Aptos Bold"/>
                  <a:sym typeface="Aptos Bold"/>
                </a:rPr>
                <a:t>SECTION 9 — IMPLEMENTATION</a:t>
              </a:r>
            </a:p>
          </p:txBody>
        </p:sp>
      </p:grpSp>
      <p:grpSp>
        <p:nvGrpSpPr>
          <p:cNvPr name="Group 7" id="7"/>
          <p:cNvGrpSpPr/>
          <p:nvPr/>
        </p:nvGrpSpPr>
        <p:grpSpPr>
          <a:xfrm rot="0">
            <a:off x="685800" y="1312943"/>
            <a:ext cx="16870680" cy="734932"/>
            <a:chOff x="0" y="0"/>
            <a:chExt cx="22494240" cy="979909"/>
          </a:xfrm>
        </p:grpSpPr>
        <p:sp>
          <p:nvSpPr>
            <p:cNvPr name="Freeform 8" id="8"/>
            <p:cNvSpPr/>
            <p:nvPr/>
          </p:nvSpPr>
          <p:spPr>
            <a:xfrm flipH="false" flipV="false" rot="0">
              <a:off x="0" y="0"/>
              <a:ext cx="22494239" cy="979909"/>
            </a:xfrm>
            <a:custGeom>
              <a:avLst/>
              <a:gdLst/>
              <a:ahLst/>
              <a:cxnLst/>
              <a:rect r="r" b="b" t="t" l="l"/>
              <a:pathLst>
                <a:path h="979909" w="22494239">
                  <a:moveTo>
                    <a:pt x="0" y="0"/>
                  </a:moveTo>
                  <a:lnTo>
                    <a:pt x="22494239" y="0"/>
                  </a:lnTo>
                  <a:lnTo>
                    <a:pt x="22494239" y="979909"/>
                  </a:lnTo>
                  <a:lnTo>
                    <a:pt x="0" y="979909"/>
                  </a:lnTo>
                  <a:close/>
                </a:path>
              </a:pathLst>
            </a:custGeom>
            <a:blipFill>
              <a:blip r:embed="rId2">
                <a:alphaModFix amt="0"/>
              </a:blip>
              <a:stretch>
                <a:fillRect l="0" t="-400630" r="0" b="-393944"/>
              </a:stretch>
            </a:blipFill>
          </p:spPr>
        </p:sp>
        <p:sp>
          <p:nvSpPr>
            <p:cNvPr name="TextBox 9" id="9"/>
            <p:cNvSpPr txBox="true"/>
            <p:nvPr/>
          </p:nvSpPr>
          <p:spPr>
            <a:xfrm>
              <a:off x="0" y="0"/>
              <a:ext cx="22494240" cy="979909"/>
            </a:xfrm>
            <a:prstGeom prst="rect">
              <a:avLst/>
            </a:prstGeom>
          </p:spPr>
          <p:txBody>
            <a:bodyPr anchor="ctr" rtlCol="false" tIns="0" lIns="0" bIns="0" rIns="0"/>
            <a:lstStyle/>
            <a:p>
              <a:pPr algn="l">
                <a:lnSpc>
                  <a:spcPts val="4680"/>
                </a:lnSpc>
              </a:pPr>
              <a:r>
                <a:rPr lang="en-US" sz="3900" b="true">
                  <a:solidFill>
                    <a:srgbClr val="1E2A44"/>
                  </a:solidFill>
                  <a:latin typeface="Aptos Bold"/>
                  <a:ea typeface="Aptos Bold"/>
                  <a:cs typeface="Aptos Bold"/>
                  <a:sym typeface="Aptos Bold"/>
                </a:rPr>
                <a:t>Software Architecture &amp; Implementation at Scale</a:t>
              </a:r>
            </a:p>
          </p:txBody>
        </p:sp>
      </p:grpSp>
      <p:grpSp>
        <p:nvGrpSpPr>
          <p:cNvPr name="Group 10" id="10"/>
          <p:cNvGrpSpPr/>
          <p:nvPr/>
        </p:nvGrpSpPr>
        <p:grpSpPr>
          <a:xfrm rot="0">
            <a:off x="685800" y="2109524"/>
            <a:ext cx="16870680" cy="770022"/>
            <a:chOff x="0" y="0"/>
            <a:chExt cx="22494240" cy="1026697"/>
          </a:xfrm>
        </p:grpSpPr>
        <p:sp>
          <p:nvSpPr>
            <p:cNvPr name="Freeform 11" id="11"/>
            <p:cNvSpPr/>
            <p:nvPr/>
          </p:nvSpPr>
          <p:spPr>
            <a:xfrm flipH="false" flipV="false" rot="0">
              <a:off x="0" y="0"/>
              <a:ext cx="22494239" cy="1026697"/>
            </a:xfrm>
            <a:custGeom>
              <a:avLst/>
              <a:gdLst/>
              <a:ahLst/>
              <a:cxnLst/>
              <a:rect r="r" b="b" t="t" l="l"/>
              <a:pathLst>
                <a:path h="1026697" w="22494239">
                  <a:moveTo>
                    <a:pt x="0" y="0"/>
                  </a:moveTo>
                  <a:lnTo>
                    <a:pt x="22494239" y="0"/>
                  </a:lnTo>
                  <a:lnTo>
                    <a:pt x="22494239" y="1026697"/>
                  </a:lnTo>
                  <a:lnTo>
                    <a:pt x="0" y="1026697"/>
                  </a:lnTo>
                  <a:close/>
                </a:path>
              </a:pathLst>
            </a:custGeom>
            <a:blipFill>
              <a:blip r:embed="rId2">
                <a:alphaModFix amt="0"/>
              </a:blip>
              <a:stretch>
                <a:fillRect l="0" t="-382373" r="0" b="-371435"/>
              </a:stretch>
            </a:blipFill>
          </p:spPr>
        </p:sp>
        <p:sp>
          <p:nvSpPr>
            <p:cNvPr name="TextBox 12" id="12"/>
            <p:cNvSpPr txBox="true"/>
            <p:nvPr/>
          </p:nvSpPr>
          <p:spPr>
            <a:xfrm>
              <a:off x="0" y="0"/>
              <a:ext cx="22494240" cy="1026697"/>
            </a:xfrm>
            <a:prstGeom prst="rect">
              <a:avLst/>
            </a:prstGeom>
          </p:spPr>
          <p:txBody>
            <a:bodyPr anchor="ctr" rtlCol="false" tIns="0" lIns="0" bIns="0" rIns="0"/>
            <a:lstStyle/>
            <a:p>
              <a:pPr algn="l">
                <a:lnSpc>
                  <a:spcPts val="2729"/>
                </a:lnSpc>
              </a:pPr>
              <a:r>
                <a:rPr lang="en-US" sz="2274">
                  <a:solidFill>
                    <a:srgbClr val="5B6472"/>
                  </a:solidFill>
                  <a:latin typeface="Aptos"/>
                  <a:ea typeface="Aptos"/>
                  <a:cs typeface="Aptos"/>
                  <a:sym typeface="Aptos"/>
                </a:rPr>
                <a:t>A monthly overnight batch solves the nonlinear optimization for every customer profile in advance, so a live consultation only ever retrieves a precomputed answer.</a:t>
              </a:r>
            </a:p>
          </p:txBody>
        </p:sp>
      </p:grpSp>
      <p:grpSp>
        <p:nvGrpSpPr>
          <p:cNvPr name="Group 13" id="13"/>
          <p:cNvGrpSpPr/>
          <p:nvPr/>
        </p:nvGrpSpPr>
        <p:grpSpPr>
          <a:xfrm rot="0">
            <a:off x="676275" y="3793701"/>
            <a:ext cx="2830830" cy="869442"/>
            <a:chOff x="0" y="0"/>
            <a:chExt cx="3774440" cy="1159256"/>
          </a:xfrm>
        </p:grpSpPr>
        <p:sp>
          <p:nvSpPr>
            <p:cNvPr name="Freeform 14" id="14"/>
            <p:cNvSpPr/>
            <p:nvPr/>
          </p:nvSpPr>
          <p:spPr>
            <a:xfrm flipH="false" flipV="false" rot="0">
              <a:off x="0" y="0"/>
              <a:ext cx="3774440" cy="1159256"/>
            </a:xfrm>
            <a:custGeom>
              <a:avLst/>
              <a:gdLst/>
              <a:ahLst/>
              <a:cxnLst/>
              <a:rect r="r" b="b" t="t" l="l"/>
              <a:pathLst>
                <a:path h="1159256" w="3774440">
                  <a:moveTo>
                    <a:pt x="0" y="112141"/>
                  </a:moveTo>
                  <a:cubicBezTo>
                    <a:pt x="0" y="50165"/>
                    <a:pt x="50165" y="0"/>
                    <a:pt x="112141" y="0"/>
                  </a:cubicBezTo>
                  <a:lnTo>
                    <a:pt x="3662299" y="0"/>
                  </a:lnTo>
                  <a:cubicBezTo>
                    <a:pt x="3724275" y="0"/>
                    <a:pt x="3774440" y="50165"/>
                    <a:pt x="3774440" y="112141"/>
                  </a:cubicBezTo>
                  <a:lnTo>
                    <a:pt x="3774440" y="1047115"/>
                  </a:lnTo>
                  <a:cubicBezTo>
                    <a:pt x="3774440" y="1109091"/>
                    <a:pt x="3724275" y="1159256"/>
                    <a:pt x="3662299" y="1159256"/>
                  </a:cubicBezTo>
                  <a:lnTo>
                    <a:pt x="112141" y="1159256"/>
                  </a:lnTo>
                  <a:cubicBezTo>
                    <a:pt x="50165" y="1159256"/>
                    <a:pt x="0" y="1109091"/>
                    <a:pt x="0" y="1047115"/>
                  </a:cubicBezTo>
                  <a:close/>
                </a:path>
              </a:pathLst>
            </a:custGeom>
            <a:solidFill>
              <a:srgbClr val="FFFFFF"/>
            </a:solidFill>
            <a:ln w="19050" cap="sq">
              <a:solidFill>
                <a:srgbClr val="2E5AAC"/>
              </a:solidFill>
              <a:prstDash val="solid"/>
              <a:miter/>
            </a:ln>
          </p:spPr>
        </p:sp>
      </p:grpSp>
      <p:grpSp>
        <p:nvGrpSpPr>
          <p:cNvPr name="Group 15" id="15"/>
          <p:cNvGrpSpPr/>
          <p:nvPr/>
        </p:nvGrpSpPr>
        <p:grpSpPr>
          <a:xfrm rot="0">
            <a:off x="685800" y="3803226"/>
            <a:ext cx="2811780" cy="850392"/>
            <a:chOff x="0" y="0"/>
            <a:chExt cx="3749040" cy="1133856"/>
          </a:xfrm>
        </p:grpSpPr>
        <p:sp>
          <p:nvSpPr>
            <p:cNvPr name="Freeform 16" id="16"/>
            <p:cNvSpPr/>
            <p:nvPr/>
          </p:nvSpPr>
          <p:spPr>
            <a:xfrm flipH="false" flipV="false" rot="0">
              <a:off x="0" y="0"/>
              <a:ext cx="3749040" cy="1133856"/>
            </a:xfrm>
            <a:custGeom>
              <a:avLst/>
              <a:gdLst/>
              <a:ahLst/>
              <a:cxnLst/>
              <a:rect r="r" b="b" t="t" l="l"/>
              <a:pathLst>
                <a:path h="1133856" w="3749040">
                  <a:moveTo>
                    <a:pt x="0" y="0"/>
                  </a:moveTo>
                  <a:lnTo>
                    <a:pt x="3749040" y="0"/>
                  </a:lnTo>
                  <a:lnTo>
                    <a:pt x="3749040" y="1133856"/>
                  </a:lnTo>
                  <a:lnTo>
                    <a:pt x="0" y="1133856"/>
                  </a:lnTo>
                  <a:close/>
                </a:path>
              </a:pathLst>
            </a:custGeom>
            <a:blipFill>
              <a:blip r:embed="rId2">
                <a:alphaModFix amt="0"/>
              </a:blip>
              <a:stretch>
                <a:fillRect l="0" t="-14426" r="0" b="-14426"/>
              </a:stretch>
            </a:blipFill>
          </p:spPr>
        </p:sp>
        <p:sp>
          <p:nvSpPr>
            <p:cNvPr name="TextBox 17" id="17"/>
            <p:cNvSpPr txBox="true"/>
            <p:nvPr/>
          </p:nvSpPr>
          <p:spPr>
            <a:xfrm>
              <a:off x="0" y="0"/>
              <a:ext cx="3749040" cy="1133856"/>
            </a:xfrm>
            <a:prstGeom prst="rect">
              <a:avLst/>
            </a:prstGeom>
          </p:spPr>
          <p:txBody>
            <a:bodyPr anchor="ctr" rtlCol="false" tIns="0" lIns="0" bIns="0" rIns="0"/>
            <a:lstStyle/>
            <a:p>
              <a:pPr algn="ctr">
                <a:lnSpc>
                  <a:spcPts val="2639"/>
                </a:lnSpc>
              </a:pPr>
              <a:r>
                <a:rPr lang="en-US" sz="2199">
                  <a:solidFill>
                    <a:srgbClr val="1E2A44"/>
                  </a:solidFill>
                  <a:latin typeface="Aptos"/>
                  <a:ea typeface="Aptos"/>
                  <a:cs typeface="Aptos"/>
                  <a:sym typeface="Aptos"/>
                </a:rPr>
                <a:t>Historical &amp; Forecast</a:t>
              </a:r>
            </a:p>
            <a:p>
              <a:pPr algn="ctr">
                <a:lnSpc>
                  <a:spcPts val="2639"/>
                </a:lnSpc>
              </a:pPr>
              <a:r>
                <a:rPr lang="en-US" sz="2199">
                  <a:solidFill>
                    <a:srgbClr val="1E2A44"/>
                  </a:solidFill>
                  <a:latin typeface="Aptos"/>
                  <a:ea typeface="Aptos"/>
                  <a:cs typeface="Aptos"/>
                  <a:sym typeface="Aptos"/>
                </a:rPr>
                <a:t>Data</a:t>
              </a:r>
            </a:p>
          </p:txBody>
        </p:sp>
      </p:grpSp>
      <p:grpSp>
        <p:nvGrpSpPr>
          <p:cNvPr name="Group 18" id="18"/>
          <p:cNvGrpSpPr/>
          <p:nvPr/>
        </p:nvGrpSpPr>
        <p:grpSpPr>
          <a:xfrm rot="0">
            <a:off x="3538728" y="4118694"/>
            <a:ext cx="301752" cy="219456"/>
            <a:chOff x="0" y="0"/>
            <a:chExt cx="402336" cy="292608"/>
          </a:xfrm>
        </p:grpSpPr>
        <p:sp>
          <p:nvSpPr>
            <p:cNvPr name="Freeform 19" id="19"/>
            <p:cNvSpPr/>
            <p:nvPr/>
          </p:nvSpPr>
          <p:spPr>
            <a:xfrm flipH="false" flipV="false" rot="0">
              <a:off x="0" y="0"/>
              <a:ext cx="402336" cy="292608"/>
            </a:xfrm>
            <a:custGeom>
              <a:avLst/>
              <a:gdLst/>
              <a:ahLst/>
              <a:cxnLst/>
              <a:rect r="r" b="b" t="t" l="l"/>
              <a:pathLst>
                <a:path h="292608" w="402336">
                  <a:moveTo>
                    <a:pt x="0" y="73152"/>
                  </a:moveTo>
                  <a:lnTo>
                    <a:pt x="256032" y="73152"/>
                  </a:lnTo>
                  <a:lnTo>
                    <a:pt x="256032" y="0"/>
                  </a:lnTo>
                  <a:lnTo>
                    <a:pt x="402336" y="146304"/>
                  </a:lnTo>
                  <a:lnTo>
                    <a:pt x="256032" y="292608"/>
                  </a:lnTo>
                  <a:lnTo>
                    <a:pt x="256032" y="219456"/>
                  </a:lnTo>
                  <a:lnTo>
                    <a:pt x="0" y="219456"/>
                  </a:lnTo>
                  <a:close/>
                </a:path>
              </a:pathLst>
            </a:custGeom>
            <a:solidFill>
              <a:srgbClr val="2E5AAC"/>
            </a:solidFill>
          </p:spPr>
        </p:sp>
      </p:grpSp>
      <p:grpSp>
        <p:nvGrpSpPr>
          <p:cNvPr name="Group 20" id="20"/>
          <p:cNvGrpSpPr/>
          <p:nvPr/>
        </p:nvGrpSpPr>
        <p:grpSpPr>
          <a:xfrm rot="0">
            <a:off x="3872103" y="3793701"/>
            <a:ext cx="2830830" cy="869442"/>
            <a:chOff x="0" y="0"/>
            <a:chExt cx="3774440" cy="1159256"/>
          </a:xfrm>
        </p:grpSpPr>
        <p:sp>
          <p:nvSpPr>
            <p:cNvPr name="Freeform 21" id="21"/>
            <p:cNvSpPr/>
            <p:nvPr/>
          </p:nvSpPr>
          <p:spPr>
            <a:xfrm flipH="false" flipV="false" rot="0">
              <a:off x="0" y="0"/>
              <a:ext cx="3774440" cy="1159256"/>
            </a:xfrm>
            <a:custGeom>
              <a:avLst/>
              <a:gdLst/>
              <a:ahLst/>
              <a:cxnLst/>
              <a:rect r="r" b="b" t="t" l="l"/>
              <a:pathLst>
                <a:path h="1159256" w="3774440">
                  <a:moveTo>
                    <a:pt x="0" y="112141"/>
                  </a:moveTo>
                  <a:cubicBezTo>
                    <a:pt x="0" y="50165"/>
                    <a:pt x="50165" y="0"/>
                    <a:pt x="112141" y="0"/>
                  </a:cubicBezTo>
                  <a:lnTo>
                    <a:pt x="3662299" y="0"/>
                  </a:lnTo>
                  <a:cubicBezTo>
                    <a:pt x="3724275" y="0"/>
                    <a:pt x="3774440" y="50165"/>
                    <a:pt x="3774440" y="112141"/>
                  </a:cubicBezTo>
                  <a:lnTo>
                    <a:pt x="3774440" y="1047115"/>
                  </a:lnTo>
                  <a:cubicBezTo>
                    <a:pt x="3774440" y="1109091"/>
                    <a:pt x="3724275" y="1159256"/>
                    <a:pt x="3662299" y="1159256"/>
                  </a:cubicBezTo>
                  <a:lnTo>
                    <a:pt x="112141" y="1159256"/>
                  </a:lnTo>
                  <a:cubicBezTo>
                    <a:pt x="50165" y="1159256"/>
                    <a:pt x="0" y="1109091"/>
                    <a:pt x="0" y="1047115"/>
                  </a:cubicBezTo>
                  <a:close/>
                </a:path>
              </a:pathLst>
            </a:custGeom>
            <a:solidFill>
              <a:srgbClr val="FFFFFF"/>
            </a:solidFill>
            <a:ln w="19050" cap="sq">
              <a:solidFill>
                <a:srgbClr val="2E5AAC"/>
              </a:solidFill>
              <a:prstDash val="solid"/>
              <a:miter/>
            </a:ln>
          </p:spPr>
        </p:sp>
      </p:grpSp>
      <p:grpSp>
        <p:nvGrpSpPr>
          <p:cNvPr name="Group 22" id="22"/>
          <p:cNvGrpSpPr/>
          <p:nvPr/>
        </p:nvGrpSpPr>
        <p:grpSpPr>
          <a:xfrm rot="0">
            <a:off x="3881628" y="3803226"/>
            <a:ext cx="2811780" cy="850392"/>
            <a:chOff x="0" y="0"/>
            <a:chExt cx="3749040" cy="1133856"/>
          </a:xfrm>
        </p:grpSpPr>
        <p:sp>
          <p:nvSpPr>
            <p:cNvPr name="Freeform 23" id="23"/>
            <p:cNvSpPr/>
            <p:nvPr/>
          </p:nvSpPr>
          <p:spPr>
            <a:xfrm flipH="false" flipV="false" rot="0">
              <a:off x="0" y="0"/>
              <a:ext cx="3749040" cy="1133856"/>
            </a:xfrm>
            <a:custGeom>
              <a:avLst/>
              <a:gdLst/>
              <a:ahLst/>
              <a:cxnLst/>
              <a:rect r="r" b="b" t="t" l="l"/>
              <a:pathLst>
                <a:path h="1133856" w="3749040">
                  <a:moveTo>
                    <a:pt x="0" y="0"/>
                  </a:moveTo>
                  <a:lnTo>
                    <a:pt x="3749040" y="0"/>
                  </a:lnTo>
                  <a:lnTo>
                    <a:pt x="3749040" y="1133856"/>
                  </a:lnTo>
                  <a:lnTo>
                    <a:pt x="0" y="1133856"/>
                  </a:lnTo>
                  <a:close/>
                </a:path>
              </a:pathLst>
            </a:custGeom>
            <a:blipFill>
              <a:blip r:embed="rId2">
                <a:alphaModFix amt="0"/>
              </a:blip>
              <a:stretch>
                <a:fillRect l="0" t="-14426" r="0" b="-14426"/>
              </a:stretch>
            </a:blipFill>
          </p:spPr>
        </p:sp>
        <p:sp>
          <p:nvSpPr>
            <p:cNvPr name="TextBox 24" id="24"/>
            <p:cNvSpPr txBox="true"/>
            <p:nvPr/>
          </p:nvSpPr>
          <p:spPr>
            <a:xfrm>
              <a:off x="0" y="0"/>
              <a:ext cx="3749040" cy="1133856"/>
            </a:xfrm>
            <a:prstGeom prst="rect">
              <a:avLst/>
            </a:prstGeom>
          </p:spPr>
          <p:txBody>
            <a:bodyPr anchor="ctr" rtlCol="false" tIns="0" lIns="0" bIns="0" rIns="0"/>
            <a:lstStyle/>
            <a:p>
              <a:pPr algn="ctr">
                <a:lnSpc>
                  <a:spcPts val="2639"/>
                </a:lnSpc>
              </a:pPr>
              <a:r>
                <a:rPr lang="en-US" sz="2199">
                  <a:solidFill>
                    <a:srgbClr val="1E2A44"/>
                  </a:solidFill>
                  <a:latin typeface="Aptos"/>
                  <a:ea typeface="Aptos"/>
                  <a:cs typeface="Aptos"/>
                  <a:sym typeface="Aptos"/>
                </a:rPr>
                <a:t>GAMS / MINOS</a:t>
              </a:r>
            </a:p>
            <a:p>
              <a:pPr algn="ctr">
                <a:lnSpc>
                  <a:spcPts val="2639"/>
                </a:lnSpc>
              </a:pPr>
              <a:r>
                <a:rPr lang="en-US" sz="2199">
                  <a:solidFill>
                    <a:srgbClr val="1E2A44"/>
                  </a:solidFill>
                  <a:latin typeface="Aptos"/>
                  <a:ea typeface="Aptos"/>
                  <a:cs typeface="Aptos"/>
                  <a:sym typeface="Aptos"/>
                </a:rPr>
                <a:t>Optimization Engine</a:t>
              </a:r>
            </a:p>
          </p:txBody>
        </p:sp>
      </p:grpSp>
      <p:grpSp>
        <p:nvGrpSpPr>
          <p:cNvPr name="Group 25" id="25"/>
          <p:cNvGrpSpPr/>
          <p:nvPr/>
        </p:nvGrpSpPr>
        <p:grpSpPr>
          <a:xfrm rot="0">
            <a:off x="6734556" y="4118694"/>
            <a:ext cx="301752" cy="219456"/>
            <a:chOff x="0" y="0"/>
            <a:chExt cx="402336" cy="292608"/>
          </a:xfrm>
        </p:grpSpPr>
        <p:sp>
          <p:nvSpPr>
            <p:cNvPr name="Freeform 26" id="26"/>
            <p:cNvSpPr/>
            <p:nvPr/>
          </p:nvSpPr>
          <p:spPr>
            <a:xfrm flipH="false" flipV="false" rot="0">
              <a:off x="0" y="0"/>
              <a:ext cx="402336" cy="292608"/>
            </a:xfrm>
            <a:custGeom>
              <a:avLst/>
              <a:gdLst/>
              <a:ahLst/>
              <a:cxnLst/>
              <a:rect r="r" b="b" t="t" l="l"/>
              <a:pathLst>
                <a:path h="292608" w="402336">
                  <a:moveTo>
                    <a:pt x="0" y="73152"/>
                  </a:moveTo>
                  <a:lnTo>
                    <a:pt x="256032" y="73152"/>
                  </a:lnTo>
                  <a:lnTo>
                    <a:pt x="256032" y="0"/>
                  </a:lnTo>
                  <a:lnTo>
                    <a:pt x="402336" y="146304"/>
                  </a:lnTo>
                  <a:lnTo>
                    <a:pt x="256032" y="292608"/>
                  </a:lnTo>
                  <a:lnTo>
                    <a:pt x="256032" y="219456"/>
                  </a:lnTo>
                  <a:lnTo>
                    <a:pt x="0" y="219456"/>
                  </a:lnTo>
                  <a:close/>
                </a:path>
              </a:pathLst>
            </a:custGeom>
            <a:solidFill>
              <a:srgbClr val="2E5AAC"/>
            </a:solidFill>
          </p:spPr>
        </p:sp>
      </p:grpSp>
      <p:grpSp>
        <p:nvGrpSpPr>
          <p:cNvPr name="Group 27" id="27"/>
          <p:cNvGrpSpPr/>
          <p:nvPr/>
        </p:nvGrpSpPr>
        <p:grpSpPr>
          <a:xfrm rot="0">
            <a:off x="7067931" y="3793701"/>
            <a:ext cx="2830830" cy="869442"/>
            <a:chOff x="0" y="0"/>
            <a:chExt cx="3774440" cy="1159256"/>
          </a:xfrm>
        </p:grpSpPr>
        <p:sp>
          <p:nvSpPr>
            <p:cNvPr name="Freeform 28" id="28"/>
            <p:cNvSpPr/>
            <p:nvPr/>
          </p:nvSpPr>
          <p:spPr>
            <a:xfrm flipH="false" flipV="false" rot="0">
              <a:off x="0" y="0"/>
              <a:ext cx="3774440" cy="1159256"/>
            </a:xfrm>
            <a:custGeom>
              <a:avLst/>
              <a:gdLst/>
              <a:ahLst/>
              <a:cxnLst/>
              <a:rect r="r" b="b" t="t" l="l"/>
              <a:pathLst>
                <a:path h="1159256" w="3774440">
                  <a:moveTo>
                    <a:pt x="0" y="112141"/>
                  </a:moveTo>
                  <a:cubicBezTo>
                    <a:pt x="0" y="50165"/>
                    <a:pt x="50165" y="0"/>
                    <a:pt x="112141" y="0"/>
                  </a:cubicBezTo>
                  <a:lnTo>
                    <a:pt x="3662299" y="0"/>
                  </a:lnTo>
                  <a:cubicBezTo>
                    <a:pt x="3724275" y="0"/>
                    <a:pt x="3774440" y="50165"/>
                    <a:pt x="3774440" y="112141"/>
                  </a:cubicBezTo>
                  <a:lnTo>
                    <a:pt x="3774440" y="1047115"/>
                  </a:lnTo>
                  <a:cubicBezTo>
                    <a:pt x="3774440" y="1109091"/>
                    <a:pt x="3724275" y="1159256"/>
                    <a:pt x="3662299" y="1159256"/>
                  </a:cubicBezTo>
                  <a:lnTo>
                    <a:pt x="112141" y="1159256"/>
                  </a:lnTo>
                  <a:cubicBezTo>
                    <a:pt x="50165" y="1159256"/>
                    <a:pt x="0" y="1109091"/>
                    <a:pt x="0" y="1047115"/>
                  </a:cubicBezTo>
                  <a:close/>
                </a:path>
              </a:pathLst>
            </a:custGeom>
            <a:solidFill>
              <a:srgbClr val="2E5AAC"/>
            </a:solidFill>
            <a:ln w="19050" cap="sq">
              <a:solidFill>
                <a:srgbClr val="2E5AAC"/>
              </a:solidFill>
              <a:prstDash val="solid"/>
              <a:miter/>
            </a:ln>
          </p:spPr>
        </p:sp>
      </p:grpSp>
      <p:grpSp>
        <p:nvGrpSpPr>
          <p:cNvPr name="Group 29" id="29"/>
          <p:cNvGrpSpPr/>
          <p:nvPr/>
        </p:nvGrpSpPr>
        <p:grpSpPr>
          <a:xfrm rot="0">
            <a:off x="7077456" y="3803226"/>
            <a:ext cx="2811780" cy="850392"/>
            <a:chOff x="0" y="0"/>
            <a:chExt cx="3749040" cy="1133856"/>
          </a:xfrm>
        </p:grpSpPr>
        <p:sp>
          <p:nvSpPr>
            <p:cNvPr name="Freeform 30" id="30"/>
            <p:cNvSpPr/>
            <p:nvPr/>
          </p:nvSpPr>
          <p:spPr>
            <a:xfrm flipH="false" flipV="false" rot="0">
              <a:off x="0" y="0"/>
              <a:ext cx="3749040" cy="1133856"/>
            </a:xfrm>
            <a:custGeom>
              <a:avLst/>
              <a:gdLst/>
              <a:ahLst/>
              <a:cxnLst/>
              <a:rect r="r" b="b" t="t" l="l"/>
              <a:pathLst>
                <a:path h="1133856" w="3749040">
                  <a:moveTo>
                    <a:pt x="0" y="0"/>
                  </a:moveTo>
                  <a:lnTo>
                    <a:pt x="3749040" y="0"/>
                  </a:lnTo>
                  <a:lnTo>
                    <a:pt x="3749040" y="1133856"/>
                  </a:lnTo>
                  <a:lnTo>
                    <a:pt x="0" y="1133856"/>
                  </a:lnTo>
                  <a:close/>
                </a:path>
              </a:pathLst>
            </a:custGeom>
            <a:blipFill>
              <a:blip r:embed="rId2">
                <a:alphaModFix amt="0"/>
              </a:blip>
              <a:stretch>
                <a:fillRect l="0" t="-14426" r="0" b="-14426"/>
              </a:stretch>
            </a:blipFill>
          </p:spPr>
        </p:sp>
        <p:sp>
          <p:nvSpPr>
            <p:cNvPr name="TextBox 31" id="31"/>
            <p:cNvSpPr txBox="true"/>
            <p:nvPr/>
          </p:nvSpPr>
          <p:spPr>
            <a:xfrm>
              <a:off x="0" y="0"/>
              <a:ext cx="3749040" cy="1133856"/>
            </a:xfrm>
            <a:prstGeom prst="rect">
              <a:avLst/>
            </a:prstGeom>
          </p:spPr>
          <p:txBody>
            <a:bodyPr anchor="ctr" rtlCol="false" tIns="0" lIns="0" bIns="0" rIns="0"/>
            <a:lstStyle/>
            <a:p>
              <a:pPr algn="ctr">
                <a:lnSpc>
                  <a:spcPts val="2639"/>
                </a:lnSpc>
              </a:pPr>
              <a:r>
                <a:rPr lang="en-US" sz="2199" b="true">
                  <a:solidFill>
                    <a:srgbClr val="FFFFFF"/>
                  </a:solidFill>
                  <a:latin typeface="Aptos Bold"/>
                  <a:ea typeface="Aptos Bold"/>
                  <a:cs typeface="Aptos Bold"/>
                  <a:sym typeface="Aptos Bold"/>
                </a:rPr>
                <a:t>Central</a:t>
              </a:r>
            </a:p>
            <a:p>
              <a:pPr algn="ctr">
                <a:lnSpc>
                  <a:spcPts val="2639"/>
                </a:lnSpc>
              </a:pPr>
              <a:r>
                <a:rPr lang="en-US" sz="2199" b="true">
                  <a:solidFill>
                    <a:srgbClr val="FFFFFF"/>
                  </a:solidFill>
                  <a:latin typeface="Aptos Bold"/>
                  <a:ea typeface="Aptos Bold"/>
                  <a:cs typeface="Aptos Bold"/>
                  <a:sym typeface="Aptos Bold"/>
                </a:rPr>
                <a:t>Solution Store</a:t>
              </a:r>
            </a:p>
          </p:txBody>
        </p:sp>
      </p:grpSp>
      <p:grpSp>
        <p:nvGrpSpPr>
          <p:cNvPr name="Group 32" id="32"/>
          <p:cNvGrpSpPr/>
          <p:nvPr/>
        </p:nvGrpSpPr>
        <p:grpSpPr>
          <a:xfrm rot="0">
            <a:off x="9930384" y="4118694"/>
            <a:ext cx="301752" cy="219456"/>
            <a:chOff x="0" y="0"/>
            <a:chExt cx="402336" cy="292608"/>
          </a:xfrm>
        </p:grpSpPr>
        <p:sp>
          <p:nvSpPr>
            <p:cNvPr name="Freeform 33" id="33"/>
            <p:cNvSpPr/>
            <p:nvPr/>
          </p:nvSpPr>
          <p:spPr>
            <a:xfrm flipH="false" flipV="false" rot="0">
              <a:off x="0" y="0"/>
              <a:ext cx="402336" cy="292608"/>
            </a:xfrm>
            <a:custGeom>
              <a:avLst/>
              <a:gdLst/>
              <a:ahLst/>
              <a:cxnLst/>
              <a:rect r="r" b="b" t="t" l="l"/>
              <a:pathLst>
                <a:path h="292608" w="402336">
                  <a:moveTo>
                    <a:pt x="0" y="146304"/>
                  </a:moveTo>
                  <a:lnTo>
                    <a:pt x="146304" y="0"/>
                  </a:lnTo>
                  <a:lnTo>
                    <a:pt x="146304" y="73152"/>
                  </a:lnTo>
                  <a:lnTo>
                    <a:pt x="256032" y="73152"/>
                  </a:lnTo>
                  <a:lnTo>
                    <a:pt x="256032" y="0"/>
                  </a:lnTo>
                  <a:lnTo>
                    <a:pt x="402336" y="146304"/>
                  </a:lnTo>
                  <a:lnTo>
                    <a:pt x="256032" y="292608"/>
                  </a:lnTo>
                  <a:lnTo>
                    <a:pt x="256032" y="219456"/>
                  </a:lnTo>
                  <a:lnTo>
                    <a:pt x="146304" y="219456"/>
                  </a:lnTo>
                  <a:lnTo>
                    <a:pt x="146304" y="292608"/>
                  </a:lnTo>
                  <a:close/>
                </a:path>
              </a:pathLst>
            </a:custGeom>
            <a:solidFill>
              <a:srgbClr val="2E5AAC"/>
            </a:solidFill>
          </p:spPr>
        </p:sp>
      </p:grpSp>
      <p:grpSp>
        <p:nvGrpSpPr>
          <p:cNvPr name="Group 34" id="34"/>
          <p:cNvGrpSpPr/>
          <p:nvPr/>
        </p:nvGrpSpPr>
        <p:grpSpPr>
          <a:xfrm rot="0">
            <a:off x="10263759" y="3793701"/>
            <a:ext cx="2830830" cy="869442"/>
            <a:chOff x="0" y="0"/>
            <a:chExt cx="3774440" cy="1159256"/>
          </a:xfrm>
        </p:grpSpPr>
        <p:sp>
          <p:nvSpPr>
            <p:cNvPr name="Freeform 35" id="35"/>
            <p:cNvSpPr/>
            <p:nvPr/>
          </p:nvSpPr>
          <p:spPr>
            <a:xfrm flipH="false" flipV="false" rot="0">
              <a:off x="0" y="0"/>
              <a:ext cx="3774440" cy="1159256"/>
            </a:xfrm>
            <a:custGeom>
              <a:avLst/>
              <a:gdLst/>
              <a:ahLst/>
              <a:cxnLst/>
              <a:rect r="r" b="b" t="t" l="l"/>
              <a:pathLst>
                <a:path h="1159256" w="3774440">
                  <a:moveTo>
                    <a:pt x="0" y="112141"/>
                  </a:moveTo>
                  <a:cubicBezTo>
                    <a:pt x="0" y="50165"/>
                    <a:pt x="50165" y="0"/>
                    <a:pt x="112141" y="0"/>
                  </a:cubicBezTo>
                  <a:lnTo>
                    <a:pt x="3662299" y="0"/>
                  </a:lnTo>
                  <a:cubicBezTo>
                    <a:pt x="3724275" y="0"/>
                    <a:pt x="3774440" y="50165"/>
                    <a:pt x="3774440" y="112141"/>
                  </a:cubicBezTo>
                  <a:lnTo>
                    <a:pt x="3774440" y="1047115"/>
                  </a:lnTo>
                  <a:cubicBezTo>
                    <a:pt x="3774440" y="1109091"/>
                    <a:pt x="3724275" y="1159256"/>
                    <a:pt x="3662299" y="1159256"/>
                  </a:cubicBezTo>
                  <a:lnTo>
                    <a:pt x="112141" y="1159256"/>
                  </a:lnTo>
                  <a:cubicBezTo>
                    <a:pt x="50165" y="1159256"/>
                    <a:pt x="0" y="1109091"/>
                    <a:pt x="0" y="1047115"/>
                  </a:cubicBezTo>
                  <a:close/>
                </a:path>
              </a:pathLst>
            </a:custGeom>
            <a:solidFill>
              <a:srgbClr val="FFFFFF"/>
            </a:solidFill>
            <a:ln w="19050" cap="sq">
              <a:solidFill>
                <a:srgbClr val="2E5AAC"/>
              </a:solidFill>
              <a:prstDash val="solid"/>
              <a:miter/>
            </a:ln>
          </p:spPr>
        </p:sp>
      </p:grpSp>
      <p:grpSp>
        <p:nvGrpSpPr>
          <p:cNvPr name="Group 36" id="36"/>
          <p:cNvGrpSpPr/>
          <p:nvPr/>
        </p:nvGrpSpPr>
        <p:grpSpPr>
          <a:xfrm rot="0">
            <a:off x="10273284" y="3803226"/>
            <a:ext cx="2811780" cy="850392"/>
            <a:chOff x="0" y="0"/>
            <a:chExt cx="3749040" cy="1133856"/>
          </a:xfrm>
        </p:grpSpPr>
        <p:sp>
          <p:nvSpPr>
            <p:cNvPr name="Freeform 37" id="37"/>
            <p:cNvSpPr/>
            <p:nvPr/>
          </p:nvSpPr>
          <p:spPr>
            <a:xfrm flipH="false" flipV="false" rot="0">
              <a:off x="0" y="0"/>
              <a:ext cx="3749040" cy="1133856"/>
            </a:xfrm>
            <a:custGeom>
              <a:avLst/>
              <a:gdLst/>
              <a:ahLst/>
              <a:cxnLst/>
              <a:rect r="r" b="b" t="t" l="l"/>
              <a:pathLst>
                <a:path h="1133856" w="3749040">
                  <a:moveTo>
                    <a:pt x="0" y="0"/>
                  </a:moveTo>
                  <a:lnTo>
                    <a:pt x="3749040" y="0"/>
                  </a:lnTo>
                  <a:lnTo>
                    <a:pt x="3749040" y="1133856"/>
                  </a:lnTo>
                  <a:lnTo>
                    <a:pt x="0" y="1133856"/>
                  </a:lnTo>
                  <a:close/>
                </a:path>
              </a:pathLst>
            </a:custGeom>
            <a:blipFill>
              <a:blip r:embed="rId2">
                <a:alphaModFix amt="0"/>
              </a:blip>
              <a:stretch>
                <a:fillRect l="0" t="-14426" r="0" b="-14426"/>
              </a:stretch>
            </a:blipFill>
          </p:spPr>
        </p:sp>
        <p:sp>
          <p:nvSpPr>
            <p:cNvPr name="TextBox 38" id="38"/>
            <p:cNvSpPr txBox="true"/>
            <p:nvPr/>
          </p:nvSpPr>
          <p:spPr>
            <a:xfrm>
              <a:off x="0" y="0"/>
              <a:ext cx="3749040" cy="1133856"/>
            </a:xfrm>
            <a:prstGeom prst="rect">
              <a:avLst/>
            </a:prstGeom>
          </p:spPr>
          <p:txBody>
            <a:bodyPr anchor="ctr" rtlCol="false" tIns="0" lIns="0" bIns="0" rIns="0"/>
            <a:lstStyle/>
            <a:p>
              <a:pPr algn="ctr">
                <a:lnSpc>
                  <a:spcPts val="2639"/>
                </a:lnSpc>
              </a:pPr>
              <a:r>
                <a:rPr lang="en-US" sz="2199">
                  <a:solidFill>
                    <a:srgbClr val="1E2A44"/>
                  </a:solidFill>
                  <a:latin typeface="Aptos"/>
                  <a:ea typeface="Aptos"/>
                  <a:cs typeface="Aptos"/>
                  <a:sym typeface="Aptos"/>
                </a:rPr>
                <a:t>CRM Desktop UI</a:t>
              </a:r>
            </a:p>
          </p:txBody>
        </p:sp>
      </p:grpSp>
      <p:grpSp>
        <p:nvGrpSpPr>
          <p:cNvPr name="Group 39" id="39"/>
          <p:cNvGrpSpPr/>
          <p:nvPr/>
        </p:nvGrpSpPr>
        <p:grpSpPr>
          <a:xfrm rot="0">
            <a:off x="13126212" y="4037541"/>
            <a:ext cx="301752" cy="219456"/>
            <a:chOff x="0" y="0"/>
            <a:chExt cx="402336" cy="292608"/>
          </a:xfrm>
        </p:grpSpPr>
        <p:sp>
          <p:nvSpPr>
            <p:cNvPr name="Freeform 40" id="40"/>
            <p:cNvSpPr/>
            <p:nvPr/>
          </p:nvSpPr>
          <p:spPr>
            <a:xfrm flipH="false" flipV="false" rot="0">
              <a:off x="0" y="0"/>
              <a:ext cx="402336" cy="292608"/>
            </a:xfrm>
            <a:custGeom>
              <a:avLst/>
              <a:gdLst/>
              <a:ahLst/>
              <a:cxnLst/>
              <a:rect r="r" b="b" t="t" l="l"/>
              <a:pathLst>
                <a:path h="292608" w="402336">
                  <a:moveTo>
                    <a:pt x="0" y="146304"/>
                  </a:moveTo>
                  <a:lnTo>
                    <a:pt x="146304" y="0"/>
                  </a:lnTo>
                  <a:lnTo>
                    <a:pt x="146304" y="73152"/>
                  </a:lnTo>
                  <a:lnTo>
                    <a:pt x="256032" y="73152"/>
                  </a:lnTo>
                  <a:lnTo>
                    <a:pt x="256032" y="0"/>
                  </a:lnTo>
                  <a:lnTo>
                    <a:pt x="402336" y="146304"/>
                  </a:lnTo>
                  <a:lnTo>
                    <a:pt x="256032" y="292608"/>
                  </a:lnTo>
                  <a:lnTo>
                    <a:pt x="256032" y="219456"/>
                  </a:lnTo>
                  <a:lnTo>
                    <a:pt x="146304" y="219456"/>
                  </a:lnTo>
                  <a:lnTo>
                    <a:pt x="146304" y="292608"/>
                  </a:lnTo>
                  <a:close/>
                </a:path>
              </a:pathLst>
            </a:custGeom>
            <a:solidFill>
              <a:srgbClr val="2E5AAC"/>
            </a:solidFill>
          </p:spPr>
        </p:sp>
      </p:grpSp>
      <p:grpSp>
        <p:nvGrpSpPr>
          <p:cNvPr name="Group 41" id="41"/>
          <p:cNvGrpSpPr/>
          <p:nvPr/>
        </p:nvGrpSpPr>
        <p:grpSpPr>
          <a:xfrm rot="0">
            <a:off x="13459587" y="3793701"/>
            <a:ext cx="2830830" cy="869442"/>
            <a:chOff x="0" y="0"/>
            <a:chExt cx="3774440" cy="1159256"/>
          </a:xfrm>
        </p:grpSpPr>
        <p:sp>
          <p:nvSpPr>
            <p:cNvPr name="Freeform 42" id="42"/>
            <p:cNvSpPr/>
            <p:nvPr/>
          </p:nvSpPr>
          <p:spPr>
            <a:xfrm flipH="false" flipV="false" rot="0">
              <a:off x="0" y="0"/>
              <a:ext cx="3774440" cy="1159256"/>
            </a:xfrm>
            <a:custGeom>
              <a:avLst/>
              <a:gdLst/>
              <a:ahLst/>
              <a:cxnLst/>
              <a:rect r="r" b="b" t="t" l="l"/>
              <a:pathLst>
                <a:path h="1159256" w="3774440">
                  <a:moveTo>
                    <a:pt x="0" y="112141"/>
                  </a:moveTo>
                  <a:cubicBezTo>
                    <a:pt x="0" y="50165"/>
                    <a:pt x="50165" y="0"/>
                    <a:pt x="112141" y="0"/>
                  </a:cubicBezTo>
                  <a:lnTo>
                    <a:pt x="3662299" y="0"/>
                  </a:lnTo>
                  <a:cubicBezTo>
                    <a:pt x="3724275" y="0"/>
                    <a:pt x="3774440" y="50165"/>
                    <a:pt x="3774440" y="112141"/>
                  </a:cubicBezTo>
                  <a:lnTo>
                    <a:pt x="3774440" y="1047115"/>
                  </a:lnTo>
                  <a:cubicBezTo>
                    <a:pt x="3774440" y="1109091"/>
                    <a:pt x="3724275" y="1159256"/>
                    <a:pt x="3662299" y="1159256"/>
                  </a:cubicBezTo>
                  <a:lnTo>
                    <a:pt x="112141" y="1159256"/>
                  </a:lnTo>
                  <a:cubicBezTo>
                    <a:pt x="50165" y="1159256"/>
                    <a:pt x="0" y="1109091"/>
                    <a:pt x="0" y="1047115"/>
                  </a:cubicBezTo>
                  <a:close/>
                </a:path>
              </a:pathLst>
            </a:custGeom>
            <a:solidFill>
              <a:srgbClr val="FFFFFF"/>
            </a:solidFill>
            <a:ln w="19050" cap="sq">
              <a:solidFill>
                <a:srgbClr val="2E5AAC"/>
              </a:solidFill>
              <a:prstDash val="solid"/>
              <a:miter/>
            </a:ln>
          </p:spPr>
        </p:sp>
      </p:grpSp>
      <p:grpSp>
        <p:nvGrpSpPr>
          <p:cNvPr name="Group 43" id="43"/>
          <p:cNvGrpSpPr/>
          <p:nvPr/>
        </p:nvGrpSpPr>
        <p:grpSpPr>
          <a:xfrm rot="0">
            <a:off x="13469112" y="3852364"/>
            <a:ext cx="2811780" cy="850392"/>
            <a:chOff x="0" y="0"/>
            <a:chExt cx="3749040" cy="1133856"/>
          </a:xfrm>
        </p:grpSpPr>
        <p:sp>
          <p:nvSpPr>
            <p:cNvPr name="Freeform 44" id="44"/>
            <p:cNvSpPr/>
            <p:nvPr/>
          </p:nvSpPr>
          <p:spPr>
            <a:xfrm flipH="false" flipV="false" rot="0">
              <a:off x="0" y="0"/>
              <a:ext cx="3749040" cy="1133856"/>
            </a:xfrm>
            <a:custGeom>
              <a:avLst/>
              <a:gdLst/>
              <a:ahLst/>
              <a:cxnLst/>
              <a:rect r="r" b="b" t="t" l="l"/>
              <a:pathLst>
                <a:path h="1133856" w="3749040">
                  <a:moveTo>
                    <a:pt x="0" y="0"/>
                  </a:moveTo>
                  <a:lnTo>
                    <a:pt x="3749040" y="0"/>
                  </a:lnTo>
                  <a:lnTo>
                    <a:pt x="3749040" y="1133856"/>
                  </a:lnTo>
                  <a:lnTo>
                    <a:pt x="0" y="1133856"/>
                  </a:lnTo>
                  <a:close/>
                </a:path>
              </a:pathLst>
            </a:custGeom>
            <a:blipFill>
              <a:blip r:embed="rId2">
                <a:alphaModFix amt="0"/>
              </a:blip>
              <a:stretch>
                <a:fillRect l="0" t="-14426" r="0" b="-14426"/>
              </a:stretch>
            </a:blipFill>
          </p:spPr>
        </p:sp>
        <p:sp>
          <p:nvSpPr>
            <p:cNvPr name="TextBox 45" id="45"/>
            <p:cNvSpPr txBox="true"/>
            <p:nvPr/>
          </p:nvSpPr>
          <p:spPr>
            <a:xfrm>
              <a:off x="0" y="0"/>
              <a:ext cx="3749040" cy="1133856"/>
            </a:xfrm>
            <a:prstGeom prst="rect">
              <a:avLst/>
            </a:prstGeom>
          </p:spPr>
          <p:txBody>
            <a:bodyPr anchor="ctr" rtlCol="false" tIns="0" lIns="0" bIns="0" rIns="0"/>
            <a:lstStyle/>
            <a:p>
              <a:pPr algn="ctr">
                <a:lnSpc>
                  <a:spcPts val="2639"/>
                </a:lnSpc>
              </a:pPr>
              <a:r>
                <a:rPr lang="en-US" sz="2199">
                  <a:solidFill>
                    <a:srgbClr val="1E2A44"/>
                  </a:solidFill>
                  <a:latin typeface="Aptos"/>
                  <a:ea typeface="Aptos"/>
                  <a:cs typeface="Aptos"/>
                  <a:sym typeface="Aptos"/>
                </a:rPr>
                <a:t>Customer / CRM</a:t>
              </a:r>
            </a:p>
            <a:p>
              <a:pPr algn="ctr">
                <a:lnSpc>
                  <a:spcPts val="2639"/>
                </a:lnSpc>
              </a:pPr>
              <a:r>
                <a:rPr lang="en-US" sz="2199">
                  <a:solidFill>
                    <a:srgbClr val="1E2A44"/>
                  </a:solidFill>
                  <a:latin typeface="Aptos"/>
                  <a:ea typeface="Aptos"/>
                  <a:cs typeface="Aptos"/>
                  <a:sym typeface="Aptos"/>
                </a:rPr>
                <a:t>Consultation</a:t>
              </a:r>
            </a:p>
          </p:txBody>
        </p:sp>
      </p:grpSp>
      <p:grpSp>
        <p:nvGrpSpPr>
          <p:cNvPr name="Group 46" id="46"/>
          <p:cNvGrpSpPr/>
          <p:nvPr/>
        </p:nvGrpSpPr>
        <p:grpSpPr>
          <a:xfrm rot="0">
            <a:off x="685800" y="3003899"/>
            <a:ext cx="6007608" cy="575299"/>
            <a:chOff x="0" y="0"/>
            <a:chExt cx="8010144" cy="767066"/>
          </a:xfrm>
        </p:grpSpPr>
        <p:sp>
          <p:nvSpPr>
            <p:cNvPr name="Freeform 47" id="47"/>
            <p:cNvSpPr/>
            <p:nvPr/>
          </p:nvSpPr>
          <p:spPr>
            <a:xfrm flipH="false" flipV="false" rot="0">
              <a:off x="0" y="0"/>
              <a:ext cx="8010144" cy="767066"/>
            </a:xfrm>
            <a:custGeom>
              <a:avLst/>
              <a:gdLst/>
              <a:ahLst/>
              <a:cxnLst/>
              <a:rect r="r" b="b" t="t" l="l"/>
              <a:pathLst>
                <a:path h="767066" w="8010144">
                  <a:moveTo>
                    <a:pt x="0" y="383533"/>
                  </a:moveTo>
                  <a:cubicBezTo>
                    <a:pt x="0" y="171688"/>
                    <a:pt x="106426" y="0"/>
                    <a:pt x="237744" y="0"/>
                  </a:cubicBezTo>
                  <a:lnTo>
                    <a:pt x="7772400" y="0"/>
                  </a:lnTo>
                  <a:cubicBezTo>
                    <a:pt x="7903718" y="0"/>
                    <a:pt x="8010144" y="171688"/>
                    <a:pt x="8010144" y="383533"/>
                  </a:cubicBezTo>
                  <a:cubicBezTo>
                    <a:pt x="8010144" y="595377"/>
                    <a:pt x="7903718" y="767066"/>
                    <a:pt x="7772400" y="767066"/>
                  </a:cubicBezTo>
                  <a:lnTo>
                    <a:pt x="237744" y="767066"/>
                  </a:lnTo>
                  <a:cubicBezTo>
                    <a:pt x="106426" y="767066"/>
                    <a:pt x="0" y="595377"/>
                    <a:pt x="0" y="383533"/>
                  </a:cubicBezTo>
                  <a:close/>
                </a:path>
              </a:pathLst>
            </a:custGeom>
            <a:solidFill>
              <a:srgbClr val="E7EEF9"/>
            </a:solidFill>
          </p:spPr>
        </p:sp>
      </p:grpSp>
      <p:grpSp>
        <p:nvGrpSpPr>
          <p:cNvPr name="Group 48" id="48"/>
          <p:cNvGrpSpPr/>
          <p:nvPr/>
        </p:nvGrpSpPr>
        <p:grpSpPr>
          <a:xfrm rot="0">
            <a:off x="800100" y="2974796"/>
            <a:ext cx="5664708" cy="633504"/>
            <a:chOff x="0" y="0"/>
            <a:chExt cx="7552944" cy="844673"/>
          </a:xfrm>
        </p:grpSpPr>
        <p:sp>
          <p:nvSpPr>
            <p:cNvPr name="Freeform 49" id="49"/>
            <p:cNvSpPr/>
            <p:nvPr/>
          </p:nvSpPr>
          <p:spPr>
            <a:xfrm flipH="false" flipV="false" rot="0">
              <a:off x="0" y="0"/>
              <a:ext cx="7552944" cy="844672"/>
            </a:xfrm>
            <a:custGeom>
              <a:avLst/>
              <a:gdLst/>
              <a:ahLst/>
              <a:cxnLst/>
              <a:rect r="r" b="b" t="t" l="l"/>
              <a:pathLst>
                <a:path h="844672" w="7552944">
                  <a:moveTo>
                    <a:pt x="0" y="0"/>
                  </a:moveTo>
                  <a:lnTo>
                    <a:pt x="7552944" y="0"/>
                  </a:lnTo>
                  <a:lnTo>
                    <a:pt x="7552944" y="844672"/>
                  </a:lnTo>
                  <a:lnTo>
                    <a:pt x="0" y="844672"/>
                  </a:lnTo>
                  <a:close/>
                </a:path>
              </a:pathLst>
            </a:custGeom>
            <a:blipFill>
              <a:blip r:embed="rId2">
                <a:alphaModFix amt="0"/>
              </a:blip>
              <a:stretch>
                <a:fillRect l="0" t="-156632" r="-6053" b="-112925"/>
              </a:stretch>
            </a:blipFill>
          </p:spPr>
        </p:sp>
        <p:sp>
          <p:nvSpPr>
            <p:cNvPr name="TextBox 50" id="50"/>
            <p:cNvSpPr txBox="true"/>
            <p:nvPr/>
          </p:nvSpPr>
          <p:spPr>
            <a:xfrm>
              <a:off x="0" y="0"/>
              <a:ext cx="7552944" cy="844673"/>
            </a:xfrm>
            <a:prstGeom prst="rect">
              <a:avLst/>
            </a:prstGeom>
          </p:spPr>
          <p:txBody>
            <a:bodyPr anchor="ctr" rtlCol="false" tIns="0" lIns="0" bIns="0" rIns="0"/>
            <a:lstStyle/>
            <a:p>
              <a:pPr algn="ctr">
                <a:lnSpc>
                  <a:spcPts val="2639"/>
                </a:lnSpc>
              </a:pPr>
              <a:r>
                <a:rPr lang="en-US" sz="2199" b="true">
                  <a:solidFill>
                    <a:srgbClr val="2E5AAC"/>
                  </a:solidFill>
                  <a:latin typeface="Aptos Bold"/>
                  <a:ea typeface="Aptos Bold"/>
                  <a:cs typeface="Aptos Bold"/>
                  <a:sym typeface="Aptos Bold"/>
                </a:rPr>
                <a:t>OFFLINE · MONTHLY OVERNIGHT BATCH</a:t>
              </a:r>
            </a:p>
          </p:txBody>
        </p:sp>
      </p:grpSp>
      <p:grpSp>
        <p:nvGrpSpPr>
          <p:cNvPr name="Group 51" id="51"/>
          <p:cNvGrpSpPr/>
          <p:nvPr/>
        </p:nvGrpSpPr>
        <p:grpSpPr>
          <a:xfrm rot="0">
            <a:off x="7077456" y="3041226"/>
            <a:ext cx="9203436" cy="567075"/>
            <a:chOff x="0" y="0"/>
            <a:chExt cx="12271248" cy="756099"/>
          </a:xfrm>
        </p:grpSpPr>
        <p:sp>
          <p:nvSpPr>
            <p:cNvPr name="Freeform 52" id="52"/>
            <p:cNvSpPr/>
            <p:nvPr/>
          </p:nvSpPr>
          <p:spPr>
            <a:xfrm flipH="false" flipV="false" rot="0">
              <a:off x="0" y="0"/>
              <a:ext cx="12271248" cy="756099"/>
            </a:xfrm>
            <a:custGeom>
              <a:avLst/>
              <a:gdLst/>
              <a:ahLst/>
              <a:cxnLst/>
              <a:rect r="r" b="b" t="t" l="l"/>
              <a:pathLst>
                <a:path h="756099" w="12271248">
                  <a:moveTo>
                    <a:pt x="0" y="378050"/>
                  </a:moveTo>
                  <a:cubicBezTo>
                    <a:pt x="0" y="169234"/>
                    <a:pt x="106426" y="0"/>
                    <a:pt x="237744" y="0"/>
                  </a:cubicBezTo>
                  <a:lnTo>
                    <a:pt x="12033503" y="0"/>
                  </a:lnTo>
                  <a:cubicBezTo>
                    <a:pt x="12164822" y="0"/>
                    <a:pt x="12271248" y="169234"/>
                    <a:pt x="12271248" y="378050"/>
                  </a:cubicBezTo>
                  <a:cubicBezTo>
                    <a:pt x="12271248" y="586866"/>
                    <a:pt x="12164822" y="756099"/>
                    <a:pt x="12033503" y="756099"/>
                  </a:cubicBezTo>
                  <a:lnTo>
                    <a:pt x="237744" y="756099"/>
                  </a:lnTo>
                  <a:cubicBezTo>
                    <a:pt x="106426" y="756099"/>
                    <a:pt x="0" y="586866"/>
                    <a:pt x="0" y="378050"/>
                  </a:cubicBezTo>
                  <a:close/>
                </a:path>
              </a:pathLst>
            </a:custGeom>
            <a:solidFill>
              <a:srgbClr val="E7EEF9"/>
            </a:solidFill>
          </p:spPr>
        </p:sp>
      </p:grpSp>
      <p:grpSp>
        <p:nvGrpSpPr>
          <p:cNvPr name="Group 53" id="53"/>
          <p:cNvGrpSpPr/>
          <p:nvPr/>
        </p:nvGrpSpPr>
        <p:grpSpPr>
          <a:xfrm rot="0">
            <a:off x="7725493" y="3117353"/>
            <a:ext cx="7571657" cy="415250"/>
            <a:chOff x="0" y="0"/>
            <a:chExt cx="10085106" cy="553095"/>
          </a:xfrm>
        </p:grpSpPr>
        <p:sp>
          <p:nvSpPr>
            <p:cNvPr name="Freeform 54" id="54"/>
            <p:cNvSpPr/>
            <p:nvPr/>
          </p:nvSpPr>
          <p:spPr>
            <a:xfrm flipH="false" flipV="false" rot="0">
              <a:off x="0" y="0"/>
              <a:ext cx="10085105" cy="553095"/>
            </a:xfrm>
            <a:custGeom>
              <a:avLst/>
              <a:gdLst/>
              <a:ahLst/>
              <a:cxnLst/>
              <a:rect r="r" b="b" t="t" l="l"/>
              <a:pathLst>
                <a:path h="553095" w="10085105">
                  <a:moveTo>
                    <a:pt x="0" y="0"/>
                  </a:moveTo>
                  <a:lnTo>
                    <a:pt x="10085105" y="0"/>
                  </a:lnTo>
                  <a:lnTo>
                    <a:pt x="10085105" y="553095"/>
                  </a:lnTo>
                  <a:lnTo>
                    <a:pt x="0" y="553095"/>
                  </a:lnTo>
                  <a:close/>
                </a:path>
              </a:pathLst>
            </a:custGeom>
            <a:blipFill>
              <a:blip r:embed="rId2">
                <a:alphaModFix amt="0"/>
              </a:blip>
              <a:stretch>
                <a:fillRect l="0" t="-389320" r="-21676" b="-375289"/>
              </a:stretch>
            </a:blipFill>
          </p:spPr>
        </p:sp>
        <p:sp>
          <p:nvSpPr>
            <p:cNvPr name="TextBox 55" id="55"/>
            <p:cNvSpPr txBox="true"/>
            <p:nvPr/>
          </p:nvSpPr>
          <p:spPr>
            <a:xfrm>
              <a:off x="0" y="0"/>
              <a:ext cx="10085106" cy="553095"/>
            </a:xfrm>
            <a:prstGeom prst="rect">
              <a:avLst/>
            </a:prstGeom>
          </p:spPr>
          <p:txBody>
            <a:bodyPr anchor="ctr" rtlCol="false" tIns="0" lIns="0" bIns="0" rIns="0"/>
            <a:lstStyle/>
            <a:p>
              <a:pPr algn="ctr">
                <a:lnSpc>
                  <a:spcPts val="2639"/>
                </a:lnSpc>
              </a:pPr>
              <a:r>
                <a:rPr lang="en-US" sz="2199" b="true">
                  <a:solidFill>
                    <a:srgbClr val="2E5AAC"/>
                  </a:solidFill>
                  <a:latin typeface="Aptos Bold"/>
                  <a:ea typeface="Aptos Bold"/>
                  <a:cs typeface="Aptos Bold"/>
                  <a:sym typeface="Aptos Bold"/>
                </a:rPr>
                <a:t>ONLINE · INSTANT RETRIEVAL, NO SOLVER CALL</a:t>
              </a:r>
            </a:p>
          </p:txBody>
        </p:sp>
      </p:grpSp>
      <p:grpSp>
        <p:nvGrpSpPr>
          <p:cNvPr name="Group 56" id="56"/>
          <p:cNvGrpSpPr/>
          <p:nvPr/>
        </p:nvGrpSpPr>
        <p:grpSpPr>
          <a:xfrm rot="0">
            <a:off x="685800" y="5029232"/>
            <a:ext cx="8366760" cy="438912"/>
            <a:chOff x="0" y="0"/>
            <a:chExt cx="11155680" cy="585216"/>
          </a:xfrm>
        </p:grpSpPr>
        <p:sp>
          <p:nvSpPr>
            <p:cNvPr name="Freeform 57" id="57"/>
            <p:cNvSpPr/>
            <p:nvPr/>
          </p:nvSpPr>
          <p:spPr>
            <a:xfrm flipH="false" flipV="false" rot="0">
              <a:off x="0" y="0"/>
              <a:ext cx="11155680" cy="585216"/>
            </a:xfrm>
            <a:custGeom>
              <a:avLst/>
              <a:gdLst/>
              <a:ahLst/>
              <a:cxnLst/>
              <a:rect r="r" b="b" t="t" l="l"/>
              <a:pathLst>
                <a:path h="585216" w="11155680">
                  <a:moveTo>
                    <a:pt x="0" y="0"/>
                  </a:moveTo>
                  <a:lnTo>
                    <a:pt x="11155680" y="0"/>
                  </a:lnTo>
                  <a:lnTo>
                    <a:pt x="11155680" y="585216"/>
                  </a:lnTo>
                  <a:lnTo>
                    <a:pt x="0" y="585216"/>
                  </a:lnTo>
                  <a:close/>
                </a:path>
              </a:pathLst>
            </a:custGeom>
            <a:blipFill>
              <a:blip r:embed="rId2">
                <a:alphaModFix amt="0"/>
              </a:blip>
              <a:stretch>
                <a:fillRect l="0" t="-321433" r="0" b="-321433"/>
              </a:stretch>
            </a:blipFill>
          </p:spPr>
        </p:sp>
        <p:sp>
          <p:nvSpPr>
            <p:cNvPr name="TextBox 58" id="58"/>
            <p:cNvSpPr txBox="true"/>
            <p:nvPr/>
          </p:nvSpPr>
          <p:spPr>
            <a:xfrm>
              <a:off x="0" y="0"/>
              <a:ext cx="11155680" cy="585216"/>
            </a:xfrm>
            <a:prstGeom prst="rect">
              <a:avLst/>
            </a:prstGeom>
          </p:spPr>
          <p:txBody>
            <a:bodyPr anchor="ctr" rtlCol="false" tIns="0" lIns="0" bIns="0" rIns="0"/>
            <a:lstStyle/>
            <a:p>
              <a:pPr algn="l">
                <a:lnSpc>
                  <a:spcPts val="2700"/>
                </a:lnSpc>
              </a:pPr>
              <a:r>
                <a:rPr lang="en-US" sz="2250" b="true">
                  <a:solidFill>
                    <a:srgbClr val="1E2A44"/>
                  </a:solidFill>
                  <a:latin typeface="Aptos Bold"/>
                  <a:ea typeface="Aptos Bold"/>
                  <a:cs typeface="Aptos Bold"/>
                  <a:sym typeface="Aptos Bold"/>
                </a:rPr>
                <a:t>Why batch processing?</a:t>
              </a:r>
            </a:p>
          </p:txBody>
        </p:sp>
      </p:grpSp>
      <p:grpSp>
        <p:nvGrpSpPr>
          <p:cNvPr name="Group 59" id="59"/>
          <p:cNvGrpSpPr/>
          <p:nvPr/>
        </p:nvGrpSpPr>
        <p:grpSpPr>
          <a:xfrm rot="0">
            <a:off x="561975" y="5596922"/>
            <a:ext cx="8366760" cy="2814588"/>
            <a:chOff x="0" y="0"/>
            <a:chExt cx="11155680" cy="3752784"/>
          </a:xfrm>
        </p:grpSpPr>
        <p:sp>
          <p:nvSpPr>
            <p:cNvPr name="Freeform 60" id="60"/>
            <p:cNvSpPr/>
            <p:nvPr/>
          </p:nvSpPr>
          <p:spPr>
            <a:xfrm flipH="false" flipV="false" rot="0">
              <a:off x="0" y="0"/>
              <a:ext cx="11155680" cy="3752784"/>
            </a:xfrm>
            <a:custGeom>
              <a:avLst/>
              <a:gdLst/>
              <a:ahLst/>
              <a:cxnLst/>
              <a:rect r="r" b="b" t="t" l="l"/>
              <a:pathLst>
                <a:path h="3752784" w="11155680">
                  <a:moveTo>
                    <a:pt x="0" y="0"/>
                  </a:moveTo>
                  <a:lnTo>
                    <a:pt x="11155680" y="0"/>
                  </a:lnTo>
                  <a:lnTo>
                    <a:pt x="11155680" y="3752784"/>
                  </a:lnTo>
                  <a:lnTo>
                    <a:pt x="0" y="3752784"/>
                  </a:lnTo>
                  <a:close/>
                </a:path>
              </a:pathLst>
            </a:custGeom>
            <a:blipFill>
              <a:blip r:embed="rId2">
                <a:alphaModFix amt="0"/>
              </a:blip>
              <a:stretch>
                <a:fillRect l="0" t="-9190" r="0" b="-6653"/>
              </a:stretch>
            </a:blipFill>
          </p:spPr>
        </p:sp>
        <p:sp>
          <p:nvSpPr>
            <p:cNvPr name="TextBox 61" id="61"/>
            <p:cNvSpPr txBox="true"/>
            <p:nvPr/>
          </p:nvSpPr>
          <p:spPr>
            <a:xfrm>
              <a:off x="0" y="-9525"/>
              <a:ext cx="11155680" cy="3762309"/>
            </a:xfrm>
            <a:prstGeom prst="rect">
              <a:avLst/>
            </a:prstGeom>
          </p:spPr>
          <p:txBody>
            <a:bodyPr anchor="ctr" rtlCol="false" tIns="0" lIns="0" bIns="0" rIns="0"/>
            <a:lstStyle/>
            <a:p>
              <a:pPr algn="l" marL="398145" indent="-199072" lvl="1">
                <a:lnSpc>
                  <a:spcPts val="2719"/>
                </a:lnSpc>
                <a:buFont typeface="Arial"/>
                <a:buChar char="•"/>
              </a:pPr>
              <a:r>
                <a:rPr lang="en-US" sz="2199">
                  <a:solidFill>
                    <a:srgbClr val="1E2A44"/>
                  </a:solidFill>
                  <a:latin typeface="Aptos"/>
                  <a:ea typeface="Aptos"/>
                  <a:cs typeface="Aptos"/>
                  <a:sym typeface="Aptos"/>
                </a:rPr>
                <a:t>Nonlinear (Markowitz-type) optimization is computationally demanding to solve on demand.</a:t>
              </a:r>
            </a:p>
            <a:p>
              <a:pPr algn="l" marL="398145" indent="-199072" lvl="1">
                <a:lnSpc>
                  <a:spcPts val="2719"/>
                </a:lnSpc>
                <a:buFont typeface="Arial"/>
                <a:buChar char="•"/>
              </a:pPr>
              <a:r>
                <a:rPr lang="en-US" sz="2199">
                  <a:solidFill>
                    <a:srgbClr val="1E2A44"/>
                  </a:solidFill>
                  <a:latin typeface="Aptos"/>
                  <a:ea typeface="Aptos"/>
                  <a:cs typeface="Aptos"/>
                  <a:sym typeface="Aptos"/>
                </a:rPr>
                <a:t>Each monthly run solves tens of thousands of customer-profile combinations — about 36,000 portfolios — in one unattended overnight batch.</a:t>
              </a:r>
            </a:p>
            <a:p>
              <a:pPr algn="l" marL="398145" indent="-199072" lvl="1">
                <a:lnSpc>
                  <a:spcPts val="2719"/>
                </a:lnSpc>
                <a:buFont typeface="Arial"/>
                <a:buChar char="•"/>
              </a:pPr>
              <a:r>
                <a:rPr lang="en-US" sz="2199">
                  <a:solidFill>
                    <a:srgbClr val="1E2A44"/>
                  </a:solidFill>
                  <a:latin typeface="Aptos"/>
                  <a:ea typeface="Aptos"/>
                  <a:cs typeface="Aptos"/>
                  <a:sym typeface="Aptos"/>
                </a:rPr>
                <a:t>CRMs then retrieve the matching solution instantly during a live consultation — no waiting on an optimizer, no risk of a stalled session in front of a customer.</a:t>
              </a:r>
            </a:p>
          </p:txBody>
        </p:sp>
      </p:grpSp>
      <p:grpSp>
        <p:nvGrpSpPr>
          <p:cNvPr name="Group 62" id="62"/>
          <p:cNvGrpSpPr/>
          <p:nvPr/>
        </p:nvGrpSpPr>
        <p:grpSpPr>
          <a:xfrm rot="0">
            <a:off x="9532620" y="4945380"/>
            <a:ext cx="8023860" cy="438912"/>
            <a:chOff x="0" y="0"/>
            <a:chExt cx="10698480" cy="585216"/>
          </a:xfrm>
        </p:grpSpPr>
        <p:sp>
          <p:nvSpPr>
            <p:cNvPr name="Freeform 63" id="63"/>
            <p:cNvSpPr/>
            <p:nvPr/>
          </p:nvSpPr>
          <p:spPr>
            <a:xfrm flipH="false" flipV="false" rot="0">
              <a:off x="0" y="0"/>
              <a:ext cx="10698480" cy="585216"/>
            </a:xfrm>
            <a:custGeom>
              <a:avLst/>
              <a:gdLst/>
              <a:ahLst/>
              <a:cxnLst/>
              <a:rect r="r" b="b" t="t" l="l"/>
              <a:pathLst>
                <a:path h="585216" w="10698480">
                  <a:moveTo>
                    <a:pt x="0" y="0"/>
                  </a:moveTo>
                  <a:lnTo>
                    <a:pt x="10698480" y="0"/>
                  </a:lnTo>
                  <a:lnTo>
                    <a:pt x="10698480" y="585216"/>
                  </a:lnTo>
                  <a:lnTo>
                    <a:pt x="0" y="585216"/>
                  </a:lnTo>
                  <a:close/>
                </a:path>
              </a:pathLst>
            </a:custGeom>
            <a:blipFill>
              <a:blip r:embed="rId2">
                <a:alphaModFix amt="0"/>
              </a:blip>
              <a:stretch>
                <a:fillRect l="0" t="-306210" r="0" b="-306210"/>
              </a:stretch>
            </a:blipFill>
          </p:spPr>
        </p:sp>
        <p:sp>
          <p:nvSpPr>
            <p:cNvPr name="TextBox 64" id="64"/>
            <p:cNvSpPr txBox="true"/>
            <p:nvPr/>
          </p:nvSpPr>
          <p:spPr>
            <a:xfrm>
              <a:off x="0" y="0"/>
              <a:ext cx="10698480" cy="585216"/>
            </a:xfrm>
            <a:prstGeom prst="rect">
              <a:avLst/>
            </a:prstGeom>
          </p:spPr>
          <p:txBody>
            <a:bodyPr anchor="ctr" rtlCol="false" tIns="0" lIns="0" bIns="0" rIns="0"/>
            <a:lstStyle/>
            <a:p>
              <a:pPr algn="l">
                <a:lnSpc>
                  <a:spcPts val="2700"/>
                </a:lnSpc>
              </a:pPr>
              <a:r>
                <a:rPr lang="en-US" sz="2250" b="true">
                  <a:solidFill>
                    <a:srgbClr val="1E2A44"/>
                  </a:solidFill>
                  <a:latin typeface="Aptos Bold"/>
                  <a:ea typeface="Aptos Bold"/>
                  <a:cs typeface="Aptos Bold"/>
                  <a:sym typeface="Aptos Bold"/>
                </a:rPr>
                <a:t>Implementation scale</a:t>
              </a:r>
            </a:p>
          </p:txBody>
        </p:sp>
      </p:grpSp>
      <p:grpSp>
        <p:nvGrpSpPr>
          <p:cNvPr name="Group 65" id="65"/>
          <p:cNvGrpSpPr/>
          <p:nvPr/>
        </p:nvGrpSpPr>
        <p:grpSpPr>
          <a:xfrm rot="0">
            <a:off x="9299257" y="5463540"/>
            <a:ext cx="2537460" cy="901601"/>
            <a:chOff x="0" y="0"/>
            <a:chExt cx="3383280" cy="1202134"/>
          </a:xfrm>
        </p:grpSpPr>
        <p:sp>
          <p:nvSpPr>
            <p:cNvPr name="Freeform 66" id="66"/>
            <p:cNvSpPr/>
            <p:nvPr/>
          </p:nvSpPr>
          <p:spPr>
            <a:xfrm flipH="false" flipV="false" rot="0">
              <a:off x="0" y="0"/>
              <a:ext cx="3383280" cy="1202134"/>
            </a:xfrm>
            <a:custGeom>
              <a:avLst/>
              <a:gdLst/>
              <a:ahLst/>
              <a:cxnLst/>
              <a:rect r="r" b="b" t="t" l="l"/>
              <a:pathLst>
                <a:path h="1202134" w="3383280">
                  <a:moveTo>
                    <a:pt x="0" y="0"/>
                  </a:moveTo>
                  <a:lnTo>
                    <a:pt x="3383280" y="0"/>
                  </a:lnTo>
                  <a:lnTo>
                    <a:pt x="3383280" y="1202134"/>
                  </a:lnTo>
                  <a:lnTo>
                    <a:pt x="0" y="1202134"/>
                  </a:lnTo>
                  <a:close/>
                </a:path>
              </a:pathLst>
            </a:custGeom>
            <a:blipFill>
              <a:blip r:embed="rId2">
                <a:alphaModFix amt="0"/>
              </a:blip>
              <a:stretch>
                <a:fillRect l="0" t="-9199" r="0" b="-477"/>
              </a:stretch>
            </a:blipFill>
          </p:spPr>
        </p:sp>
        <p:sp>
          <p:nvSpPr>
            <p:cNvPr name="TextBox 67" id="67"/>
            <p:cNvSpPr txBox="true"/>
            <p:nvPr/>
          </p:nvSpPr>
          <p:spPr>
            <a:xfrm>
              <a:off x="0" y="9525"/>
              <a:ext cx="3383280" cy="1192609"/>
            </a:xfrm>
            <a:prstGeom prst="rect">
              <a:avLst/>
            </a:prstGeom>
          </p:spPr>
          <p:txBody>
            <a:bodyPr anchor="ctr" rtlCol="false" tIns="0" lIns="0" bIns="0" rIns="0"/>
            <a:lstStyle/>
            <a:p>
              <a:pPr algn="ctr">
                <a:lnSpc>
                  <a:spcPts val="5759"/>
                </a:lnSpc>
              </a:pPr>
              <a:r>
                <a:rPr lang="en-US" sz="4800" b="true">
                  <a:solidFill>
                    <a:srgbClr val="2E5AAC"/>
                  </a:solidFill>
                  <a:latin typeface="Aptos Bold"/>
                  <a:ea typeface="Aptos Bold"/>
                  <a:cs typeface="Aptos Bold"/>
                  <a:sym typeface="Aptos Bold"/>
                </a:rPr>
                <a:t>47</a:t>
              </a:r>
            </a:p>
          </p:txBody>
        </p:sp>
      </p:grpSp>
      <p:grpSp>
        <p:nvGrpSpPr>
          <p:cNvPr name="Group 68" id="68"/>
          <p:cNvGrpSpPr/>
          <p:nvPr/>
        </p:nvGrpSpPr>
        <p:grpSpPr>
          <a:xfrm rot="0">
            <a:off x="9299257" y="6286500"/>
            <a:ext cx="2537460" cy="414821"/>
            <a:chOff x="0" y="0"/>
            <a:chExt cx="3383280" cy="553095"/>
          </a:xfrm>
        </p:grpSpPr>
        <p:sp>
          <p:nvSpPr>
            <p:cNvPr name="Freeform 69" id="69"/>
            <p:cNvSpPr/>
            <p:nvPr/>
          </p:nvSpPr>
          <p:spPr>
            <a:xfrm flipH="false" flipV="false" rot="0">
              <a:off x="0" y="0"/>
              <a:ext cx="3383280" cy="553095"/>
            </a:xfrm>
            <a:custGeom>
              <a:avLst/>
              <a:gdLst/>
              <a:ahLst/>
              <a:cxnLst/>
              <a:rect r="r" b="b" t="t" l="l"/>
              <a:pathLst>
                <a:path h="553095" w="3383280">
                  <a:moveTo>
                    <a:pt x="0" y="0"/>
                  </a:moveTo>
                  <a:lnTo>
                    <a:pt x="3383280" y="0"/>
                  </a:lnTo>
                  <a:lnTo>
                    <a:pt x="3383280" y="553095"/>
                  </a:lnTo>
                  <a:lnTo>
                    <a:pt x="0" y="553095"/>
                  </a:lnTo>
                  <a:close/>
                </a:path>
              </a:pathLst>
            </a:custGeom>
            <a:blipFill>
              <a:blip r:embed="rId2">
                <a:alphaModFix amt="0"/>
              </a:blip>
              <a:stretch>
                <a:fillRect l="0" t="-82818" r="0" b="-55561"/>
              </a:stretch>
            </a:blipFill>
          </p:spPr>
        </p:sp>
        <p:sp>
          <p:nvSpPr>
            <p:cNvPr name="TextBox 70" id="70"/>
            <p:cNvSpPr txBox="true"/>
            <p:nvPr/>
          </p:nvSpPr>
          <p:spPr>
            <a:xfrm>
              <a:off x="0" y="0"/>
              <a:ext cx="3383280" cy="553095"/>
            </a:xfrm>
            <a:prstGeom prst="rect">
              <a:avLst/>
            </a:prstGeom>
          </p:spPr>
          <p:txBody>
            <a:bodyPr anchor="ctr" rtlCol="false" tIns="0" lIns="0" bIns="0" rIns="0"/>
            <a:lstStyle/>
            <a:p>
              <a:pPr algn="ctr">
                <a:lnSpc>
                  <a:spcPts val="2639"/>
                </a:lnSpc>
              </a:pPr>
              <a:r>
                <a:rPr lang="en-US" sz="2199" b="true">
                  <a:solidFill>
                    <a:srgbClr val="1E2A44"/>
                  </a:solidFill>
                  <a:latin typeface="Aptos Bold"/>
                  <a:ea typeface="Aptos Bold"/>
                  <a:cs typeface="Aptos Bold"/>
                  <a:sym typeface="Aptos Bold"/>
                </a:rPr>
                <a:t>Units (1998)</a:t>
              </a:r>
            </a:p>
          </p:txBody>
        </p:sp>
      </p:grpSp>
      <p:grpSp>
        <p:nvGrpSpPr>
          <p:cNvPr name="Group 71" id="71"/>
          <p:cNvGrpSpPr/>
          <p:nvPr/>
        </p:nvGrpSpPr>
        <p:grpSpPr>
          <a:xfrm rot="0">
            <a:off x="9033510" y="6995688"/>
            <a:ext cx="2811780" cy="748196"/>
            <a:chOff x="0" y="0"/>
            <a:chExt cx="3749040" cy="997595"/>
          </a:xfrm>
        </p:grpSpPr>
        <p:sp>
          <p:nvSpPr>
            <p:cNvPr name="Freeform 72" id="72"/>
            <p:cNvSpPr/>
            <p:nvPr/>
          </p:nvSpPr>
          <p:spPr>
            <a:xfrm flipH="false" flipV="false" rot="0">
              <a:off x="0" y="0"/>
              <a:ext cx="3749040" cy="997595"/>
            </a:xfrm>
            <a:custGeom>
              <a:avLst/>
              <a:gdLst/>
              <a:ahLst/>
              <a:cxnLst/>
              <a:rect r="r" b="b" t="t" l="l"/>
              <a:pathLst>
                <a:path h="997595" w="3749040">
                  <a:moveTo>
                    <a:pt x="0" y="0"/>
                  </a:moveTo>
                  <a:lnTo>
                    <a:pt x="3749040" y="0"/>
                  </a:lnTo>
                  <a:lnTo>
                    <a:pt x="3749040" y="997595"/>
                  </a:lnTo>
                  <a:lnTo>
                    <a:pt x="0" y="997595"/>
                  </a:lnTo>
                  <a:close/>
                </a:path>
              </a:pathLst>
            </a:custGeom>
            <a:blipFill>
              <a:blip r:embed="rId2">
                <a:alphaModFix amt="0"/>
              </a:blip>
              <a:stretch>
                <a:fillRect l="0" t="-22085" r="9756" b="-10079"/>
              </a:stretch>
            </a:blipFill>
          </p:spPr>
        </p:sp>
        <p:sp>
          <p:nvSpPr>
            <p:cNvPr name="TextBox 73" id="73"/>
            <p:cNvSpPr txBox="true"/>
            <p:nvPr/>
          </p:nvSpPr>
          <p:spPr>
            <a:xfrm>
              <a:off x="0" y="0"/>
              <a:ext cx="3749040" cy="997595"/>
            </a:xfrm>
            <a:prstGeom prst="rect">
              <a:avLst/>
            </a:prstGeom>
          </p:spPr>
          <p:txBody>
            <a:bodyPr anchor="ctr" rtlCol="false" tIns="0" lIns="0" bIns="0" rIns="0"/>
            <a:lstStyle/>
            <a:p>
              <a:pPr algn="ctr">
                <a:lnSpc>
                  <a:spcPts val="2639"/>
                </a:lnSpc>
              </a:pPr>
              <a:r>
                <a:rPr lang="en-US" sz="2199">
                  <a:solidFill>
                    <a:srgbClr val="5B6472"/>
                  </a:solidFill>
                  <a:latin typeface="Aptos"/>
                  <a:ea typeface="Aptos"/>
                  <a:cs typeface="Aptos"/>
                  <a:sym typeface="Aptos"/>
                </a:rPr>
                <a:t>Private-banking units</a:t>
              </a:r>
            </a:p>
            <a:p>
              <a:pPr algn="ctr">
                <a:lnSpc>
                  <a:spcPts val="2639"/>
                </a:lnSpc>
              </a:pPr>
              <a:r>
                <a:rPr lang="en-US" sz="2199">
                  <a:solidFill>
                    <a:srgbClr val="5B6472"/>
                  </a:solidFill>
                  <a:latin typeface="Aptos"/>
                  <a:ea typeface="Aptos"/>
                  <a:cs typeface="Aptos"/>
                  <a:sym typeface="Aptos"/>
                </a:rPr>
                <a:t>at launch</a:t>
              </a:r>
            </a:p>
          </p:txBody>
        </p:sp>
      </p:grpSp>
      <p:grpSp>
        <p:nvGrpSpPr>
          <p:cNvPr name="Group 74" id="74"/>
          <p:cNvGrpSpPr/>
          <p:nvPr/>
        </p:nvGrpSpPr>
        <p:grpSpPr>
          <a:xfrm rot="0">
            <a:off x="12285345" y="5349240"/>
            <a:ext cx="2537460" cy="901601"/>
            <a:chOff x="0" y="0"/>
            <a:chExt cx="3383280" cy="1202134"/>
          </a:xfrm>
        </p:grpSpPr>
        <p:sp>
          <p:nvSpPr>
            <p:cNvPr name="Freeform 75" id="75"/>
            <p:cNvSpPr/>
            <p:nvPr/>
          </p:nvSpPr>
          <p:spPr>
            <a:xfrm flipH="false" flipV="false" rot="0">
              <a:off x="0" y="0"/>
              <a:ext cx="3383280" cy="1202134"/>
            </a:xfrm>
            <a:custGeom>
              <a:avLst/>
              <a:gdLst/>
              <a:ahLst/>
              <a:cxnLst/>
              <a:rect r="r" b="b" t="t" l="l"/>
              <a:pathLst>
                <a:path h="1202134" w="3383280">
                  <a:moveTo>
                    <a:pt x="0" y="0"/>
                  </a:moveTo>
                  <a:lnTo>
                    <a:pt x="3383280" y="0"/>
                  </a:lnTo>
                  <a:lnTo>
                    <a:pt x="3383280" y="1202134"/>
                  </a:lnTo>
                  <a:lnTo>
                    <a:pt x="0" y="1202134"/>
                  </a:lnTo>
                  <a:close/>
                </a:path>
              </a:pathLst>
            </a:custGeom>
            <a:blipFill>
              <a:blip r:embed="rId2">
                <a:alphaModFix amt="0"/>
              </a:blip>
              <a:stretch>
                <a:fillRect l="0" t="-9199" r="0" b="-477"/>
              </a:stretch>
            </a:blipFill>
          </p:spPr>
        </p:sp>
        <p:sp>
          <p:nvSpPr>
            <p:cNvPr name="TextBox 76" id="76"/>
            <p:cNvSpPr txBox="true"/>
            <p:nvPr/>
          </p:nvSpPr>
          <p:spPr>
            <a:xfrm>
              <a:off x="0" y="9525"/>
              <a:ext cx="3383280" cy="1192609"/>
            </a:xfrm>
            <a:prstGeom prst="rect">
              <a:avLst/>
            </a:prstGeom>
          </p:spPr>
          <p:txBody>
            <a:bodyPr anchor="ctr" rtlCol="false" tIns="0" lIns="0" bIns="0" rIns="0"/>
            <a:lstStyle/>
            <a:p>
              <a:pPr algn="ctr">
                <a:lnSpc>
                  <a:spcPts val="5759"/>
                </a:lnSpc>
              </a:pPr>
              <a:r>
                <a:rPr lang="en-US" sz="4800" b="true">
                  <a:solidFill>
                    <a:srgbClr val="2E5AAC"/>
                  </a:solidFill>
                  <a:latin typeface="Aptos Bold"/>
                  <a:ea typeface="Aptos Bold"/>
                  <a:cs typeface="Aptos Bold"/>
                  <a:sym typeface="Aptos Bold"/>
                </a:rPr>
                <a:t>485</a:t>
              </a:r>
            </a:p>
          </p:txBody>
        </p:sp>
      </p:grpSp>
      <p:grpSp>
        <p:nvGrpSpPr>
          <p:cNvPr name="Group 77" id="77"/>
          <p:cNvGrpSpPr/>
          <p:nvPr/>
        </p:nvGrpSpPr>
        <p:grpSpPr>
          <a:xfrm rot="0">
            <a:off x="12285345" y="6172200"/>
            <a:ext cx="2537460" cy="414821"/>
            <a:chOff x="0" y="0"/>
            <a:chExt cx="3383280" cy="553095"/>
          </a:xfrm>
        </p:grpSpPr>
        <p:sp>
          <p:nvSpPr>
            <p:cNvPr name="Freeform 78" id="78"/>
            <p:cNvSpPr/>
            <p:nvPr/>
          </p:nvSpPr>
          <p:spPr>
            <a:xfrm flipH="false" flipV="false" rot="0">
              <a:off x="0" y="0"/>
              <a:ext cx="3383280" cy="553095"/>
            </a:xfrm>
            <a:custGeom>
              <a:avLst/>
              <a:gdLst/>
              <a:ahLst/>
              <a:cxnLst/>
              <a:rect r="r" b="b" t="t" l="l"/>
              <a:pathLst>
                <a:path h="553095" w="3383280">
                  <a:moveTo>
                    <a:pt x="0" y="0"/>
                  </a:moveTo>
                  <a:lnTo>
                    <a:pt x="3383280" y="0"/>
                  </a:lnTo>
                  <a:lnTo>
                    <a:pt x="3383280" y="553095"/>
                  </a:lnTo>
                  <a:lnTo>
                    <a:pt x="0" y="553095"/>
                  </a:lnTo>
                  <a:close/>
                </a:path>
              </a:pathLst>
            </a:custGeom>
            <a:blipFill>
              <a:blip r:embed="rId2">
                <a:alphaModFix amt="0"/>
              </a:blip>
              <a:stretch>
                <a:fillRect l="0" t="-82818" r="0" b="-55561"/>
              </a:stretch>
            </a:blipFill>
          </p:spPr>
        </p:sp>
        <p:sp>
          <p:nvSpPr>
            <p:cNvPr name="TextBox 79" id="79"/>
            <p:cNvSpPr txBox="true"/>
            <p:nvPr/>
          </p:nvSpPr>
          <p:spPr>
            <a:xfrm>
              <a:off x="0" y="0"/>
              <a:ext cx="3383280" cy="553095"/>
            </a:xfrm>
            <a:prstGeom prst="rect">
              <a:avLst/>
            </a:prstGeom>
          </p:spPr>
          <p:txBody>
            <a:bodyPr anchor="ctr" rtlCol="false" tIns="0" lIns="0" bIns="0" rIns="0"/>
            <a:lstStyle/>
            <a:p>
              <a:pPr algn="ctr">
                <a:lnSpc>
                  <a:spcPts val="2639"/>
                </a:lnSpc>
              </a:pPr>
              <a:r>
                <a:rPr lang="en-US" sz="2199" b="true">
                  <a:solidFill>
                    <a:srgbClr val="1E2A44"/>
                  </a:solidFill>
                  <a:latin typeface="Aptos Bold"/>
                  <a:ea typeface="Aptos Bold"/>
                  <a:cs typeface="Aptos Bold"/>
                  <a:sym typeface="Aptos Bold"/>
                </a:rPr>
                <a:t>CRMs (2003)</a:t>
              </a:r>
            </a:p>
          </p:txBody>
        </p:sp>
      </p:grpSp>
      <p:grpSp>
        <p:nvGrpSpPr>
          <p:cNvPr name="Group 80" id="80"/>
          <p:cNvGrpSpPr/>
          <p:nvPr/>
        </p:nvGrpSpPr>
        <p:grpSpPr>
          <a:xfrm rot="0">
            <a:off x="12040811" y="6863246"/>
            <a:ext cx="2856602" cy="1081571"/>
            <a:chOff x="0" y="0"/>
            <a:chExt cx="3808803" cy="1442095"/>
          </a:xfrm>
        </p:grpSpPr>
        <p:sp>
          <p:nvSpPr>
            <p:cNvPr name="Freeform 81" id="81"/>
            <p:cNvSpPr/>
            <p:nvPr/>
          </p:nvSpPr>
          <p:spPr>
            <a:xfrm flipH="false" flipV="false" rot="0">
              <a:off x="0" y="0"/>
              <a:ext cx="3808803" cy="1442095"/>
            </a:xfrm>
            <a:custGeom>
              <a:avLst/>
              <a:gdLst/>
              <a:ahLst/>
              <a:cxnLst/>
              <a:rect r="r" b="b" t="t" l="l"/>
              <a:pathLst>
                <a:path h="1442095" w="3808803">
                  <a:moveTo>
                    <a:pt x="0" y="0"/>
                  </a:moveTo>
                  <a:lnTo>
                    <a:pt x="3808803" y="0"/>
                  </a:lnTo>
                  <a:lnTo>
                    <a:pt x="3808803" y="1442095"/>
                  </a:lnTo>
                  <a:lnTo>
                    <a:pt x="0" y="1442095"/>
                  </a:lnTo>
                  <a:close/>
                </a:path>
              </a:pathLst>
            </a:custGeom>
            <a:blipFill>
              <a:blip r:embed="rId2">
                <a:alphaModFix amt="0"/>
              </a:blip>
              <a:stretch>
                <a:fillRect l="0" t="-15277" r="11172" b="23850"/>
              </a:stretch>
            </a:blipFill>
          </p:spPr>
        </p:sp>
        <p:sp>
          <p:nvSpPr>
            <p:cNvPr name="TextBox 82" id="82"/>
            <p:cNvSpPr txBox="true"/>
            <p:nvPr/>
          </p:nvSpPr>
          <p:spPr>
            <a:xfrm>
              <a:off x="0" y="0"/>
              <a:ext cx="3808803" cy="1442095"/>
            </a:xfrm>
            <a:prstGeom prst="rect">
              <a:avLst/>
            </a:prstGeom>
          </p:spPr>
          <p:txBody>
            <a:bodyPr anchor="ctr" rtlCol="false" tIns="0" lIns="0" bIns="0" rIns="0"/>
            <a:lstStyle/>
            <a:p>
              <a:pPr algn="ctr">
                <a:lnSpc>
                  <a:spcPts val="2639"/>
                </a:lnSpc>
              </a:pPr>
              <a:r>
                <a:rPr lang="en-US" sz="2199">
                  <a:solidFill>
                    <a:srgbClr val="5B6472"/>
                  </a:solidFill>
                  <a:latin typeface="Aptos"/>
                  <a:ea typeface="Aptos"/>
                  <a:cs typeface="Aptos"/>
                  <a:sym typeface="Aptos"/>
                </a:rPr>
                <a:t>Active CRMs across all</a:t>
              </a:r>
            </a:p>
            <a:p>
              <a:pPr algn="ctr">
                <a:lnSpc>
                  <a:spcPts val="2639"/>
                </a:lnSpc>
              </a:pPr>
              <a:r>
                <a:rPr lang="en-US" sz="2199">
                  <a:solidFill>
                    <a:srgbClr val="5B6472"/>
                  </a:solidFill>
                  <a:latin typeface="Aptos"/>
                  <a:ea typeface="Aptos"/>
                  <a:cs typeface="Aptos"/>
                  <a:sym typeface="Aptos"/>
                </a:rPr>
                <a:t>branches, using the system</a:t>
              </a:r>
            </a:p>
          </p:txBody>
        </p:sp>
      </p:grpSp>
      <p:grpSp>
        <p:nvGrpSpPr>
          <p:cNvPr name="Group 83" id="83"/>
          <p:cNvGrpSpPr/>
          <p:nvPr/>
        </p:nvGrpSpPr>
        <p:grpSpPr>
          <a:xfrm rot="0">
            <a:off x="15182850" y="5349240"/>
            <a:ext cx="2537460" cy="901601"/>
            <a:chOff x="0" y="0"/>
            <a:chExt cx="3383280" cy="1202134"/>
          </a:xfrm>
        </p:grpSpPr>
        <p:sp>
          <p:nvSpPr>
            <p:cNvPr name="Freeform 84" id="84"/>
            <p:cNvSpPr/>
            <p:nvPr/>
          </p:nvSpPr>
          <p:spPr>
            <a:xfrm flipH="false" flipV="false" rot="0">
              <a:off x="0" y="0"/>
              <a:ext cx="3383280" cy="1202134"/>
            </a:xfrm>
            <a:custGeom>
              <a:avLst/>
              <a:gdLst/>
              <a:ahLst/>
              <a:cxnLst/>
              <a:rect r="r" b="b" t="t" l="l"/>
              <a:pathLst>
                <a:path h="1202134" w="3383280">
                  <a:moveTo>
                    <a:pt x="0" y="0"/>
                  </a:moveTo>
                  <a:lnTo>
                    <a:pt x="3383280" y="0"/>
                  </a:lnTo>
                  <a:lnTo>
                    <a:pt x="3383280" y="1202134"/>
                  </a:lnTo>
                  <a:lnTo>
                    <a:pt x="0" y="1202134"/>
                  </a:lnTo>
                  <a:close/>
                </a:path>
              </a:pathLst>
            </a:custGeom>
            <a:blipFill>
              <a:blip r:embed="rId2">
                <a:alphaModFix amt="0"/>
              </a:blip>
              <a:stretch>
                <a:fillRect l="0" t="-9199" r="0" b="-477"/>
              </a:stretch>
            </a:blipFill>
          </p:spPr>
        </p:sp>
        <p:sp>
          <p:nvSpPr>
            <p:cNvPr name="TextBox 85" id="85"/>
            <p:cNvSpPr txBox="true"/>
            <p:nvPr/>
          </p:nvSpPr>
          <p:spPr>
            <a:xfrm>
              <a:off x="0" y="9525"/>
              <a:ext cx="3383280" cy="1192609"/>
            </a:xfrm>
            <a:prstGeom prst="rect">
              <a:avLst/>
            </a:prstGeom>
          </p:spPr>
          <p:txBody>
            <a:bodyPr anchor="ctr" rtlCol="false" tIns="0" lIns="0" bIns="0" rIns="0"/>
            <a:lstStyle/>
            <a:p>
              <a:pPr algn="ctr">
                <a:lnSpc>
                  <a:spcPts val="5759"/>
                </a:lnSpc>
              </a:pPr>
              <a:r>
                <a:rPr lang="en-US" sz="4800" b="true">
                  <a:solidFill>
                    <a:srgbClr val="2E5AAC"/>
                  </a:solidFill>
                  <a:latin typeface="Aptos Bold"/>
                  <a:ea typeface="Aptos Bold"/>
                  <a:cs typeface="Aptos Bold"/>
                  <a:sym typeface="Aptos Bold"/>
                </a:rPr>
                <a:t>228</a:t>
              </a:r>
            </a:p>
          </p:txBody>
        </p:sp>
      </p:grpSp>
      <p:grpSp>
        <p:nvGrpSpPr>
          <p:cNvPr name="Group 86" id="86"/>
          <p:cNvGrpSpPr/>
          <p:nvPr/>
        </p:nvGrpSpPr>
        <p:grpSpPr>
          <a:xfrm rot="0">
            <a:off x="15182850" y="6172200"/>
            <a:ext cx="2537460" cy="414821"/>
            <a:chOff x="0" y="0"/>
            <a:chExt cx="3383280" cy="553095"/>
          </a:xfrm>
        </p:grpSpPr>
        <p:sp>
          <p:nvSpPr>
            <p:cNvPr name="Freeform 87" id="87"/>
            <p:cNvSpPr/>
            <p:nvPr/>
          </p:nvSpPr>
          <p:spPr>
            <a:xfrm flipH="false" flipV="false" rot="0">
              <a:off x="0" y="0"/>
              <a:ext cx="3383280" cy="553095"/>
            </a:xfrm>
            <a:custGeom>
              <a:avLst/>
              <a:gdLst/>
              <a:ahLst/>
              <a:cxnLst/>
              <a:rect r="r" b="b" t="t" l="l"/>
              <a:pathLst>
                <a:path h="553095" w="3383280">
                  <a:moveTo>
                    <a:pt x="0" y="0"/>
                  </a:moveTo>
                  <a:lnTo>
                    <a:pt x="3383280" y="0"/>
                  </a:lnTo>
                  <a:lnTo>
                    <a:pt x="3383280" y="553095"/>
                  </a:lnTo>
                  <a:lnTo>
                    <a:pt x="0" y="553095"/>
                  </a:lnTo>
                  <a:close/>
                </a:path>
              </a:pathLst>
            </a:custGeom>
            <a:blipFill>
              <a:blip r:embed="rId2">
                <a:alphaModFix amt="0"/>
              </a:blip>
              <a:stretch>
                <a:fillRect l="0" t="-82818" r="0" b="-55561"/>
              </a:stretch>
            </a:blipFill>
          </p:spPr>
        </p:sp>
        <p:sp>
          <p:nvSpPr>
            <p:cNvPr name="TextBox 88" id="88"/>
            <p:cNvSpPr txBox="true"/>
            <p:nvPr/>
          </p:nvSpPr>
          <p:spPr>
            <a:xfrm>
              <a:off x="0" y="0"/>
              <a:ext cx="3383280" cy="553095"/>
            </a:xfrm>
            <a:prstGeom prst="rect">
              <a:avLst/>
            </a:prstGeom>
          </p:spPr>
          <p:txBody>
            <a:bodyPr anchor="ctr" rtlCol="false" tIns="0" lIns="0" bIns="0" rIns="0"/>
            <a:lstStyle/>
            <a:p>
              <a:pPr algn="ctr">
                <a:lnSpc>
                  <a:spcPts val="2639"/>
                </a:lnSpc>
              </a:pPr>
              <a:r>
                <a:rPr lang="en-US" sz="2199" b="true">
                  <a:solidFill>
                    <a:srgbClr val="1E2A44"/>
                  </a:solidFill>
                  <a:latin typeface="Aptos Bold"/>
                  <a:ea typeface="Aptos Bold"/>
                  <a:cs typeface="Aptos Bold"/>
                  <a:sym typeface="Aptos Bold"/>
                </a:rPr>
                <a:t>Branches</a:t>
              </a:r>
            </a:p>
          </p:txBody>
        </p:sp>
      </p:grpSp>
      <p:grpSp>
        <p:nvGrpSpPr>
          <p:cNvPr name="Group 89" id="89"/>
          <p:cNvGrpSpPr/>
          <p:nvPr/>
        </p:nvGrpSpPr>
        <p:grpSpPr>
          <a:xfrm rot="0">
            <a:off x="15106963" y="6863246"/>
            <a:ext cx="2537460" cy="1081571"/>
            <a:chOff x="0" y="0"/>
            <a:chExt cx="3383280" cy="1442095"/>
          </a:xfrm>
        </p:grpSpPr>
        <p:sp>
          <p:nvSpPr>
            <p:cNvPr name="Freeform 90" id="90"/>
            <p:cNvSpPr/>
            <p:nvPr/>
          </p:nvSpPr>
          <p:spPr>
            <a:xfrm flipH="false" flipV="false" rot="0">
              <a:off x="0" y="0"/>
              <a:ext cx="3383280" cy="1442095"/>
            </a:xfrm>
            <a:custGeom>
              <a:avLst/>
              <a:gdLst/>
              <a:ahLst/>
              <a:cxnLst/>
              <a:rect r="r" b="b" t="t" l="l"/>
              <a:pathLst>
                <a:path h="1442095" w="3383280">
                  <a:moveTo>
                    <a:pt x="0" y="0"/>
                  </a:moveTo>
                  <a:lnTo>
                    <a:pt x="3383280" y="0"/>
                  </a:lnTo>
                  <a:lnTo>
                    <a:pt x="3383280" y="1442095"/>
                  </a:lnTo>
                  <a:lnTo>
                    <a:pt x="0" y="1442095"/>
                  </a:lnTo>
                  <a:close/>
                </a:path>
              </a:pathLst>
            </a:custGeom>
            <a:blipFill>
              <a:blip r:embed="rId2">
                <a:alphaModFix amt="0"/>
              </a:blip>
              <a:stretch>
                <a:fillRect l="0" t="-15277" r="0" b="23850"/>
              </a:stretch>
            </a:blipFill>
          </p:spPr>
        </p:sp>
        <p:sp>
          <p:nvSpPr>
            <p:cNvPr name="TextBox 91" id="91"/>
            <p:cNvSpPr txBox="true"/>
            <p:nvPr/>
          </p:nvSpPr>
          <p:spPr>
            <a:xfrm>
              <a:off x="0" y="0"/>
              <a:ext cx="3383280" cy="1442095"/>
            </a:xfrm>
            <a:prstGeom prst="rect">
              <a:avLst/>
            </a:prstGeom>
          </p:spPr>
          <p:txBody>
            <a:bodyPr anchor="ctr" rtlCol="false" tIns="0" lIns="0" bIns="0" rIns="0"/>
            <a:lstStyle/>
            <a:p>
              <a:pPr algn="ctr">
                <a:lnSpc>
                  <a:spcPts val="2639"/>
                </a:lnSpc>
              </a:pPr>
              <a:r>
                <a:rPr lang="en-US" sz="2199">
                  <a:solidFill>
                    <a:srgbClr val="5B6472"/>
                  </a:solidFill>
                  <a:latin typeface="Aptos"/>
                  <a:ea typeface="Aptos"/>
                  <a:cs typeface="Aptos"/>
                  <a:sym typeface="Aptos"/>
                </a:rPr>
                <a:t>Bank branches with</a:t>
              </a:r>
            </a:p>
            <a:p>
              <a:pPr algn="ctr">
                <a:lnSpc>
                  <a:spcPts val="2639"/>
                </a:lnSpc>
              </a:pPr>
              <a:r>
                <a:rPr lang="en-US" sz="2199">
                  <a:solidFill>
                    <a:srgbClr val="5B6472"/>
                  </a:solidFill>
                  <a:latin typeface="Aptos"/>
                  <a:ea typeface="Aptos"/>
                  <a:cs typeface="Aptos"/>
                  <a:sym typeface="Aptos"/>
                </a:rPr>
                <a:t>Opti-Money deployed</a:t>
              </a:r>
            </a:p>
          </p:txBody>
        </p:sp>
      </p:grpSp>
      <p:grpSp>
        <p:nvGrpSpPr>
          <p:cNvPr name="Group 92" id="92"/>
          <p:cNvGrpSpPr/>
          <p:nvPr/>
        </p:nvGrpSpPr>
        <p:grpSpPr>
          <a:xfrm rot="0">
            <a:off x="9532620" y="8050823"/>
            <a:ext cx="8023860" cy="754380"/>
            <a:chOff x="0" y="0"/>
            <a:chExt cx="10698480" cy="1005840"/>
          </a:xfrm>
        </p:grpSpPr>
        <p:sp>
          <p:nvSpPr>
            <p:cNvPr name="Freeform 93" id="93"/>
            <p:cNvSpPr/>
            <p:nvPr/>
          </p:nvSpPr>
          <p:spPr>
            <a:xfrm flipH="false" flipV="false" rot="0">
              <a:off x="0" y="0"/>
              <a:ext cx="10698480" cy="1005840"/>
            </a:xfrm>
            <a:custGeom>
              <a:avLst/>
              <a:gdLst/>
              <a:ahLst/>
              <a:cxnLst/>
              <a:rect r="r" b="b" t="t" l="l"/>
              <a:pathLst>
                <a:path h="1005840" w="10698480">
                  <a:moveTo>
                    <a:pt x="0" y="0"/>
                  </a:moveTo>
                  <a:lnTo>
                    <a:pt x="10698480" y="0"/>
                  </a:lnTo>
                  <a:lnTo>
                    <a:pt x="10698480" y="1005840"/>
                  </a:lnTo>
                  <a:lnTo>
                    <a:pt x="0" y="1005840"/>
                  </a:lnTo>
                  <a:close/>
                </a:path>
              </a:pathLst>
            </a:custGeom>
            <a:blipFill>
              <a:blip r:embed="rId2">
                <a:alphaModFix amt="0"/>
              </a:blip>
              <a:stretch>
                <a:fillRect l="0" t="-157249" r="0" b="-157249"/>
              </a:stretch>
            </a:blipFill>
          </p:spPr>
        </p:sp>
        <p:sp>
          <p:nvSpPr>
            <p:cNvPr name="TextBox 94" id="94"/>
            <p:cNvSpPr txBox="true"/>
            <p:nvPr/>
          </p:nvSpPr>
          <p:spPr>
            <a:xfrm>
              <a:off x="0" y="0"/>
              <a:ext cx="10698480" cy="1005840"/>
            </a:xfrm>
            <a:prstGeom prst="rect">
              <a:avLst/>
            </a:prstGeom>
          </p:spPr>
          <p:txBody>
            <a:bodyPr anchor="ctr" rtlCol="false" tIns="0" lIns="0" bIns="0" rIns="0"/>
            <a:lstStyle/>
            <a:p>
              <a:pPr algn="l">
                <a:lnSpc>
                  <a:spcPts val="2639"/>
                </a:lnSpc>
              </a:pPr>
              <a:r>
                <a:rPr lang="en-US" sz="2199" i="true">
                  <a:solidFill>
                    <a:srgbClr val="5B6472"/>
                  </a:solidFill>
                  <a:latin typeface="Aptos Italics"/>
                  <a:ea typeface="Aptos Italics"/>
                  <a:cs typeface="Aptos Italics"/>
                  <a:sym typeface="Aptos Italics"/>
                </a:rPr>
                <a:t>Consultation volume grew from 224 sessions in the first month (1998) to 17,743 sessions in a single month by December 2002.</a:t>
              </a:r>
            </a:p>
          </p:txBody>
        </p:sp>
      </p:grpSp>
      <p:grpSp>
        <p:nvGrpSpPr>
          <p:cNvPr name="Group 95" id="95"/>
          <p:cNvGrpSpPr/>
          <p:nvPr/>
        </p:nvGrpSpPr>
        <p:grpSpPr>
          <a:xfrm rot="0">
            <a:off x="685800" y="8990941"/>
            <a:ext cx="16870680" cy="891540"/>
            <a:chOff x="0" y="0"/>
            <a:chExt cx="22494240" cy="1188720"/>
          </a:xfrm>
        </p:grpSpPr>
        <p:sp>
          <p:nvSpPr>
            <p:cNvPr name="Freeform 96" id="96"/>
            <p:cNvSpPr/>
            <p:nvPr/>
          </p:nvSpPr>
          <p:spPr>
            <a:xfrm flipH="false" flipV="false" rot="0">
              <a:off x="0" y="0"/>
              <a:ext cx="22494241" cy="1188720"/>
            </a:xfrm>
            <a:custGeom>
              <a:avLst/>
              <a:gdLst/>
              <a:ahLst/>
              <a:cxnLst/>
              <a:rect r="r" b="b" t="t" l="l"/>
              <a:pathLst>
                <a:path h="1188720" w="22494241">
                  <a:moveTo>
                    <a:pt x="0" y="146304"/>
                  </a:moveTo>
                  <a:cubicBezTo>
                    <a:pt x="0" y="65532"/>
                    <a:pt x="65532" y="0"/>
                    <a:pt x="146304" y="0"/>
                  </a:cubicBezTo>
                  <a:lnTo>
                    <a:pt x="22347937" y="0"/>
                  </a:lnTo>
                  <a:cubicBezTo>
                    <a:pt x="22428708" y="0"/>
                    <a:pt x="22494241" y="65532"/>
                    <a:pt x="22494241" y="146304"/>
                  </a:cubicBezTo>
                  <a:lnTo>
                    <a:pt x="22494241" y="1042416"/>
                  </a:lnTo>
                  <a:cubicBezTo>
                    <a:pt x="22494241" y="1123188"/>
                    <a:pt x="22428708" y="1188720"/>
                    <a:pt x="22347937" y="1188720"/>
                  </a:cubicBezTo>
                  <a:lnTo>
                    <a:pt x="146304" y="1188720"/>
                  </a:lnTo>
                  <a:cubicBezTo>
                    <a:pt x="65532" y="1188720"/>
                    <a:pt x="0" y="1123188"/>
                    <a:pt x="0" y="1042416"/>
                  </a:cubicBezTo>
                  <a:close/>
                </a:path>
              </a:pathLst>
            </a:custGeom>
            <a:solidFill>
              <a:srgbClr val="EAF3F1"/>
            </a:solidFill>
          </p:spPr>
        </p:sp>
      </p:grpSp>
      <p:grpSp>
        <p:nvGrpSpPr>
          <p:cNvPr name="Group 97" id="97"/>
          <p:cNvGrpSpPr/>
          <p:nvPr/>
        </p:nvGrpSpPr>
        <p:grpSpPr>
          <a:xfrm rot="0">
            <a:off x="685800" y="8990941"/>
            <a:ext cx="82296" cy="891540"/>
            <a:chOff x="0" y="0"/>
            <a:chExt cx="109728" cy="1188720"/>
          </a:xfrm>
        </p:grpSpPr>
        <p:sp>
          <p:nvSpPr>
            <p:cNvPr name="Freeform 98" id="98"/>
            <p:cNvSpPr/>
            <p:nvPr/>
          </p:nvSpPr>
          <p:spPr>
            <a:xfrm flipH="false" flipV="false" rot="0">
              <a:off x="0" y="0"/>
              <a:ext cx="109728" cy="1188720"/>
            </a:xfrm>
            <a:custGeom>
              <a:avLst/>
              <a:gdLst/>
              <a:ahLst/>
              <a:cxnLst/>
              <a:rect r="r" b="b" t="t" l="l"/>
              <a:pathLst>
                <a:path h="1188720" w="109728">
                  <a:moveTo>
                    <a:pt x="0" y="0"/>
                  </a:moveTo>
                  <a:lnTo>
                    <a:pt x="109728" y="0"/>
                  </a:lnTo>
                  <a:lnTo>
                    <a:pt x="109728" y="1188720"/>
                  </a:lnTo>
                  <a:lnTo>
                    <a:pt x="0" y="1188720"/>
                  </a:lnTo>
                  <a:close/>
                </a:path>
              </a:pathLst>
            </a:custGeom>
            <a:solidFill>
              <a:srgbClr val="2E5AAC"/>
            </a:solidFill>
          </p:spPr>
        </p:sp>
      </p:grpSp>
      <p:grpSp>
        <p:nvGrpSpPr>
          <p:cNvPr name="Group 99" id="99"/>
          <p:cNvGrpSpPr/>
          <p:nvPr/>
        </p:nvGrpSpPr>
        <p:grpSpPr>
          <a:xfrm rot="0">
            <a:off x="1028700" y="8990941"/>
            <a:ext cx="16691610" cy="891540"/>
            <a:chOff x="0" y="0"/>
            <a:chExt cx="22255480" cy="1188720"/>
          </a:xfrm>
        </p:grpSpPr>
        <p:sp>
          <p:nvSpPr>
            <p:cNvPr name="Freeform 100" id="100"/>
            <p:cNvSpPr/>
            <p:nvPr/>
          </p:nvSpPr>
          <p:spPr>
            <a:xfrm flipH="false" flipV="false" rot="0">
              <a:off x="0" y="0"/>
              <a:ext cx="22255480" cy="1188720"/>
            </a:xfrm>
            <a:custGeom>
              <a:avLst/>
              <a:gdLst/>
              <a:ahLst/>
              <a:cxnLst/>
              <a:rect r="r" b="b" t="t" l="l"/>
              <a:pathLst>
                <a:path h="1188720" w="22255480">
                  <a:moveTo>
                    <a:pt x="0" y="0"/>
                  </a:moveTo>
                  <a:lnTo>
                    <a:pt x="22255480" y="0"/>
                  </a:lnTo>
                  <a:lnTo>
                    <a:pt x="22255480" y="1188720"/>
                  </a:lnTo>
                  <a:lnTo>
                    <a:pt x="0" y="1188720"/>
                  </a:lnTo>
                  <a:close/>
                </a:path>
              </a:pathLst>
            </a:custGeom>
            <a:blipFill>
              <a:blip r:embed="rId2">
                <a:alphaModFix amt="0"/>
              </a:blip>
              <a:stretch>
                <a:fillRect l="0" t="-309723" r="1392" b="-309723"/>
              </a:stretch>
            </a:blipFill>
          </p:spPr>
        </p:sp>
        <p:sp>
          <p:nvSpPr>
            <p:cNvPr name="TextBox 101" id="101"/>
            <p:cNvSpPr txBox="true"/>
            <p:nvPr/>
          </p:nvSpPr>
          <p:spPr>
            <a:xfrm>
              <a:off x="0" y="0"/>
              <a:ext cx="22255480" cy="1188720"/>
            </a:xfrm>
            <a:prstGeom prst="rect">
              <a:avLst/>
            </a:prstGeom>
          </p:spPr>
          <p:txBody>
            <a:bodyPr anchor="ctr" rtlCol="false" tIns="0" lIns="0" bIns="0" rIns="0"/>
            <a:lstStyle/>
            <a:p>
              <a:pPr algn="l">
                <a:lnSpc>
                  <a:spcPts val="2639"/>
                </a:lnSpc>
              </a:pPr>
              <a:r>
                <a:rPr lang="en-US" sz="2199">
                  <a:solidFill>
                    <a:srgbClr val="1E2A44"/>
                  </a:solidFill>
                  <a:latin typeface="Aptos"/>
                  <a:ea typeface="Aptos"/>
                  <a:cs typeface="Aptos"/>
                  <a:sym typeface="Aptos"/>
                </a:rPr>
                <a:t>Built in a 22-month development effort for roughly $240,000 (about $220K in personnel time, $20K in software and hardware) and still run today by a 3-person team — modest cost for a system now central to 133,000+ consultations a year.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32485" y="1028700"/>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Who Uses the Model?</a:t>
              </a:r>
            </a:p>
          </p:txBody>
        </p:sp>
      </p:grpSp>
      <p:sp>
        <p:nvSpPr>
          <p:cNvPr name="TextBox 5" id="5"/>
          <p:cNvSpPr txBox="true"/>
          <p:nvPr/>
        </p:nvSpPr>
        <p:spPr>
          <a:xfrm rot="0">
            <a:off x="842776" y="1788795"/>
            <a:ext cx="16527780" cy="361950"/>
          </a:xfrm>
          <a:prstGeom prst="rect">
            <a:avLst/>
          </a:prstGeom>
        </p:spPr>
        <p:txBody>
          <a:bodyPr anchor="t" rtlCol="false" tIns="0" lIns="0" bIns="0" rIns="0">
            <a:spAutoFit/>
          </a:bodyPr>
          <a:lstStyle/>
          <a:p>
            <a:pPr algn="l">
              <a:lnSpc>
                <a:spcPts val="2879"/>
              </a:lnSpc>
            </a:pPr>
            <a:r>
              <a:rPr lang="en-US" sz="2400">
                <a:solidFill>
                  <a:srgbClr val="000000"/>
                </a:solidFill>
                <a:latin typeface="Aptos"/>
                <a:ea typeface="Aptos"/>
                <a:cs typeface="Aptos"/>
                <a:sym typeface="Aptos"/>
              </a:rPr>
              <a:t>The system supports people, it does not replace the advisory role of the Customer Relations Manager.</a:t>
            </a:r>
          </a:p>
        </p:txBody>
      </p:sp>
      <p:grpSp>
        <p:nvGrpSpPr>
          <p:cNvPr name="Group 6" id="6"/>
          <p:cNvGrpSpPr/>
          <p:nvPr/>
        </p:nvGrpSpPr>
        <p:grpSpPr>
          <a:xfrm rot="0">
            <a:off x="950595" y="2500503"/>
            <a:ext cx="7768590" cy="2258187"/>
            <a:chOff x="0" y="0"/>
            <a:chExt cx="10358120" cy="3010916"/>
          </a:xfrm>
        </p:grpSpPr>
        <p:sp>
          <p:nvSpPr>
            <p:cNvPr name="Freeform 7" id="7"/>
            <p:cNvSpPr/>
            <p:nvPr/>
          </p:nvSpPr>
          <p:spPr>
            <a:xfrm flipH="false" flipV="false" rot="0">
              <a:off x="0" y="0"/>
              <a:ext cx="10358120" cy="3010916"/>
            </a:xfrm>
            <a:custGeom>
              <a:avLst/>
              <a:gdLst/>
              <a:ahLst/>
              <a:cxnLst/>
              <a:rect r="r" b="b" t="t" l="l"/>
              <a:pathLst>
                <a:path h="3010916" w="10358120">
                  <a:moveTo>
                    <a:pt x="0" y="273691"/>
                  </a:moveTo>
                  <a:cubicBezTo>
                    <a:pt x="0" y="122581"/>
                    <a:pt x="99314" y="0"/>
                    <a:pt x="221742" y="0"/>
                  </a:cubicBezTo>
                  <a:lnTo>
                    <a:pt x="10136378" y="0"/>
                  </a:lnTo>
                  <a:cubicBezTo>
                    <a:pt x="10258806" y="0"/>
                    <a:pt x="10358120" y="122581"/>
                    <a:pt x="10358120" y="273691"/>
                  </a:cubicBezTo>
                  <a:lnTo>
                    <a:pt x="10358120" y="2737225"/>
                  </a:lnTo>
                  <a:cubicBezTo>
                    <a:pt x="10358120" y="2888335"/>
                    <a:pt x="10258806" y="3010916"/>
                    <a:pt x="10136378" y="3010916"/>
                  </a:cubicBezTo>
                  <a:lnTo>
                    <a:pt x="221742" y="3010916"/>
                  </a:lnTo>
                  <a:cubicBezTo>
                    <a:pt x="99314" y="3010916"/>
                    <a:pt x="0" y="2888335"/>
                    <a:pt x="0" y="2737225"/>
                  </a:cubicBezTo>
                  <a:close/>
                </a:path>
              </a:pathLst>
            </a:custGeom>
            <a:solidFill>
              <a:srgbClr val="E8F6FE"/>
            </a:solidFill>
            <a:ln w="19050" cap="sq">
              <a:solidFill>
                <a:srgbClr val="D5D0C5"/>
              </a:solidFill>
              <a:prstDash val="solid"/>
              <a:miter/>
            </a:ln>
          </p:spPr>
        </p:sp>
      </p:grpSp>
      <p:grpSp>
        <p:nvGrpSpPr>
          <p:cNvPr name="Group 8" id="8"/>
          <p:cNvGrpSpPr/>
          <p:nvPr/>
        </p:nvGrpSpPr>
        <p:grpSpPr>
          <a:xfrm rot="0">
            <a:off x="1069552" y="2722817"/>
            <a:ext cx="521208" cy="450800"/>
            <a:chOff x="0" y="0"/>
            <a:chExt cx="694944" cy="601067"/>
          </a:xfrm>
        </p:grpSpPr>
        <p:sp>
          <p:nvSpPr>
            <p:cNvPr name="Freeform 9" id="9"/>
            <p:cNvSpPr/>
            <p:nvPr/>
          </p:nvSpPr>
          <p:spPr>
            <a:xfrm flipH="false" flipV="false" rot="0">
              <a:off x="0" y="0"/>
              <a:ext cx="694944" cy="601067"/>
            </a:xfrm>
            <a:custGeom>
              <a:avLst/>
              <a:gdLst/>
              <a:ahLst/>
              <a:cxnLst/>
              <a:rect r="r" b="b" t="t" l="l"/>
              <a:pathLst>
                <a:path h="601067" w="694944">
                  <a:moveTo>
                    <a:pt x="0" y="0"/>
                  </a:moveTo>
                  <a:lnTo>
                    <a:pt x="694944" y="0"/>
                  </a:lnTo>
                  <a:lnTo>
                    <a:pt x="694944" y="601067"/>
                  </a:lnTo>
                  <a:lnTo>
                    <a:pt x="0" y="601067"/>
                  </a:lnTo>
                  <a:close/>
                </a:path>
              </a:pathLst>
            </a:custGeom>
            <a:blipFill>
              <a:blip r:embed="rId3">
                <a:alphaModFix amt="0"/>
              </a:blip>
              <a:stretch>
                <a:fillRect l="-58045" t="0" r="-58045" b="2637"/>
              </a:stretch>
            </a:blipFill>
          </p:spPr>
        </p:sp>
        <p:sp>
          <p:nvSpPr>
            <p:cNvPr name="TextBox 10" id="10"/>
            <p:cNvSpPr txBox="true"/>
            <p:nvPr/>
          </p:nvSpPr>
          <p:spPr>
            <a:xfrm>
              <a:off x="0" y="0"/>
              <a:ext cx="694944" cy="601067"/>
            </a:xfrm>
            <a:prstGeom prst="rect">
              <a:avLst/>
            </a:prstGeom>
          </p:spPr>
          <p:txBody>
            <a:bodyPr anchor="ctr" rtlCol="false" tIns="0" lIns="0" bIns="0" rIns="0"/>
            <a:lstStyle/>
            <a:p>
              <a:pPr algn="ctr">
                <a:lnSpc>
                  <a:spcPts val="2879"/>
                </a:lnSpc>
              </a:pPr>
              <a:r>
                <a:rPr lang="en-US" sz="2400" b="true">
                  <a:solidFill>
                    <a:srgbClr val="3371A5"/>
                  </a:solidFill>
                  <a:latin typeface="Aptos Bold"/>
                  <a:ea typeface="Aptos Bold"/>
                  <a:cs typeface="Aptos Bold"/>
                  <a:sym typeface="Aptos Bold"/>
                </a:rPr>
                <a:t>1</a:t>
              </a:r>
            </a:p>
          </p:txBody>
        </p:sp>
      </p:grpSp>
      <p:grpSp>
        <p:nvGrpSpPr>
          <p:cNvPr name="Group 11" id="11"/>
          <p:cNvGrpSpPr/>
          <p:nvPr/>
        </p:nvGrpSpPr>
        <p:grpSpPr>
          <a:xfrm rot="0">
            <a:off x="1590760" y="2722817"/>
            <a:ext cx="6515100" cy="450800"/>
            <a:chOff x="0" y="0"/>
            <a:chExt cx="8686800" cy="601067"/>
          </a:xfrm>
        </p:grpSpPr>
        <p:sp>
          <p:nvSpPr>
            <p:cNvPr name="Freeform 12" id="12"/>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45092" r="0" b="-218114"/>
              </a:stretch>
            </a:blipFill>
          </p:spPr>
        </p:sp>
        <p:sp>
          <p:nvSpPr>
            <p:cNvPr name="TextBox 13" id="13"/>
            <p:cNvSpPr txBox="true"/>
            <p:nvPr/>
          </p:nvSpPr>
          <p:spPr>
            <a:xfrm>
              <a:off x="0" y="0"/>
              <a:ext cx="8686800" cy="601067"/>
            </a:xfrm>
            <a:prstGeom prst="rect">
              <a:avLst/>
            </a:prstGeom>
          </p:spPr>
          <p:txBody>
            <a:bodyPr anchor="ctr" rtlCol="false" tIns="0" lIns="0" bIns="0" rIns="0"/>
            <a:lstStyle/>
            <a:p>
              <a:pPr algn="l">
                <a:lnSpc>
                  <a:spcPts val="2879"/>
                </a:lnSpc>
              </a:pPr>
              <a:r>
                <a:rPr lang="en-US" sz="2400" b="true">
                  <a:solidFill>
                    <a:srgbClr val="6B6D70"/>
                  </a:solidFill>
                  <a:latin typeface="Aptos Bold"/>
                  <a:ea typeface="Aptos Bold"/>
                  <a:cs typeface="Aptos Bold"/>
                  <a:sym typeface="Aptos Bold"/>
                </a:rPr>
                <a:t>Primary users</a:t>
              </a:r>
            </a:p>
          </p:txBody>
        </p:sp>
      </p:grpSp>
      <p:grpSp>
        <p:nvGrpSpPr>
          <p:cNvPr name="Group 14" id="14"/>
          <p:cNvGrpSpPr/>
          <p:nvPr/>
        </p:nvGrpSpPr>
        <p:grpSpPr>
          <a:xfrm rot="0">
            <a:off x="1577340" y="3085451"/>
            <a:ext cx="6515100" cy="450800"/>
            <a:chOff x="0" y="0"/>
            <a:chExt cx="8686800" cy="601067"/>
          </a:xfrm>
        </p:grpSpPr>
        <p:sp>
          <p:nvSpPr>
            <p:cNvPr name="Freeform 15" id="15"/>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39007" r="0" b="-224199"/>
              </a:stretch>
            </a:blipFill>
          </p:spPr>
        </p:sp>
        <p:sp>
          <p:nvSpPr>
            <p:cNvPr name="TextBox 16" id="16"/>
            <p:cNvSpPr txBox="true"/>
            <p:nvPr/>
          </p:nvSpPr>
          <p:spPr>
            <a:xfrm>
              <a:off x="0" y="0"/>
              <a:ext cx="8686800" cy="601067"/>
            </a:xfrm>
            <a:prstGeom prst="rect">
              <a:avLst/>
            </a:prstGeom>
          </p:spPr>
          <p:txBody>
            <a:bodyPr anchor="ctr" rtlCol="false" tIns="0" lIns="0" bIns="0" rIns="0"/>
            <a:lstStyle/>
            <a:p>
              <a:pPr algn="l">
                <a:lnSpc>
                  <a:spcPts val="2879"/>
                </a:lnSpc>
              </a:pPr>
              <a:r>
                <a:rPr lang="en-US" b="true" sz="2400">
                  <a:solidFill>
                    <a:srgbClr val="000000"/>
                  </a:solidFill>
                  <a:latin typeface="Aptos Bold"/>
                  <a:ea typeface="Aptos Bold"/>
                  <a:cs typeface="Aptos Bold"/>
                  <a:sym typeface="Aptos Bold"/>
                </a:rPr>
                <a:t>Customer Relations Managers (CRMs)</a:t>
              </a:r>
            </a:p>
          </p:txBody>
        </p:sp>
      </p:grpSp>
      <p:sp>
        <p:nvSpPr>
          <p:cNvPr name="TextBox 17" id="17"/>
          <p:cNvSpPr txBox="true"/>
          <p:nvPr/>
        </p:nvSpPr>
        <p:spPr>
          <a:xfrm rot="0">
            <a:off x="1577340" y="3536252"/>
            <a:ext cx="6341856" cy="1000125"/>
          </a:xfrm>
          <a:prstGeom prst="rect">
            <a:avLst/>
          </a:prstGeom>
        </p:spPr>
        <p:txBody>
          <a:bodyPr anchor="t" rtlCol="false" tIns="0" lIns="0" bIns="0" rIns="0">
            <a:spAutoFit/>
          </a:bodyPr>
          <a:lstStyle/>
          <a:p>
            <a:pPr algn="l">
              <a:lnSpc>
                <a:spcPts val="2639"/>
              </a:lnSpc>
            </a:pPr>
            <a:r>
              <a:rPr lang="en-US" sz="2199">
                <a:solidFill>
                  <a:srgbClr val="000000"/>
                </a:solidFill>
                <a:latin typeface="Aptos"/>
                <a:ea typeface="Aptos"/>
                <a:cs typeface="Aptos"/>
                <a:sym typeface="Aptos"/>
              </a:rPr>
              <a:t>Use Opti-Money during consultation sessions to generate asset class allocation and translate it into specific buy/sell asset recommendations.</a:t>
            </a:r>
          </a:p>
        </p:txBody>
      </p:sp>
      <p:grpSp>
        <p:nvGrpSpPr>
          <p:cNvPr name="Group 18" id="18"/>
          <p:cNvGrpSpPr/>
          <p:nvPr/>
        </p:nvGrpSpPr>
        <p:grpSpPr>
          <a:xfrm rot="0">
            <a:off x="9358503" y="2500503"/>
            <a:ext cx="7768590" cy="2267712"/>
            <a:chOff x="0" y="0"/>
            <a:chExt cx="10358120" cy="3023616"/>
          </a:xfrm>
        </p:grpSpPr>
        <p:sp>
          <p:nvSpPr>
            <p:cNvPr name="Freeform 19" id="19"/>
            <p:cNvSpPr/>
            <p:nvPr/>
          </p:nvSpPr>
          <p:spPr>
            <a:xfrm flipH="false" flipV="false" rot="0">
              <a:off x="0" y="0"/>
              <a:ext cx="10358120" cy="3023616"/>
            </a:xfrm>
            <a:custGeom>
              <a:avLst/>
              <a:gdLst/>
              <a:ahLst/>
              <a:cxnLst/>
              <a:rect r="r" b="b" t="t" l="l"/>
              <a:pathLst>
                <a:path h="3023616" w="10358120">
                  <a:moveTo>
                    <a:pt x="0" y="274846"/>
                  </a:moveTo>
                  <a:cubicBezTo>
                    <a:pt x="0" y="123098"/>
                    <a:pt x="99314" y="0"/>
                    <a:pt x="221742" y="0"/>
                  </a:cubicBezTo>
                  <a:lnTo>
                    <a:pt x="10136378" y="0"/>
                  </a:lnTo>
                  <a:cubicBezTo>
                    <a:pt x="10258806" y="0"/>
                    <a:pt x="10358120" y="123098"/>
                    <a:pt x="10358120" y="274846"/>
                  </a:cubicBezTo>
                  <a:lnTo>
                    <a:pt x="10358120" y="2748770"/>
                  </a:lnTo>
                  <a:cubicBezTo>
                    <a:pt x="10358120" y="2900518"/>
                    <a:pt x="10258806" y="3023616"/>
                    <a:pt x="10136378" y="3023616"/>
                  </a:cubicBezTo>
                  <a:lnTo>
                    <a:pt x="221742" y="3023616"/>
                  </a:lnTo>
                  <a:cubicBezTo>
                    <a:pt x="99314" y="3023616"/>
                    <a:pt x="0" y="2900518"/>
                    <a:pt x="0" y="2748770"/>
                  </a:cubicBezTo>
                  <a:close/>
                </a:path>
              </a:pathLst>
            </a:custGeom>
            <a:solidFill>
              <a:srgbClr val="E8F6FE"/>
            </a:solidFill>
            <a:ln w="19050" cap="sq">
              <a:solidFill>
                <a:srgbClr val="D5D0C5"/>
              </a:solidFill>
              <a:prstDash val="solid"/>
              <a:miter/>
            </a:ln>
          </p:spPr>
        </p:sp>
      </p:grpSp>
      <p:grpSp>
        <p:nvGrpSpPr>
          <p:cNvPr name="Group 20" id="20"/>
          <p:cNvGrpSpPr/>
          <p:nvPr/>
        </p:nvGrpSpPr>
        <p:grpSpPr>
          <a:xfrm rot="0">
            <a:off x="9573768" y="2647188"/>
            <a:ext cx="521208" cy="450800"/>
            <a:chOff x="0" y="0"/>
            <a:chExt cx="694944" cy="601067"/>
          </a:xfrm>
        </p:grpSpPr>
        <p:sp>
          <p:nvSpPr>
            <p:cNvPr name="Freeform 21" id="21"/>
            <p:cNvSpPr/>
            <p:nvPr/>
          </p:nvSpPr>
          <p:spPr>
            <a:xfrm flipH="false" flipV="false" rot="0">
              <a:off x="0" y="0"/>
              <a:ext cx="694944" cy="601067"/>
            </a:xfrm>
            <a:custGeom>
              <a:avLst/>
              <a:gdLst/>
              <a:ahLst/>
              <a:cxnLst/>
              <a:rect r="r" b="b" t="t" l="l"/>
              <a:pathLst>
                <a:path h="601067" w="694944">
                  <a:moveTo>
                    <a:pt x="0" y="0"/>
                  </a:moveTo>
                  <a:lnTo>
                    <a:pt x="694944" y="0"/>
                  </a:lnTo>
                  <a:lnTo>
                    <a:pt x="694944" y="601067"/>
                  </a:lnTo>
                  <a:lnTo>
                    <a:pt x="0" y="601067"/>
                  </a:lnTo>
                  <a:close/>
                </a:path>
              </a:pathLst>
            </a:custGeom>
            <a:blipFill>
              <a:blip r:embed="rId3">
                <a:alphaModFix amt="0"/>
              </a:blip>
              <a:stretch>
                <a:fillRect l="-58045" t="0" r="-58045" b="2637"/>
              </a:stretch>
            </a:blipFill>
          </p:spPr>
        </p:sp>
        <p:sp>
          <p:nvSpPr>
            <p:cNvPr name="TextBox 22" id="22"/>
            <p:cNvSpPr txBox="true"/>
            <p:nvPr/>
          </p:nvSpPr>
          <p:spPr>
            <a:xfrm>
              <a:off x="0" y="0"/>
              <a:ext cx="694944" cy="601067"/>
            </a:xfrm>
            <a:prstGeom prst="rect">
              <a:avLst/>
            </a:prstGeom>
          </p:spPr>
          <p:txBody>
            <a:bodyPr anchor="ctr" rtlCol="false" tIns="0" lIns="0" bIns="0" rIns="0"/>
            <a:lstStyle/>
            <a:p>
              <a:pPr algn="ctr" marL="0" indent="0" lvl="0">
                <a:lnSpc>
                  <a:spcPts val="2879"/>
                </a:lnSpc>
                <a:spcBef>
                  <a:spcPct val="0"/>
                </a:spcBef>
              </a:pPr>
              <a:r>
                <a:rPr lang="en-US" b="true" sz="2400" strike="noStrike" u="none">
                  <a:solidFill>
                    <a:srgbClr val="3371A5"/>
                  </a:solidFill>
                  <a:latin typeface="Aptos Bold"/>
                  <a:ea typeface="Aptos Bold"/>
                  <a:cs typeface="Aptos Bold"/>
                  <a:sym typeface="Aptos Bold"/>
                </a:rPr>
                <a:t>2</a:t>
              </a:r>
            </a:p>
          </p:txBody>
        </p:sp>
      </p:grpSp>
      <p:grpSp>
        <p:nvGrpSpPr>
          <p:cNvPr name="Group 23" id="23"/>
          <p:cNvGrpSpPr/>
          <p:nvPr/>
        </p:nvGrpSpPr>
        <p:grpSpPr>
          <a:xfrm rot="0">
            <a:off x="10218420" y="2647188"/>
            <a:ext cx="6515100" cy="450800"/>
            <a:chOff x="0" y="0"/>
            <a:chExt cx="8686800" cy="601067"/>
          </a:xfrm>
        </p:grpSpPr>
        <p:sp>
          <p:nvSpPr>
            <p:cNvPr name="Freeform 24" id="24"/>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45092" r="0" b="-218114"/>
              </a:stretch>
            </a:blipFill>
          </p:spPr>
        </p:sp>
        <p:sp>
          <p:nvSpPr>
            <p:cNvPr name="TextBox 25" id="25"/>
            <p:cNvSpPr txBox="true"/>
            <p:nvPr/>
          </p:nvSpPr>
          <p:spPr>
            <a:xfrm>
              <a:off x="0" y="0"/>
              <a:ext cx="8686800" cy="601067"/>
            </a:xfrm>
            <a:prstGeom prst="rect">
              <a:avLst/>
            </a:prstGeom>
          </p:spPr>
          <p:txBody>
            <a:bodyPr anchor="ctr" rtlCol="false" tIns="0" lIns="0" bIns="0" rIns="0"/>
            <a:lstStyle/>
            <a:p>
              <a:pPr algn="l">
                <a:lnSpc>
                  <a:spcPts val="2879"/>
                </a:lnSpc>
              </a:pPr>
              <a:r>
                <a:rPr lang="en-US" sz="2400" b="true">
                  <a:solidFill>
                    <a:srgbClr val="6B6D70"/>
                  </a:solidFill>
                  <a:latin typeface="Aptos Bold"/>
                  <a:ea typeface="Aptos Bold"/>
                  <a:cs typeface="Aptos Bold"/>
                  <a:sym typeface="Aptos Bold"/>
                </a:rPr>
                <a:t>Beneficiaries</a:t>
              </a:r>
            </a:p>
          </p:txBody>
        </p:sp>
      </p:grpSp>
      <p:grpSp>
        <p:nvGrpSpPr>
          <p:cNvPr name="Group 26" id="26"/>
          <p:cNvGrpSpPr/>
          <p:nvPr/>
        </p:nvGrpSpPr>
        <p:grpSpPr>
          <a:xfrm rot="0">
            <a:off x="10218420" y="3009823"/>
            <a:ext cx="6515100" cy="450800"/>
            <a:chOff x="0" y="0"/>
            <a:chExt cx="8686800" cy="601067"/>
          </a:xfrm>
        </p:grpSpPr>
        <p:sp>
          <p:nvSpPr>
            <p:cNvPr name="Freeform 27" id="27"/>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39007" r="0" b="-224199"/>
              </a:stretch>
            </a:blipFill>
          </p:spPr>
        </p:sp>
        <p:sp>
          <p:nvSpPr>
            <p:cNvPr name="TextBox 28" id="28"/>
            <p:cNvSpPr txBox="true"/>
            <p:nvPr/>
          </p:nvSpPr>
          <p:spPr>
            <a:xfrm>
              <a:off x="0" y="0"/>
              <a:ext cx="8686800" cy="601067"/>
            </a:xfrm>
            <a:prstGeom prst="rect">
              <a:avLst/>
            </a:prstGeom>
          </p:spPr>
          <p:txBody>
            <a:bodyPr anchor="ctr" rtlCol="false" tIns="0" lIns="0" bIns="0" rIns="0"/>
            <a:lstStyle/>
            <a:p>
              <a:pPr algn="l">
                <a:lnSpc>
                  <a:spcPts val="2879"/>
                </a:lnSpc>
              </a:pPr>
              <a:r>
                <a:rPr lang="en-US" b="true" sz="2400">
                  <a:solidFill>
                    <a:srgbClr val="000000"/>
                  </a:solidFill>
                  <a:latin typeface="Aptos Bold"/>
                  <a:ea typeface="Aptos Bold"/>
                  <a:cs typeface="Aptos Bold"/>
                  <a:sym typeface="Aptos Bold"/>
                </a:rPr>
                <a:t>Private-banking customers</a:t>
              </a:r>
            </a:p>
          </p:txBody>
        </p:sp>
      </p:grpSp>
      <p:sp>
        <p:nvSpPr>
          <p:cNvPr name="TextBox 29" id="29"/>
          <p:cNvSpPr txBox="true"/>
          <p:nvPr/>
        </p:nvSpPr>
        <p:spPr>
          <a:xfrm rot="0">
            <a:off x="10218420" y="3460623"/>
            <a:ext cx="6446520" cy="1000125"/>
          </a:xfrm>
          <a:prstGeom prst="rect">
            <a:avLst/>
          </a:prstGeom>
        </p:spPr>
        <p:txBody>
          <a:bodyPr anchor="t" rtlCol="false" tIns="0" lIns="0" bIns="0" rIns="0">
            <a:spAutoFit/>
          </a:bodyPr>
          <a:lstStyle/>
          <a:p>
            <a:pPr algn="l">
              <a:lnSpc>
                <a:spcPts val="2639"/>
              </a:lnSpc>
            </a:pPr>
            <a:r>
              <a:rPr lang="en-US" sz="2199">
                <a:solidFill>
                  <a:srgbClr val="000000"/>
                </a:solidFill>
                <a:latin typeface="Aptos"/>
                <a:ea typeface="Aptos"/>
                <a:cs typeface="Aptos"/>
                <a:sym typeface="Aptos"/>
              </a:rPr>
              <a:t>Receive customized allocations across 60 asset classes based on risk, horizon, liquidity, and chosen benchmark (CPI, Shekel, USD, EUR).</a:t>
            </a:r>
          </a:p>
        </p:txBody>
      </p:sp>
      <p:grpSp>
        <p:nvGrpSpPr>
          <p:cNvPr name="Group 30" id="30"/>
          <p:cNvGrpSpPr/>
          <p:nvPr/>
        </p:nvGrpSpPr>
        <p:grpSpPr>
          <a:xfrm rot="0">
            <a:off x="902073" y="5006340"/>
            <a:ext cx="7768590" cy="2930176"/>
            <a:chOff x="0" y="0"/>
            <a:chExt cx="10358120" cy="3906901"/>
          </a:xfrm>
        </p:grpSpPr>
        <p:sp>
          <p:nvSpPr>
            <p:cNvPr name="Freeform 31" id="31"/>
            <p:cNvSpPr/>
            <p:nvPr/>
          </p:nvSpPr>
          <p:spPr>
            <a:xfrm flipH="false" flipV="false" rot="0">
              <a:off x="0" y="0"/>
              <a:ext cx="10358120" cy="3906901"/>
            </a:xfrm>
            <a:custGeom>
              <a:avLst/>
              <a:gdLst/>
              <a:ahLst/>
              <a:cxnLst/>
              <a:rect r="r" b="b" t="t" l="l"/>
              <a:pathLst>
                <a:path h="3906901" w="10358120">
                  <a:moveTo>
                    <a:pt x="0" y="355136"/>
                  </a:moveTo>
                  <a:cubicBezTo>
                    <a:pt x="0" y="159059"/>
                    <a:pt x="99314" y="0"/>
                    <a:pt x="221742" y="0"/>
                  </a:cubicBezTo>
                  <a:lnTo>
                    <a:pt x="10136378" y="0"/>
                  </a:lnTo>
                  <a:cubicBezTo>
                    <a:pt x="10258806" y="0"/>
                    <a:pt x="10358120" y="159059"/>
                    <a:pt x="10358120" y="355136"/>
                  </a:cubicBezTo>
                  <a:lnTo>
                    <a:pt x="10358120" y="3551765"/>
                  </a:lnTo>
                  <a:cubicBezTo>
                    <a:pt x="10358120" y="3747843"/>
                    <a:pt x="10258806" y="3906901"/>
                    <a:pt x="10136378" y="3906901"/>
                  </a:cubicBezTo>
                  <a:lnTo>
                    <a:pt x="221742" y="3906901"/>
                  </a:lnTo>
                  <a:cubicBezTo>
                    <a:pt x="99314" y="3906901"/>
                    <a:pt x="0" y="3747843"/>
                    <a:pt x="0" y="3551765"/>
                  </a:cubicBezTo>
                  <a:close/>
                </a:path>
              </a:pathLst>
            </a:custGeom>
            <a:solidFill>
              <a:srgbClr val="E8F6FE"/>
            </a:solidFill>
            <a:ln w="19050" cap="sq">
              <a:solidFill>
                <a:srgbClr val="D5D0C5"/>
              </a:solidFill>
              <a:prstDash val="solid"/>
              <a:miter/>
            </a:ln>
          </p:spPr>
        </p:sp>
      </p:grpSp>
      <p:grpSp>
        <p:nvGrpSpPr>
          <p:cNvPr name="Group 32" id="32"/>
          <p:cNvGrpSpPr/>
          <p:nvPr/>
        </p:nvGrpSpPr>
        <p:grpSpPr>
          <a:xfrm rot="0">
            <a:off x="1203960" y="5184458"/>
            <a:ext cx="521208" cy="450800"/>
            <a:chOff x="0" y="0"/>
            <a:chExt cx="694944" cy="601067"/>
          </a:xfrm>
        </p:grpSpPr>
        <p:sp>
          <p:nvSpPr>
            <p:cNvPr name="Freeform 33" id="33"/>
            <p:cNvSpPr/>
            <p:nvPr/>
          </p:nvSpPr>
          <p:spPr>
            <a:xfrm flipH="false" flipV="false" rot="0">
              <a:off x="0" y="0"/>
              <a:ext cx="694944" cy="601067"/>
            </a:xfrm>
            <a:custGeom>
              <a:avLst/>
              <a:gdLst/>
              <a:ahLst/>
              <a:cxnLst/>
              <a:rect r="r" b="b" t="t" l="l"/>
              <a:pathLst>
                <a:path h="601067" w="694944">
                  <a:moveTo>
                    <a:pt x="0" y="0"/>
                  </a:moveTo>
                  <a:lnTo>
                    <a:pt x="694944" y="0"/>
                  </a:lnTo>
                  <a:lnTo>
                    <a:pt x="694944" y="601067"/>
                  </a:lnTo>
                  <a:lnTo>
                    <a:pt x="0" y="601067"/>
                  </a:lnTo>
                  <a:close/>
                </a:path>
              </a:pathLst>
            </a:custGeom>
            <a:blipFill>
              <a:blip r:embed="rId3">
                <a:alphaModFix amt="0"/>
              </a:blip>
              <a:stretch>
                <a:fillRect l="-58045" t="0" r="-58045" b="2637"/>
              </a:stretch>
            </a:blipFill>
          </p:spPr>
        </p:sp>
        <p:sp>
          <p:nvSpPr>
            <p:cNvPr name="TextBox 34" id="34"/>
            <p:cNvSpPr txBox="true"/>
            <p:nvPr/>
          </p:nvSpPr>
          <p:spPr>
            <a:xfrm>
              <a:off x="0" y="0"/>
              <a:ext cx="694944" cy="601067"/>
            </a:xfrm>
            <a:prstGeom prst="rect">
              <a:avLst/>
            </a:prstGeom>
          </p:spPr>
          <p:txBody>
            <a:bodyPr anchor="ctr" rtlCol="false" tIns="0" lIns="0" bIns="0" rIns="0"/>
            <a:lstStyle/>
            <a:p>
              <a:pPr algn="ctr" marL="0" indent="0" lvl="0">
                <a:lnSpc>
                  <a:spcPts val="2879"/>
                </a:lnSpc>
                <a:spcBef>
                  <a:spcPct val="0"/>
                </a:spcBef>
              </a:pPr>
              <a:r>
                <a:rPr lang="en-US" b="true" sz="2400" strike="noStrike" u="none">
                  <a:solidFill>
                    <a:srgbClr val="3371A5"/>
                  </a:solidFill>
                  <a:latin typeface="Aptos Bold"/>
                  <a:ea typeface="Aptos Bold"/>
                  <a:cs typeface="Aptos Bold"/>
                  <a:sym typeface="Aptos Bold"/>
                </a:rPr>
                <a:t>3</a:t>
              </a:r>
            </a:p>
          </p:txBody>
        </p:sp>
      </p:grpSp>
      <p:grpSp>
        <p:nvGrpSpPr>
          <p:cNvPr name="Group 35" id="35"/>
          <p:cNvGrpSpPr/>
          <p:nvPr/>
        </p:nvGrpSpPr>
        <p:grpSpPr>
          <a:xfrm rot="0">
            <a:off x="1848612" y="5174933"/>
            <a:ext cx="6515100" cy="450800"/>
            <a:chOff x="0" y="0"/>
            <a:chExt cx="8686800" cy="601067"/>
          </a:xfrm>
        </p:grpSpPr>
        <p:sp>
          <p:nvSpPr>
            <p:cNvPr name="Freeform 36" id="36"/>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45092" r="0" b="-218114"/>
              </a:stretch>
            </a:blipFill>
          </p:spPr>
        </p:sp>
        <p:sp>
          <p:nvSpPr>
            <p:cNvPr name="TextBox 37" id="37"/>
            <p:cNvSpPr txBox="true"/>
            <p:nvPr/>
          </p:nvSpPr>
          <p:spPr>
            <a:xfrm>
              <a:off x="0" y="0"/>
              <a:ext cx="8686800" cy="601067"/>
            </a:xfrm>
            <a:prstGeom prst="rect">
              <a:avLst/>
            </a:prstGeom>
          </p:spPr>
          <p:txBody>
            <a:bodyPr anchor="ctr" rtlCol="false" tIns="0" lIns="0" bIns="0" rIns="0"/>
            <a:lstStyle/>
            <a:p>
              <a:pPr algn="l">
                <a:lnSpc>
                  <a:spcPts val="2879"/>
                </a:lnSpc>
              </a:pPr>
              <a:r>
                <a:rPr lang="en-US" sz="2400" b="true">
                  <a:solidFill>
                    <a:srgbClr val="6B6D70"/>
                  </a:solidFill>
                  <a:latin typeface="Aptos Bold"/>
                  <a:ea typeface="Aptos Bold"/>
                  <a:cs typeface="Aptos Bold"/>
                  <a:sym typeface="Aptos Bold"/>
                </a:rPr>
                <a:t>Secondary users</a:t>
              </a:r>
            </a:p>
          </p:txBody>
        </p:sp>
      </p:grpSp>
      <p:grpSp>
        <p:nvGrpSpPr>
          <p:cNvPr name="Group 38" id="38"/>
          <p:cNvGrpSpPr/>
          <p:nvPr/>
        </p:nvGrpSpPr>
        <p:grpSpPr>
          <a:xfrm rot="0">
            <a:off x="1848612" y="5546178"/>
            <a:ext cx="6515100" cy="450800"/>
            <a:chOff x="0" y="0"/>
            <a:chExt cx="8686800" cy="601067"/>
          </a:xfrm>
        </p:grpSpPr>
        <p:sp>
          <p:nvSpPr>
            <p:cNvPr name="Freeform 39" id="39"/>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39007" r="0" b="-224199"/>
              </a:stretch>
            </a:blipFill>
          </p:spPr>
        </p:sp>
        <p:sp>
          <p:nvSpPr>
            <p:cNvPr name="TextBox 40" id="40"/>
            <p:cNvSpPr txBox="true"/>
            <p:nvPr/>
          </p:nvSpPr>
          <p:spPr>
            <a:xfrm>
              <a:off x="0" y="0"/>
              <a:ext cx="8686800" cy="601067"/>
            </a:xfrm>
            <a:prstGeom prst="rect">
              <a:avLst/>
            </a:prstGeom>
          </p:spPr>
          <p:txBody>
            <a:bodyPr anchor="ctr" rtlCol="false" tIns="0" lIns="0" bIns="0" rIns="0"/>
            <a:lstStyle/>
            <a:p>
              <a:pPr algn="l">
                <a:lnSpc>
                  <a:spcPts val="2879"/>
                </a:lnSpc>
              </a:pPr>
              <a:r>
                <a:rPr lang="en-US" b="true" sz="2400">
                  <a:solidFill>
                    <a:srgbClr val="000000"/>
                  </a:solidFill>
                  <a:latin typeface="Aptos Bold"/>
                  <a:ea typeface="Aptos Bold"/>
                  <a:cs typeface="Aptos Bold"/>
                  <a:sym typeface="Aptos Bold"/>
                </a:rPr>
                <a:t>Branch / bank managers</a:t>
              </a:r>
            </a:p>
          </p:txBody>
        </p:sp>
      </p:grpSp>
      <p:sp>
        <p:nvSpPr>
          <p:cNvPr name="TextBox 41" id="41"/>
          <p:cNvSpPr txBox="true"/>
          <p:nvPr/>
        </p:nvSpPr>
        <p:spPr>
          <a:xfrm rot="0">
            <a:off x="1628860" y="5996979"/>
            <a:ext cx="6446520" cy="1666875"/>
          </a:xfrm>
          <a:prstGeom prst="rect">
            <a:avLst/>
          </a:prstGeom>
        </p:spPr>
        <p:txBody>
          <a:bodyPr anchor="t" rtlCol="false" tIns="0" lIns="0" bIns="0" rIns="0">
            <a:spAutoFit/>
          </a:bodyPr>
          <a:lstStyle/>
          <a:p>
            <a:pPr algn="l" marL="474979" indent="-237490" lvl="1">
              <a:lnSpc>
                <a:spcPts val="2639"/>
              </a:lnSpc>
              <a:buFont typeface="Arial"/>
              <a:buChar char="•"/>
            </a:pPr>
            <a:r>
              <a:rPr lang="en-US" sz="2199">
                <a:solidFill>
                  <a:srgbClr val="000000"/>
                </a:solidFill>
                <a:latin typeface="Aptos"/>
                <a:ea typeface="Aptos"/>
                <a:cs typeface="Aptos"/>
                <a:sym typeface="Aptos"/>
              </a:rPr>
              <a:t>Promote adoption, understand system usage and encourage decision-support activity across branches by analyzing usage analytics.</a:t>
            </a:r>
          </a:p>
          <a:p>
            <a:pPr algn="l" marL="474979" indent="-237490" lvl="1">
              <a:lnSpc>
                <a:spcPts val="2639"/>
              </a:lnSpc>
              <a:buFont typeface="Arial"/>
              <a:buChar char="•"/>
            </a:pPr>
            <a:r>
              <a:rPr lang="en-US" sz="2199">
                <a:solidFill>
                  <a:srgbClr val="000000"/>
                </a:solidFill>
                <a:latin typeface="Aptos"/>
                <a:ea typeface="Aptos"/>
                <a:cs typeface="Aptos"/>
                <a:sym typeface="Aptos"/>
              </a:rPr>
              <a:t>Ensure advisory compliance and operational alignment across regional centers.</a:t>
            </a:r>
          </a:p>
        </p:txBody>
      </p:sp>
      <p:grpSp>
        <p:nvGrpSpPr>
          <p:cNvPr name="Group 42" id="42"/>
          <p:cNvGrpSpPr/>
          <p:nvPr/>
        </p:nvGrpSpPr>
        <p:grpSpPr>
          <a:xfrm rot="0">
            <a:off x="9422247" y="5015865"/>
            <a:ext cx="7704846" cy="2920651"/>
            <a:chOff x="0" y="0"/>
            <a:chExt cx="10358120" cy="3926419"/>
          </a:xfrm>
        </p:grpSpPr>
        <p:sp>
          <p:nvSpPr>
            <p:cNvPr name="Freeform 43" id="43"/>
            <p:cNvSpPr/>
            <p:nvPr/>
          </p:nvSpPr>
          <p:spPr>
            <a:xfrm flipH="false" flipV="false" rot="0">
              <a:off x="0" y="0"/>
              <a:ext cx="10358120" cy="3926419"/>
            </a:xfrm>
            <a:custGeom>
              <a:avLst/>
              <a:gdLst/>
              <a:ahLst/>
              <a:cxnLst/>
              <a:rect r="r" b="b" t="t" l="l"/>
              <a:pathLst>
                <a:path h="3926419" w="10358120">
                  <a:moveTo>
                    <a:pt x="0" y="356910"/>
                  </a:moveTo>
                  <a:cubicBezTo>
                    <a:pt x="0" y="159853"/>
                    <a:pt x="99314" y="0"/>
                    <a:pt x="221742" y="0"/>
                  </a:cubicBezTo>
                  <a:lnTo>
                    <a:pt x="10136378" y="0"/>
                  </a:lnTo>
                  <a:cubicBezTo>
                    <a:pt x="10258806" y="0"/>
                    <a:pt x="10358120" y="159853"/>
                    <a:pt x="10358120" y="356910"/>
                  </a:cubicBezTo>
                  <a:lnTo>
                    <a:pt x="10358120" y="3569509"/>
                  </a:lnTo>
                  <a:cubicBezTo>
                    <a:pt x="10358120" y="3766566"/>
                    <a:pt x="10258806" y="3926419"/>
                    <a:pt x="10136378" y="3926419"/>
                  </a:cubicBezTo>
                  <a:lnTo>
                    <a:pt x="221742" y="3926419"/>
                  </a:lnTo>
                  <a:cubicBezTo>
                    <a:pt x="99314" y="3926419"/>
                    <a:pt x="0" y="3766566"/>
                    <a:pt x="0" y="3569509"/>
                  </a:cubicBezTo>
                  <a:close/>
                </a:path>
              </a:pathLst>
            </a:custGeom>
            <a:solidFill>
              <a:srgbClr val="E8F6FE"/>
            </a:solidFill>
            <a:ln w="19050" cap="sq">
              <a:solidFill>
                <a:srgbClr val="D5D0C5"/>
              </a:solidFill>
              <a:prstDash val="solid"/>
              <a:miter/>
            </a:ln>
          </p:spPr>
        </p:sp>
      </p:grpSp>
      <p:grpSp>
        <p:nvGrpSpPr>
          <p:cNvPr name="Group 44" id="44"/>
          <p:cNvGrpSpPr/>
          <p:nvPr/>
        </p:nvGrpSpPr>
        <p:grpSpPr>
          <a:xfrm rot="0">
            <a:off x="9583293" y="5233416"/>
            <a:ext cx="521208" cy="450800"/>
            <a:chOff x="0" y="0"/>
            <a:chExt cx="694944" cy="601067"/>
          </a:xfrm>
        </p:grpSpPr>
        <p:sp>
          <p:nvSpPr>
            <p:cNvPr name="Freeform 45" id="45"/>
            <p:cNvSpPr/>
            <p:nvPr/>
          </p:nvSpPr>
          <p:spPr>
            <a:xfrm flipH="false" flipV="false" rot="0">
              <a:off x="0" y="0"/>
              <a:ext cx="694944" cy="601067"/>
            </a:xfrm>
            <a:custGeom>
              <a:avLst/>
              <a:gdLst/>
              <a:ahLst/>
              <a:cxnLst/>
              <a:rect r="r" b="b" t="t" l="l"/>
              <a:pathLst>
                <a:path h="601067" w="694944">
                  <a:moveTo>
                    <a:pt x="0" y="0"/>
                  </a:moveTo>
                  <a:lnTo>
                    <a:pt x="694944" y="0"/>
                  </a:lnTo>
                  <a:lnTo>
                    <a:pt x="694944" y="601067"/>
                  </a:lnTo>
                  <a:lnTo>
                    <a:pt x="0" y="601067"/>
                  </a:lnTo>
                  <a:close/>
                </a:path>
              </a:pathLst>
            </a:custGeom>
            <a:blipFill>
              <a:blip r:embed="rId3">
                <a:alphaModFix amt="0"/>
              </a:blip>
              <a:stretch>
                <a:fillRect l="-58045" t="0" r="-58045" b="2637"/>
              </a:stretch>
            </a:blipFill>
          </p:spPr>
        </p:sp>
        <p:sp>
          <p:nvSpPr>
            <p:cNvPr name="TextBox 46" id="46"/>
            <p:cNvSpPr txBox="true"/>
            <p:nvPr/>
          </p:nvSpPr>
          <p:spPr>
            <a:xfrm>
              <a:off x="0" y="0"/>
              <a:ext cx="694944" cy="601067"/>
            </a:xfrm>
            <a:prstGeom prst="rect">
              <a:avLst/>
            </a:prstGeom>
          </p:spPr>
          <p:txBody>
            <a:bodyPr anchor="ctr" rtlCol="false" tIns="0" lIns="0" bIns="0" rIns="0"/>
            <a:lstStyle/>
            <a:p>
              <a:pPr algn="ctr" marL="0" indent="0" lvl="0">
                <a:lnSpc>
                  <a:spcPts val="2879"/>
                </a:lnSpc>
                <a:spcBef>
                  <a:spcPct val="0"/>
                </a:spcBef>
              </a:pPr>
              <a:r>
                <a:rPr lang="en-US" b="true" sz="2400" strike="noStrike" u="none">
                  <a:solidFill>
                    <a:srgbClr val="3371A5"/>
                  </a:solidFill>
                  <a:latin typeface="Aptos Bold"/>
                  <a:ea typeface="Aptos Bold"/>
                  <a:cs typeface="Aptos Bold"/>
                  <a:sym typeface="Aptos Bold"/>
                </a:rPr>
                <a:t>4</a:t>
              </a:r>
            </a:p>
          </p:txBody>
        </p:sp>
      </p:grpSp>
      <p:grpSp>
        <p:nvGrpSpPr>
          <p:cNvPr name="Group 47" id="47"/>
          <p:cNvGrpSpPr/>
          <p:nvPr/>
        </p:nvGrpSpPr>
        <p:grpSpPr>
          <a:xfrm rot="0">
            <a:off x="10227945" y="5225415"/>
            <a:ext cx="6515100" cy="450800"/>
            <a:chOff x="0" y="0"/>
            <a:chExt cx="8686800" cy="601067"/>
          </a:xfrm>
        </p:grpSpPr>
        <p:sp>
          <p:nvSpPr>
            <p:cNvPr name="Freeform 48" id="48"/>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45092" r="0" b="-218114"/>
              </a:stretch>
            </a:blipFill>
          </p:spPr>
        </p:sp>
        <p:sp>
          <p:nvSpPr>
            <p:cNvPr name="TextBox 49" id="49"/>
            <p:cNvSpPr txBox="true"/>
            <p:nvPr/>
          </p:nvSpPr>
          <p:spPr>
            <a:xfrm>
              <a:off x="0" y="0"/>
              <a:ext cx="8686800" cy="601067"/>
            </a:xfrm>
            <a:prstGeom prst="rect">
              <a:avLst/>
            </a:prstGeom>
          </p:spPr>
          <p:txBody>
            <a:bodyPr anchor="ctr" rtlCol="false" tIns="0" lIns="0" bIns="0" rIns="0"/>
            <a:lstStyle/>
            <a:p>
              <a:pPr algn="l">
                <a:lnSpc>
                  <a:spcPts val="2879"/>
                </a:lnSpc>
              </a:pPr>
              <a:r>
                <a:rPr lang="en-US" sz="2400" b="true">
                  <a:solidFill>
                    <a:srgbClr val="6B6D70"/>
                  </a:solidFill>
                  <a:latin typeface="Aptos Bold"/>
                  <a:ea typeface="Aptos Bold"/>
                  <a:cs typeface="Aptos Bold"/>
                  <a:sym typeface="Aptos Bold"/>
                </a:rPr>
                <a:t>Special users</a:t>
              </a:r>
            </a:p>
          </p:txBody>
        </p:sp>
      </p:grpSp>
      <p:grpSp>
        <p:nvGrpSpPr>
          <p:cNvPr name="Group 50" id="50"/>
          <p:cNvGrpSpPr/>
          <p:nvPr/>
        </p:nvGrpSpPr>
        <p:grpSpPr>
          <a:xfrm rot="0">
            <a:off x="10227945" y="5603748"/>
            <a:ext cx="6515100" cy="450800"/>
            <a:chOff x="0" y="0"/>
            <a:chExt cx="8686800" cy="601067"/>
          </a:xfrm>
        </p:grpSpPr>
        <p:sp>
          <p:nvSpPr>
            <p:cNvPr name="Freeform 51" id="51"/>
            <p:cNvSpPr/>
            <p:nvPr/>
          </p:nvSpPr>
          <p:spPr>
            <a:xfrm flipH="false" flipV="false" rot="0">
              <a:off x="0" y="0"/>
              <a:ext cx="8686800" cy="601067"/>
            </a:xfrm>
            <a:custGeom>
              <a:avLst/>
              <a:gdLst/>
              <a:ahLst/>
              <a:cxnLst/>
              <a:rect r="r" b="b" t="t" l="l"/>
              <a:pathLst>
                <a:path h="601067" w="8686800">
                  <a:moveTo>
                    <a:pt x="0" y="0"/>
                  </a:moveTo>
                  <a:lnTo>
                    <a:pt x="8686800" y="0"/>
                  </a:lnTo>
                  <a:lnTo>
                    <a:pt x="8686800" y="601067"/>
                  </a:lnTo>
                  <a:lnTo>
                    <a:pt x="0" y="601067"/>
                  </a:lnTo>
                  <a:close/>
                </a:path>
              </a:pathLst>
            </a:custGeom>
            <a:blipFill>
              <a:blip r:embed="rId3">
                <a:alphaModFix amt="0"/>
              </a:blip>
              <a:stretch>
                <a:fillRect l="0" t="-239007" r="0" b="-224199"/>
              </a:stretch>
            </a:blipFill>
          </p:spPr>
        </p:sp>
        <p:sp>
          <p:nvSpPr>
            <p:cNvPr name="TextBox 52" id="52"/>
            <p:cNvSpPr txBox="true"/>
            <p:nvPr/>
          </p:nvSpPr>
          <p:spPr>
            <a:xfrm>
              <a:off x="0" y="0"/>
              <a:ext cx="8686800" cy="601067"/>
            </a:xfrm>
            <a:prstGeom prst="rect">
              <a:avLst/>
            </a:prstGeom>
          </p:spPr>
          <p:txBody>
            <a:bodyPr anchor="ctr" rtlCol="false" tIns="0" lIns="0" bIns="0" rIns="0"/>
            <a:lstStyle/>
            <a:p>
              <a:pPr algn="l">
                <a:lnSpc>
                  <a:spcPts val="2879"/>
                </a:lnSpc>
              </a:pPr>
              <a:r>
                <a:rPr lang="en-US" b="true" sz="2400">
                  <a:solidFill>
                    <a:srgbClr val="000000"/>
                  </a:solidFill>
                  <a:latin typeface="Aptos Bold"/>
                  <a:ea typeface="Aptos Bold"/>
                  <a:cs typeface="Aptos Bold"/>
                  <a:sym typeface="Aptos Bold"/>
                </a:rPr>
                <a:t>Institutional investors</a:t>
              </a:r>
            </a:p>
          </p:txBody>
        </p:sp>
      </p:grpSp>
      <p:sp>
        <p:nvSpPr>
          <p:cNvPr name="TextBox 53" id="53"/>
          <p:cNvSpPr txBox="true"/>
          <p:nvPr/>
        </p:nvSpPr>
        <p:spPr>
          <a:xfrm rot="0">
            <a:off x="9974580" y="6164162"/>
            <a:ext cx="6446520" cy="1333500"/>
          </a:xfrm>
          <a:prstGeom prst="rect">
            <a:avLst/>
          </a:prstGeom>
        </p:spPr>
        <p:txBody>
          <a:bodyPr anchor="t" rtlCol="false" tIns="0" lIns="0" bIns="0" rIns="0">
            <a:spAutoFit/>
          </a:bodyPr>
          <a:lstStyle/>
          <a:p>
            <a:pPr algn="l" marL="474979" indent="-237490" lvl="1">
              <a:lnSpc>
                <a:spcPts val="2639"/>
              </a:lnSpc>
              <a:buFont typeface="Arial"/>
              <a:buChar char="•"/>
            </a:pPr>
            <a:r>
              <a:rPr lang="en-US" sz="2199">
                <a:solidFill>
                  <a:srgbClr val="000000"/>
                </a:solidFill>
                <a:latin typeface="Aptos"/>
                <a:ea typeface="Aptos"/>
                <a:cs typeface="Aptos"/>
                <a:sym typeface="Aptos"/>
              </a:rPr>
              <a:t>Can run special sessions using forecasts based on their own assessments of the capital market.</a:t>
            </a:r>
          </a:p>
          <a:p>
            <a:pPr algn="l" marL="474979" indent="-237490" lvl="1">
              <a:lnSpc>
                <a:spcPts val="2639"/>
              </a:lnSpc>
              <a:buFont typeface="Arial"/>
              <a:buChar char="•"/>
            </a:pPr>
            <a:r>
              <a:rPr lang="en-US" sz="2199">
                <a:solidFill>
                  <a:srgbClr val="000000"/>
                </a:solidFill>
                <a:latin typeface="Aptos"/>
                <a:ea typeface="Aptos"/>
                <a:cs typeface="Aptos"/>
                <a:sym typeface="Aptos"/>
              </a:rPr>
              <a:t>The system makes recommendations accurately suited to their assessments of the capital market</a:t>
            </a:r>
          </a:p>
        </p:txBody>
      </p:sp>
      <p:grpSp>
        <p:nvGrpSpPr>
          <p:cNvPr name="Group 54" id="54"/>
          <p:cNvGrpSpPr/>
          <p:nvPr/>
        </p:nvGrpSpPr>
        <p:grpSpPr>
          <a:xfrm rot="0">
            <a:off x="902073" y="8184871"/>
            <a:ext cx="16225020" cy="1254633"/>
            <a:chOff x="0" y="0"/>
            <a:chExt cx="21633360" cy="1672844"/>
          </a:xfrm>
        </p:grpSpPr>
        <p:sp>
          <p:nvSpPr>
            <p:cNvPr name="Freeform 55" id="55"/>
            <p:cNvSpPr/>
            <p:nvPr/>
          </p:nvSpPr>
          <p:spPr>
            <a:xfrm flipH="false" flipV="false" rot="0">
              <a:off x="0" y="0"/>
              <a:ext cx="21633360" cy="1672844"/>
            </a:xfrm>
            <a:custGeom>
              <a:avLst/>
              <a:gdLst/>
              <a:ahLst/>
              <a:cxnLst/>
              <a:rect r="r" b="b" t="t" l="l"/>
              <a:pathLst>
                <a:path h="1672844" w="21633360">
                  <a:moveTo>
                    <a:pt x="0" y="152053"/>
                  </a:moveTo>
                  <a:cubicBezTo>
                    <a:pt x="0" y="68099"/>
                    <a:pt x="65965" y="0"/>
                    <a:pt x="147287" y="0"/>
                  </a:cubicBezTo>
                  <a:lnTo>
                    <a:pt x="21486073" y="0"/>
                  </a:lnTo>
                  <a:cubicBezTo>
                    <a:pt x="21567395" y="0"/>
                    <a:pt x="21633360" y="68099"/>
                    <a:pt x="21633360" y="152053"/>
                  </a:cubicBezTo>
                  <a:lnTo>
                    <a:pt x="21633360" y="1520791"/>
                  </a:lnTo>
                  <a:cubicBezTo>
                    <a:pt x="21633360" y="1604745"/>
                    <a:pt x="21567395" y="1672844"/>
                    <a:pt x="21486073" y="1672844"/>
                  </a:cubicBezTo>
                  <a:lnTo>
                    <a:pt x="147287" y="1672844"/>
                  </a:lnTo>
                  <a:cubicBezTo>
                    <a:pt x="65965" y="1672844"/>
                    <a:pt x="0" y="1604745"/>
                    <a:pt x="0" y="1520791"/>
                  </a:cubicBezTo>
                  <a:close/>
                </a:path>
              </a:pathLst>
            </a:custGeom>
            <a:solidFill>
              <a:srgbClr val="B7D9F4"/>
            </a:solidFill>
            <a:ln w="19050" cap="sq">
              <a:solidFill>
                <a:srgbClr val="B7D9F4"/>
              </a:solidFill>
              <a:prstDash val="solid"/>
              <a:miter/>
            </a:ln>
          </p:spPr>
        </p:sp>
      </p:grpSp>
      <p:sp>
        <p:nvSpPr>
          <p:cNvPr name="AutoShape 56" id="56"/>
          <p:cNvSpPr/>
          <p:nvPr/>
        </p:nvSpPr>
        <p:spPr>
          <a:xfrm flipV="true">
            <a:off x="1185582" y="8455306"/>
            <a:ext cx="0" cy="801443"/>
          </a:xfrm>
          <a:prstGeom prst="line">
            <a:avLst/>
          </a:prstGeom>
          <a:ln cap="rnd" w="19050">
            <a:solidFill>
              <a:srgbClr val="3371A5"/>
            </a:solidFill>
            <a:prstDash val="solid"/>
            <a:headEnd type="none" len="sm" w="sm"/>
            <a:tailEnd type="none" len="sm" w="sm"/>
          </a:ln>
        </p:spPr>
      </p:sp>
      <p:grpSp>
        <p:nvGrpSpPr>
          <p:cNvPr name="Group 57" id="57"/>
          <p:cNvGrpSpPr/>
          <p:nvPr/>
        </p:nvGrpSpPr>
        <p:grpSpPr>
          <a:xfrm rot="0">
            <a:off x="1426464" y="8334975"/>
            <a:ext cx="15691104" cy="954426"/>
            <a:chOff x="0" y="0"/>
            <a:chExt cx="20921472" cy="1272567"/>
          </a:xfrm>
        </p:grpSpPr>
        <p:sp>
          <p:nvSpPr>
            <p:cNvPr name="Freeform 58" id="58"/>
            <p:cNvSpPr/>
            <p:nvPr/>
          </p:nvSpPr>
          <p:spPr>
            <a:xfrm flipH="false" flipV="false" rot="0">
              <a:off x="0" y="0"/>
              <a:ext cx="20921472" cy="1272567"/>
            </a:xfrm>
            <a:custGeom>
              <a:avLst/>
              <a:gdLst/>
              <a:ahLst/>
              <a:cxnLst/>
              <a:rect r="r" b="b" t="t" l="l"/>
              <a:pathLst>
                <a:path h="1272567" w="20921472">
                  <a:moveTo>
                    <a:pt x="0" y="0"/>
                  </a:moveTo>
                  <a:lnTo>
                    <a:pt x="20921472" y="0"/>
                  </a:lnTo>
                  <a:lnTo>
                    <a:pt x="20921472" y="1272567"/>
                  </a:lnTo>
                  <a:lnTo>
                    <a:pt x="0" y="1272567"/>
                  </a:lnTo>
                  <a:close/>
                </a:path>
              </a:pathLst>
            </a:custGeom>
            <a:blipFill>
              <a:blip r:embed="rId3">
                <a:alphaModFix amt="0"/>
              </a:blip>
              <a:stretch>
                <a:fillRect l="0" t="-271479" r="0" b="-269202"/>
              </a:stretch>
            </a:blipFill>
          </p:spPr>
        </p:sp>
        <p:sp>
          <p:nvSpPr>
            <p:cNvPr name="TextBox 59" id="59"/>
            <p:cNvSpPr txBox="true"/>
            <p:nvPr/>
          </p:nvSpPr>
          <p:spPr>
            <a:xfrm>
              <a:off x="0" y="0"/>
              <a:ext cx="20921472" cy="1272567"/>
            </a:xfrm>
            <a:prstGeom prst="rect">
              <a:avLst/>
            </a:prstGeom>
          </p:spPr>
          <p:txBody>
            <a:bodyPr anchor="ctr" rtlCol="false" tIns="0" lIns="0" bIns="0" rIns="0"/>
            <a:lstStyle/>
            <a:p>
              <a:pPr algn="l">
                <a:lnSpc>
                  <a:spcPts val="2879"/>
                </a:lnSpc>
              </a:pPr>
              <a:r>
                <a:rPr lang="en-US" sz="2400">
                  <a:solidFill>
                    <a:srgbClr val="000000"/>
                  </a:solidFill>
                  <a:latin typeface="Aptos"/>
                  <a:ea typeface="Aptos"/>
                  <a:cs typeface="Aptos"/>
                  <a:sym typeface="Aptos"/>
                </a:rPr>
                <a:t>Design principle: formal optimization + human advisory judgment. The model determines asset-class weights; CRMs retain responsibility for the detailed security recommendations and the customer conversation.</a:t>
              </a:r>
            </a:p>
          </p:txBody>
        </p:sp>
      </p:grpSp>
      <p:grpSp>
        <p:nvGrpSpPr>
          <p:cNvPr name="Group 60" id="60"/>
          <p:cNvGrpSpPr/>
          <p:nvPr/>
        </p:nvGrpSpPr>
        <p:grpSpPr>
          <a:xfrm rot="0">
            <a:off x="842776" y="227768"/>
            <a:ext cx="3905492" cy="688537"/>
            <a:chOff x="0" y="0"/>
            <a:chExt cx="4805774" cy="847257"/>
          </a:xfrm>
        </p:grpSpPr>
        <p:sp>
          <p:nvSpPr>
            <p:cNvPr name="Freeform 61" id="61"/>
            <p:cNvSpPr/>
            <p:nvPr/>
          </p:nvSpPr>
          <p:spPr>
            <a:xfrm flipH="false" flipV="false" rot="0">
              <a:off x="0" y="0"/>
              <a:ext cx="4805637" cy="847257"/>
            </a:xfrm>
            <a:custGeom>
              <a:avLst/>
              <a:gdLst/>
              <a:ahLst/>
              <a:cxnLst/>
              <a:rect r="r" b="b" t="t" l="l"/>
              <a:pathLst>
                <a:path h="847257" w="4805637">
                  <a:moveTo>
                    <a:pt x="0" y="282356"/>
                  </a:moveTo>
                  <a:cubicBezTo>
                    <a:pt x="0" y="126521"/>
                    <a:pt x="114314" y="0"/>
                    <a:pt x="255114" y="0"/>
                  </a:cubicBezTo>
                  <a:lnTo>
                    <a:pt x="4550523" y="0"/>
                  </a:lnTo>
                  <a:cubicBezTo>
                    <a:pt x="4691493" y="0"/>
                    <a:pt x="4805637" y="126521"/>
                    <a:pt x="4805637" y="282356"/>
                  </a:cubicBezTo>
                  <a:lnTo>
                    <a:pt x="4805637" y="564901"/>
                  </a:lnTo>
                  <a:cubicBezTo>
                    <a:pt x="4805637" y="720925"/>
                    <a:pt x="4691323" y="847257"/>
                    <a:pt x="4550523" y="847257"/>
                  </a:cubicBezTo>
                  <a:lnTo>
                    <a:pt x="255114" y="847257"/>
                  </a:lnTo>
                  <a:cubicBezTo>
                    <a:pt x="114314" y="847257"/>
                    <a:pt x="0" y="720735"/>
                    <a:pt x="0" y="564901"/>
                  </a:cubicBezTo>
                  <a:close/>
                </a:path>
              </a:pathLst>
            </a:custGeom>
            <a:solidFill>
              <a:srgbClr val="FAF5EB"/>
            </a:solidFill>
            <a:ln w="15240" cap="sq">
              <a:solidFill>
                <a:srgbClr val="3371A5"/>
              </a:solidFill>
              <a:prstDash val="solid"/>
              <a:miter/>
            </a:ln>
          </p:spPr>
        </p:sp>
      </p:grpSp>
      <p:grpSp>
        <p:nvGrpSpPr>
          <p:cNvPr name="Group 62" id="62"/>
          <p:cNvGrpSpPr/>
          <p:nvPr/>
        </p:nvGrpSpPr>
        <p:grpSpPr>
          <a:xfrm rot="0">
            <a:off x="1069552" y="331188"/>
            <a:ext cx="5220697" cy="510272"/>
            <a:chOff x="0" y="0"/>
            <a:chExt cx="6960930" cy="680363"/>
          </a:xfrm>
        </p:grpSpPr>
        <p:sp>
          <p:nvSpPr>
            <p:cNvPr name="Freeform 63" id="63"/>
            <p:cNvSpPr/>
            <p:nvPr/>
          </p:nvSpPr>
          <p:spPr>
            <a:xfrm flipH="false" flipV="false" rot="0">
              <a:off x="0" y="0"/>
              <a:ext cx="6960930" cy="680363"/>
            </a:xfrm>
            <a:custGeom>
              <a:avLst/>
              <a:gdLst/>
              <a:ahLst/>
              <a:cxnLst/>
              <a:rect r="r" b="b" t="t" l="l"/>
              <a:pathLst>
                <a:path h="680363" w="6960930">
                  <a:moveTo>
                    <a:pt x="0" y="0"/>
                  </a:moveTo>
                  <a:lnTo>
                    <a:pt x="6960930" y="0"/>
                  </a:lnTo>
                  <a:lnTo>
                    <a:pt x="6960930" y="680363"/>
                  </a:lnTo>
                  <a:lnTo>
                    <a:pt x="0" y="680363"/>
                  </a:lnTo>
                  <a:close/>
                </a:path>
              </a:pathLst>
            </a:custGeom>
            <a:blipFill>
              <a:blip r:embed="rId3">
                <a:alphaModFix amt="0"/>
              </a:blip>
              <a:stretch>
                <a:fillRect l="0" t="-56294" r="54233" b="-26181"/>
              </a:stretch>
            </a:blipFill>
          </p:spPr>
        </p:sp>
        <p:sp>
          <p:nvSpPr>
            <p:cNvPr name="TextBox 64" id="64"/>
            <p:cNvSpPr txBox="true"/>
            <p:nvPr/>
          </p:nvSpPr>
          <p:spPr>
            <a:xfrm>
              <a:off x="0" y="0"/>
              <a:ext cx="6960930"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10 — USERS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0392" y="1097280"/>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110"/>
                </a:lnSpc>
              </a:pPr>
              <a:r>
                <a:rPr lang="en-US" sz="3425">
                  <a:solidFill>
                    <a:srgbClr val="051D3A"/>
                  </a:solidFill>
                  <a:latin typeface="Aptos"/>
                  <a:ea typeface="Aptos"/>
                  <a:cs typeface="Aptos"/>
                  <a:sym typeface="Aptos"/>
                </a:rPr>
                <a:t>Decision Quality: CPI Benchmark Track Record</a:t>
              </a:r>
            </a:p>
          </p:txBody>
        </p:sp>
      </p:grpSp>
      <p:sp>
        <p:nvSpPr>
          <p:cNvPr name="TextBox 5" id="5"/>
          <p:cNvSpPr txBox="true"/>
          <p:nvPr/>
        </p:nvSpPr>
        <p:spPr>
          <a:xfrm rot="0">
            <a:off x="850392" y="1865376"/>
            <a:ext cx="16527780" cy="352425"/>
          </a:xfrm>
          <a:prstGeom prst="rect">
            <a:avLst/>
          </a:prstGeom>
        </p:spPr>
        <p:txBody>
          <a:bodyPr anchor="t" rtlCol="false" tIns="0" lIns="0" bIns="0" rIns="0">
            <a:spAutoFit/>
          </a:bodyPr>
          <a:lstStyle/>
          <a:p>
            <a:pPr algn="l">
              <a:lnSpc>
                <a:spcPts val="2831"/>
              </a:lnSpc>
            </a:pPr>
            <a:r>
              <a:rPr lang="en-US" sz="2359">
                <a:solidFill>
                  <a:srgbClr val="2B3541"/>
                </a:solidFill>
                <a:latin typeface="Aptos"/>
                <a:ea typeface="Aptos"/>
                <a:cs typeface="Aptos"/>
                <a:sym typeface="Aptos"/>
              </a:rPr>
              <a:t>The paper compares representative low- and medium-risk portfolios with their benchmarks over January 1999–December 2002.</a:t>
            </a:r>
          </a:p>
        </p:txBody>
      </p:sp>
      <p:grpSp>
        <p:nvGrpSpPr>
          <p:cNvPr name="Group 6" id="6"/>
          <p:cNvGrpSpPr/>
          <p:nvPr/>
        </p:nvGrpSpPr>
        <p:grpSpPr>
          <a:xfrm rot="0">
            <a:off x="850392" y="2588133"/>
            <a:ext cx="10082671" cy="5608903"/>
            <a:chOff x="0" y="0"/>
            <a:chExt cx="13807440" cy="7680960"/>
          </a:xfrm>
        </p:grpSpPr>
        <p:sp>
          <p:nvSpPr>
            <p:cNvPr name="Freeform 7" id="7" descr="/mnt/data/media_extract/ppt/media/image1.png"/>
            <p:cNvSpPr/>
            <p:nvPr/>
          </p:nvSpPr>
          <p:spPr>
            <a:xfrm flipH="false" flipV="false" rot="0">
              <a:off x="0" y="0"/>
              <a:ext cx="13807439" cy="7680960"/>
            </a:xfrm>
            <a:custGeom>
              <a:avLst/>
              <a:gdLst/>
              <a:ahLst/>
              <a:cxnLst/>
              <a:rect r="r" b="b" t="t" l="l"/>
              <a:pathLst>
                <a:path h="7680960" w="13807439">
                  <a:moveTo>
                    <a:pt x="0" y="0"/>
                  </a:moveTo>
                  <a:lnTo>
                    <a:pt x="13807439" y="0"/>
                  </a:lnTo>
                  <a:lnTo>
                    <a:pt x="13807439" y="7680960"/>
                  </a:lnTo>
                  <a:lnTo>
                    <a:pt x="0" y="7680960"/>
                  </a:lnTo>
                  <a:lnTo>
                    <a:pt x="0" y="0"/>
                  </a:lnTo>
                  <a:close/>
                </a:path>
              </a:pathLst>
            </a:custGeom>
            <a:blipFill>
              <a:blip r:embed="rId4"/>
              <a:stretch>
                <a:fillRect l="-2152" t="0" r="-2152" b="0"/>
              </a:stretch>
            </a:blipFill>
          </p:spPr>
        </p:sp>
      </p:grpSp>
      <p:grpSp>
        <p:nvGrpSpPr>
          <p:cNvPr name="Group 8" id="8"/>
          <p:cNvGrpSpPr/>
          <p:nvPr/>
        </p:nvGrpSpPr>
        <p:grpSpPr>
          <a:xfrm rot="0">
            <a:off x="11400101" y="2588133"/>
            <a:ext cx="6191650" cy="3454885"/>
            <a:chOff x="0" y="0"/>
            <a:chExt cx="8255534" cy="4606514"/>
          </a:xfrm>
        </p:grpSpPr>
        <p:sp>
          <p:nvSpPr>
            <p:cNvPr name="Freeform 9" id="9"/>
            <p:cNvSpPr/>
            <p:nvPr/>
          </p:nvSpPr>
          <p:spPr>
            <a:xfrm flipH="false" flipV="false" rot="0">
              <a:off x="0" y="0"/>
              <a:ext cx="8255533" cy="4606514"/>
            </a:xfrm>
            <a:custGeom>
              <a:avLst/>
              <a:gdLst/>
              <a:ahLst/>
              <a:cxnLst/>
              <a:rect r="r" b="b" t="t" l="l"/>
              <a:pathLst>
                <a:path h="4606514" w="8255533">
                  <a:moveTo>
                    <a:pt x="0" y="325144"/>
                  </a:moveTo>
                  <a:cubicBezTo>
                    <a:pt x="0" y="145587"/>
                    <a:pt x="122049" y="0"/>
                    <a:pt x="272577" y="0"/>
                  </a:cubicBezTo>
                  <a:lnTo>
                    <a:pt x="7982957" y="0"/>
                  </a:lnTo>
                  <a:cubicBezTo>
                    <a:pt x="8133484" y="0"/>
                    <a:pt x="8255533" y="145587"/>
                    <a:pt x="8255533" y="325144"/>
                  </a:cubicBezTo>
                  <a:lnTo>
                    <a:pt x="8255533" y="4281370"/>
                  </a:lnTo>
                  <a:cubicBezTo>
                    <a:pt x="8255533" y="4460927"/>
                    <a:pt x="8133484" y="4606514"/>
                    <a:pt x="7982957" y="4606514"/>
                  </a:cubicBezTo>
                  <a:lnTo>
                    <a:pt x="272577" y="4606514"/>
                  </a:lnTo>
                  <a:cubicBezTo>
                    <a:pt x="122049" y="4606514"/>
                    <a:pt x="0" y="4460927"/>
                    <a:pt x="0" y="4281370"/>
                  </a:cubicBezTo>
                  <a:close/>
                </a:path>
              </a:pathLst>
            </a:custGeom>
            <a:solidFill>
              <a:srgbClr val="FAF5EB"/>
            </a:solidFill>
            <a:ln w="19050" cap="sq">
              <a:solidFill>
                <a:srgbClr val="D5D0C5"/>
              </a:solidFill>
              <a:prstDash val="solid"/>
              <a:miter/>
            </a:ln>
          </p:spPr>
        </p:sp>
      </p:grpSp>
      <p:grpSp>
        <p:nvGrpSpPr>
          <p:cNvPr name="Group 10" id="10"/>
          <p:cNvGrpSpPr/>
          <p:nvPr/>
        </p:nvGrpSpPr>
        <p:grpSpPr>
          <a:xfrm rot="0">
            <a:off x="11671466" y="2857201"/>
            <a:ext cx="4512564" cy="450800"/>
            <a:chOff x="0" y="0"/>
            <a:chExt cx="6016752" cy="601066"/>
          </a:xfrm>
        </p:grpSpPr>
        <p:sp>
          <p:nvSpPr>
            <p:cNvPr name="Freeform 11" id="11"/>
            <p:cNvSpPr/>
            <p:nvPr/>
          </p:nvSpPr>
          <p:spPr>
            <a:xfrm flipH="false" flipV="false" rot="0">
              <a:off x="0" y="0"/>
              <a:ext cx="6016752" cy="601066"/>
            </a:xfrm>
            <a:custGeom>
              <a:avLst/>
              <a:gdLst/>
              <a:ahLst/>
              <a:cxnLst/>
              <a:rect r="r" b="b" t="t" l="l"/>
              <a:pathLst>
                <a:path h="601066" w="6016752">
                  <a:moveTo>
                    <a:pt x="0" y="0"/>
                  </a:moveTo>
                  <a:lnTo>
                    <a:pt x="6016752" y="0"/>
                  </a:lnTo>
                  <a:lnTo>
                    <a:pt x="6016752" y="601066"/>
                  </a:lnTo>
                  <a:lnTo>
                    <a:pt x="0" y="601066"/>
                  </a:lnTo>
                  <a:close/>
                </a:path>
              </a:pathLst>
            </a:custGeom>
            <a:blipFill>
              <a:blip r:embed="rId3">
                <a:alphaModFix amt="0"/>
              </a:blip>
              <a:stretch>
                <a:fillRect l="0" t="-152451" r="0" b="-137644"/>
              </a:stretch>
            </a:blipFill>
          </p:spPr>
        </p:sp>
        <p:sp>
          <p:nvSpPr>
            <p:cNvPr name="TextBox 12" id="12"/>
            <p:cNvSpPr txBox="true"/>
            <p:nvPr/>
          </p:nvSpPr>
          <p:spPr>
            <a:xfrm>
              <a:off x="0" y="0"/>
              <a:ext cx="6016752" cy="601066"/>
            </a:xfrm>
            <a:prstGeom prst="rect">
              <a:avLst/>
            </a:prstGeom>
          </p:spPr>
          <p:txBody>
            <a:bodyPr anchor="ctr" rtlCol="false" tIns="0" lIns="0" bIns="0" rIns="0"/>
            <a:lstStyle/>
            <a:p>
              <a:pPr algn="l">
                <a:lnSpc>
                  <a:spcPts val="2879"/>
                </a:lnSpc>
              </a:pPr>
              <a:r>
                <a:rPr lang="en-US" sz="2399" b="true">
                  <a:solidFill>
                    <a:srgbClr val="2B3541"/>
                  </a:solidFill>
                  <a:latin typeface="Aptos Bold"/>
                  <a:ea typeface="Aptos Bold"/>
                  <a:cs typeface="Aptos Bold"/>
                  <a:sym typeface="Aptos Bold"/>
                </a:rPr>
                <a:t>Risk levels tested</a:t>
              </a:r>
            </a:p>
          </p:txBody>
        </p:sp>
      </p:grpSp>
      <p:sp>
        <p:nvSpPr>
          <p:cNvPr name="TextBox 13" id="13"/>
          <p:cNvSpPr txBox="true"/>
          <p:nvPr/>
        </p:nvSpPr>
        <p:spPr>
          <a:xfrm rot="0">
            <a:off x="11671466" y="3447810"/>
            <a:ext cx="5648920" cy="2057400"/>
          </a:xfrm>
          <a:prstGeom prst="rect">
            <a:avLst/>
          </a:prstGeom>
        </p:spPr>
        <p:txBody>
          <a:bodyPr anchor="t" rtlCol="false" tIns="0" lIns="0" bIns="0" rIns="0">
            <a:spAutoFit/>
          </a:bodyPr>
          <a:lstStyle/>
          <a:p>
            <a:pPr algn="l">
              <a:lnSpc>
                <a:spcPts val="2735"/>
              </a:lnSpc>
            </a:pPr>
            <a:r>
              <a:rPr lang="en-US" sz="2279">
                <a:solidFill>
                  <a:srgbClr val="2B3541"/>
                </a:solidFill>
                <a:latin typeface="Aptos"/>
                <a:ea typeface="Aptos"/>
                <a:cs typeface="Aptos"/>
                <a:sym typeface="Aptos"/>
              </a:rPr>
              <a:t>Low-risk portfolio = risk scale 1</a:t>
            </a:r>
          </a:p>
          <a:p>
            <a:pPr algn="l">
              <a:lnSpc>
                <a:spcPts val="2735"/>
              </a:lnSpc>
            </a:pPr>
            <a:r>
              <a:rPr lang="en-US" sz="2279">
                <a:solidFill>
                  <a:srgbClr val="2B3541"/>
                </a:solidFill>
                <a:latin typeface="Aptos"/>
                <a:ea typeface="Aptos"/>
                <a:cs typeface="Aptos"/>
                <a:sym typeface="Aptos"/>
              </a:rPr>
              <a:t>Medium-risk portfolio = risk scale 3</a:t>
            </a:r>
          </a:p>
          <a:p>
            <a:pPr algn="l">
              <a:lnSpc>
                <a:spcPts val="2735"/>
              </a:lnSpc>
            </a:pPr>
          </a:p>
          <a:p>
            <a:pPr algn="l">
              <a:lnSpc>
                <a:spcPts val="2735"/>
              </a:lnSpc>
            </a:pPr>
            <a:r>
              <a:rPr lang="en-US" sz="2279">
                <a:solidFill>
                  <a:srgbClr val="2B3541"/>
                </a:solidFill>
                <a:latin typeface="Aptos"/>
                <a:ea typeface="Aptos"/>
                <a:cs typeface="Aptos"/>
                <a:sym typeface="Aptos"/>
              </a:rPr>
              <a:t>A risk scale of 5 exists in the customer classification, but the published track-record analysis uses low + medium risk portfolios.</a:t>
            </a:r>
          </a:p>
        </p:txBody>
      </p:sp>
      <p:grpSp>
        <p:nvGrpSpPr>
          <p:cNvPr name="Group 14" id="14"/>
          <p:cNvGrpSpPr/>
          <p:nvPr/>
        </p:nvGrpSpPr>
        <p:grpSpPr>
          <a:xfrm rot="0">
            <a:off x="11526467" y="6287663"/>
            <a:ext cx="6065285" cy="3386645"/>
            <a:chOff x="0" y="0"/>
            <a:chExt cx="8087047" cy="4515527"/>
          </a:xfrm>
        </p:grpSpPr>
        <p:sp>
          <p:nvSpPr>
            <p:cNvPr name="Freeform 15" id="15"/>
            <p:cNvSpPr/>
            <p:nvPr/>
          </p:nvSpPr>
          <p:spPr>
            <a:xfrm flipH="false" flipV="false" rot="0">
              <a:off x="0" y="0"/>
              <a:ext cx="8087046" cy="4515527"/>
            </a:xfrm>
            <a:custGeom>
              <a:avLst/>
              <a:gdLst/>
              <a:ahLst/>
              <a:cxnLst/>
              <a:rect r="r" b="b" t="t" l="l"/>
              <a:pathLst>
                <a:path h="4515527" w="8087046">
                  <a:moveTo>
                    <a:pt x="0" y="361242"/>
                  </a:moveTo>
                  <a:cubicBezTo>
                    <a:pt x="0" y="161772"/>
                    <a:pt x="119712" y="0"/>
                    <a:pt x="267320" y="0"/>
                  </a:cubicBezTo>
                  <a:lnTo>
                    <a:pt x="7819727" y="0"/>
                  </a:lnTo>
                  <a:cubicBezTo>
                    <a:pt x="7967335" y="0"/>
                    <a:pt x="8087046" y="161772"/>
                    <a:pt x="8087046" y="361242"/>
                  </a:cubicBezTo>
                  <a:lnTo>
                    <a:pt x="8087046" y="4154285"/>
                  </a:lnTo>
                  <a:cubicBezTo>
                    <a:pt x="8087046" y="4353755"/>
                    <a:pt x="7967335" y="4515527"/>
                    <a:pt x="7819727" y="4515527"/>
                  </a:cubicBezTo>
                  <a:lnTo>
                    <a:pt x="267320" y="4515527"/>
                  </a:lnTo>
                  <a:cubicBezTo>
                    <a:pt x="119712" y="4515527"/>
                    <a:pt x="0" y="4353755"/>
                    <a:pt x="0" y="4154285"/>
                  </a:cubicBezTo>
                  <a:close/>
                </a:path>
              </a:pathLst>
            </a:custGeom>
            <a:solidFill>
              <a:srgbClr val="B7D9F4"/>
            </a:solidFill>
            <a:ln w="19050" cap="sq">
              <a:solidFill>
                <a:srgbClr val="B7D9F4"/>
              </a:solidFill>
              <a:prstDash val="solid"/>
              <a:miter/>
            </a:ln>
          </p:spPr>
        </p:sp>
      </p:grpSp>
      <p:grpSp>
        <p:nvGrpSpPr>
          <p:cNvPr name="Group 16" id="16"/>
          <p:cNvGrpSpPr/>
          <p:nvPr/>
        </p:nvGrpSpPr>
        <p:grpSpPr>
          <a:xfrm rot="0">
            <a:off x="11671466" y="6472633"/>
            <a:ext cx="4512564" cy="450800"/>
            <a:chOff x="0" y="0"/>
            <a:chExt cx="6016752" cy="601066"/>
          </a:xfrm>
        </p:grpSpPr>
        <p:sp>
          <p:nvSpPr>
            <p:cNvPr name="Freeform 17" id="17"/>
            <p:cNvSpPr/>
            <p:nvPr/>
          </p:nvSpPr>
          <p:spPr>
            <a:xfrm flipH="false" flipV="false" rot="0">
              <a:off x="0" y="0"/>
              <a:ext cx="6016752" cy="601066"/>
            </a:xfrm>
            <a:custGeom>
              <a:avLst/>
              <a:gdLst/>
              <a:ahLst/>
              <a:cxnLst/>
              <a:rect r="r" b="b" t="t" l="l"/>
              <a:pathLst>
                <a:path h="601066" w="6016752">
                  <a:moveTo>
                    <a:pt x="0" y="0"/>
                  </a:moveTo>
                  <a:lnTo>
                    <a:pt x="6016752" y="0"/>
                  </a:lnTo>
                  <a:lnTo>
                    <a:pt x="6016752" y="601066"/>
                  </a:lnTo>
                  <a:lnTo>
                    <a:pt x="0" y="601066"/>
                  </a:lnTo>
                  <a:close/>
                </a:path>
              </a:pathLst>
            </a:custGeom>
            <a:blipFill>
              <a:blip r:embed="rId3">
                <a:alphaModFix amt="0"/>
              </a:blip>
              <a:stretch>
                <a:fillRect l="0" t="-152451" r="0" b="-137644"/>
              </a:stretch>
            </a:blipFill>
          </p:spPr>
        </p:sp>
        <p:sp>
          <p:nvSpPr>
            <p:cNvPr name="TextBox 18" id="18"/>
            <p:cNvSpPr txBox="true"/>
            <p:nvPr/>
          </p:nvSpPr>
          <p:spPr>
            <a:xfrm>
              <a:off x="0" y="0"/>
              <a:ext cx="6016752" cy="601066"/>
            </a:xfrm>
            <a:prstGeom prst="rect">
              <a:avLst/>
            </a:prstGeom>
          </p:spPr>
          <p:txBody>
            <a:bodyPr anchor="ctr" rtlCol="false" tIns="0" lIns="0" bIns="0" rIns="0"/>
            <a:lstStyle/>
            <a:p>
              <a:pPr algn="l">
                <a:lnSpc>
                  <a:spcPts val="2879"/>
                </a:lnSpc>
              </a:pPr>
              <a:r>
                <a:rPr lang="en-US" sz="2399" b="true">
                  <a:solidFill>
                    <a:srgbClr val="2B3541"/>
                  </a:solidFill>
                  <a:latin typeface="Aptos Bold"/>
                  <a:ea typeface="Aptos Bold"/>
                  <a:cs typeface="Aptos Bold"/>
                  <a:sym typeface="Aptos Bold"/>
                </a:rPr>
                <a:t>CPI benchmark result</a:t>
              </a:r>
            </a:p>
          </p:txBody>
        </p:sp>
      </p:grpSp>
      <p:sp>
        <p:nvSpPr>
          <p:cNvPr name="TextBox 19" id="19"/>
          <p:cNvSpPr txBox="true"/>
          <p:nvPr/>
        </p:nvSpPr>
        <p:spPr>
          <a:xfrm rot="0">
            <a:off x="11671466" y="7142508"/>
            <a:ext cx="5648920" cy="2057400"/>
          </a:xfrm>
          <a:prstGeom prst="rect">
            <a:avLst/>
          </a:prstGeom>
        </p:spPr>
        <p:txBody>
          <a:bodyPr anchor="t" rtlCol="false" tIns="0" lIns="0" bIns="0" rIns="0">
            <a:spAutoFit/>
          </a:bodyPr>
          <a:lstStyle/>
          <a:p>
            <a:pPr algn="l">
              <a:lnSpc>
                <a:spcPts val="2735"/>
              </a:lnSpc>
            </a:pPr>
            <a:r>
              <a:rPr lang="en-US" sz="2279">
                <a:solidFill>
                  <a:srgbClr val="2B3541"/>
                </a:solidFill>
                <a:latin typeface="Aptos"/>
                <a:ea typeface="Aptos"/>
                <a:cs typeface="Aptos"/>
                <a:sym typeface="Aptos"/>
              </a:rPr>
              <a:t>Low risk: +15.03% cumulative excess return</a:t>
            </a:r>
          </a:p>
          <a:p>
            <a:pPr algn="l">
              <a:lnSpc>
                <a:spcPts val="2735"/>
              </a:lnSpc>
            </a:pPr>
            <a:r>
              <a:rPr lang="en-US" sz="2279">
                <a:solidFill>
                  <a:srgbClr val="2B3541"/>
                </a:solidFill>
                <a:latin typeface="Aptos"/>
                <a:ea typeface="Aptos"/>
                <a:cs typeface="Aptos"/>
                <a:sym typeface="Aptos"/>
              </a:rPr>
              <a:t>Medium risk: +34.22% cumulative excess return</a:t>
            </a:r>
          </a:p>
          <a:p>
            <a:pPr algn="l">
              <a:lnSpc>
                <a:spcPts val="2735"/>
              </a:lnSpc>
            </a:pPr>
          </a:p>
          <a:p>
            <a:pPr algn="l">
              <a:lnSpc>
                <a:spcPts val="2735"/>
              </a:lnSpc>
            </a:pPr>
            <a:r>
              <a:rPr lang="en-US" sz="2279">
                <a:solidFill>
                  <a:srgbClr val="2B3541"/>
                </a:solidFill>
                <a:latin typeface="Aptos"/>
                <a:ea typeface="Aptos"/>
                <a:cs typeface="Aptos"/>
                <a:sym typeface="Aptos"/>
              </a:rPr>
              <a:t>The figure shows relative performance indexed at 100 in Dec-1998.</a:t>
            </a:r>
          </a:p>
        </p:txBody>
      </p:sp>
      <p:grpSp>
        <p:nvGrpSpPr>
          <p:cNvPr name="Group 20" id="20"/>
          <p:cNvGrpSpPr/>
          <p:nvPr/>
        </p:nvGrpSpPr>
        <p:grpSpPr>
          <a:xfrm rot="0">
            <a:off x="932198" y="8400306"/>
            <a:ext cx="10000864" cy="1715989"/>
            <a:chOff x="0" y="0"/>
            <a:chExt cx="13334485" cy="2287985"/>
          </a:xfrm>
        </p:grpSpPr>
        <p:sp>
          <p:nvSpPr>
            <p:cNvPr name="Freeform 21" id="21"/>
            <p:cNvSpPr/>
            <p:nvPr/>
          </p:nvSpPr>
          <p:spPr>
            <a:xfrm flipH="false" flipV="false" rot="0">
              <a:off x="0" y="0"/>
              <a:ext cx="13334485" cy="2287985"/>
            </a:xfrm>
            <a:custGeom>
              <a:avLst/>
              <a:gdLst/>
              <a:ahLst/>
              <a:cxnLst/>
              <a:rect r="r" b="b" t="t" l="l"/>
              <a:pathLst>
                <a:path h="2287985" w="13334485">
                  <a:moveTo>
                    <a:pt x="0" y="457597"/>
                  </a:moveTo>
                  <a:cubicBezTo>
                    <a:pt x="0" y="204987"/>
                    <a:pt x="200169" y="0"/>
                    <a:pt x="446842" y="0"/>
                  </a:cubicBezTo>
                  <a:lnTo>
                    <a:pt x="12887644" y="0"/>
                  </a:lnTo>
                  <a:cubicBezTo>
                    <a:pt x="13134316" y="0"/>
                    <a:pt x="13334485" y="204987"/>
                    <a:pt x="13334485" y="457597"/>
                  </a:cubicBezTo>
                  <a:lnTo>
                    <a:pt x="13334485" y="1830388"/>
                  </a:lnTo>
                  <a:cubicBezTo>
                    <a:pt x="13334485" y="2082998"/>
                    <a:pt x="13134316" y="2287985"/>
                    <a:pt x="12887644" y="2287985"/>
                  </a:cubicBezTo>
                  <a:lnTo>
                    <a:pt x="446842" y="2287985"/>
                  </a:lnTo>
                  <a:cubicBezTo>
                    <a:pt x="200169" y="2287985"/>
                    <a:pt x="0" y="2082998"/>
                    <a:pt x="0" y="1830388"/>
                  </a:cubicBezTo>
                  <a:close/>
                </a:path>
              </a:pathLst>
            </a:custGeom>
            <a:solidFill>
              <a:srgbClr val="F4E8CF"/>
            </a:solidFill>
            <a:ln w="19050" cap="sq">
              <a:solidFill>
                <a:srgbClr val="F4E8CF"/>
              </a:solidFill>
              <a:prstDash val="solid"/>
              <a:miter/>
            </a:ln>
          </p:spPr>
        </p:sp>
      </p:grpSp>
      <p:grpSp>
        <p:nvGrpSpPr>
          <p:cNvPr name="Group 22" id="22"/>
          <p:cNvGrpSpPr/>
          <p:nvPr/>
        </p:nvGrpSpPr>
        <p:grpSpPr>
          <a:xfrm rot="0">
            <a:off x="1184309" y="8578036"/>
            <a:ext cx="4512564" cy="451540"/>
            <a:chOff x="0" y="0"/>
            <a:chExt cx="6016752" cy="602053"/>
          </a:xfrm>
        </p:grpSpPr>
        <p:sp>
          <p:nvSpPr>
            <p:cNvPr name="Freeform 23" id="23"/>
            <p:cNvSpPr/>
            <p:nvPr/>
          </p:nvSpPr>
          <p:spPr>
            <a:xfrm flipH="false" flipV="false" rot="0">
              <a:off x="0" y="0"/>
              <a:ext cx="6016752" cy="602053"/>
            </a:xfrm>
            <a:custGeom>
              <a:avLst/>
              <a:gdLst/>
              <a:ahLst/>
              <a:cxnLst/>
              <a:rect r="r" b="b" t="t" l="l"/>
              <a:pathLst>
                <a:path h="602053" w="6016752">
                  <a:moveTo>
                    <a:pt x="0" y="0"/>
                  </a:moveTo>
                  <a:lnTo>
                    <a:pt x="6016752" y="0"/>
                  </a:lnTo>
                  <a:lnTo>
                    <a:pt x="6016752" y="602053"/>
                  </a:lnTo>
                  <a:lnTo>
                    <a:pt x="0" y="602053"/>
                  </a:lnTo>
                  <a:close/>
                </a:path>
              </a:pathLst>
            </a:custGeom>
            <a:blipFill>
              <a:blip r:embed="rId3">
                <a:alphaModFix amt="0"/>
              </a:blip>
              <a:stretch>
                <a:fillRect l="0" t="-152201" r="0" b="-137254"/>
              </a:stretch>
            </a:blipFill>
          </p:spPr>
        </p:sp>
        <p:sp>
          <p:nvSpPr>
            <p:cNvPr name="TextBox 24" id="24"/>
            <p:cNvSpPr txBox="true"/>
            <p:nvPr/>
          </p:nvSpPr>
          <p:spPr>
            <a:xfrm>
              <a:off x="0" y="-9525"/>
              <a:ext cx="6016752" cy="611578"/>
            </a:xfrm>
            <a:prstGeom prst="rect">
              <a:avLst/>
            </a:prstGeom>
          </p:spPr>
          <p:txBody>
            <a:bodyPr anchor="ctr" rtlCol="false" tIns="0" lIns="0" bIns="0" rIns="0"/>
            <a:lstStyle/>
            <a:p>
              <a:pPr algn="l">
                <a:lnSpc>
                  <a:spcPts val="2903"/>
                </a:lnSpc>
              </a:pPr>
              <a:r>
                <a:rPr lang="en-US" sz="2419" b="true">
                  <a:solidFill>
                    <a:srgbClr val="2B3541"/>
                  </a:solidFill>
                  <a:latin typeface="Aptos Bold"/>
                  <a:ea typeface="Aptos Bold"/>
                  <a:cs typeface="Aptos Bold"/>
                  <a:sym typeface="Aptos Bold"/>
                </a:rPr>
                <a:t>Assessment approach</a:t>
              </a:r>
            </a:p>
          </p:txBody>
        </p:sp>
      </p:grpSp>
      <p:sp>
        <p:nvSpPr>
          <p:cNvPr name="TextBox 25" id="25"/>
          <p:cNvSpPr txBox="true"/>
          <p:nvPr/>
        </p:nvSpPr>
        <p:spPr>
          <a:xfrm rot="0">
            <a:off x="1184309" y="9027995"/>
            <a:ext cx="9139871" cy="685800"/>
          </a:xfrm>
          <a:prstGeom prst="rect">
            <a:avLst/>
          </a:prstGeom>
        </p:spPr>
        <p:txBody>
          <a:bodyPr anchor="t" rtlCol="false" tIns="0" lIns="0" bIns="0" rIns="0">
            <a:spAutoFit/>
          </a:bodyPr>
          <a:lstStyle/>
          <a:p>
            <a:pPr algn="l">
              <a:lnSpc>
                <a:spcPts val="2735"/>
              </a:lnSpc>
            </a:pPr>
            <a:r>
              <a:rPr lang="en-US" sz="2279">
                <a:solidFill>
                  <a:srgbClr val="2B3541"/>
                </a:solidFill>
                <a:latin typeface="Aptos"/>
                <a:ea typeface="Aptos"/>
                <a:cs typeface="Aptos"/>
                <a:sym typeface="Aptos"/>
              </a:rPr>
              <a:t>Compare realized portfolio performance with the selected benchmark. The paper also evaluates bank-side profit and adoption/usage.</a:t>
            </a:r>
          </a:p>
        </p:txBody>
      </p:sp>
      <p:grpSp>
        <p:nvGrpSpPr>
          <p:cNvPr name="Group 26" id="26"/>
          <p:cNvGrpSpPr/>
          <p:nvPr/>
        </p:nvGrpSpPr>
        <p:grpSpPr>
          <a:xfrm rot="0">
            <a:off x="850392" y="235388"/>
            <a:ext cx="4130384" cy="688537"/>
            <a:chOff x="0" y="0"/>
            <a:chExt cx="5082507" cy="847257"/>
          </a:xfrm>
        </p:grpSpPr>
        <p:sp>
          <p:nvSpPr>
            <p:cNvPr name="Freeform 27" id="27"/>
            <p:cNvSpPr/>
            <p:nvPr/>
          </p:nvSpPr>
          <p:spPr>
            <a:xfrm flipH="false" flipV="false" rot="0">
              <a:off x="0" y="0"/>
              <a:ext cx="5082362" cy="847257"/>
            </a:xfrm>
            <a:custGeom>
              <a:avLst/>
              <a:gdLst/>
              <a:ahLst/>
              <a:cxnLst/>
              <a:rect r="r" b="b" t="t" l="l"/>
              <a:pathLst>
                <a:path h="847257" w="5082362">
                  <a:moveTo>
                    <a:pt x="0" y="282356"/>
                  </a:moveTo>
                  <a:cubicBezTo>
                    <a:pt x="0" y="126521"/>
                    <a:pt x="120897" y="0"/>
                    <a:pt x="269804" y="0"/>
                  </a:cubicBezTo>
                  <a:lnTo>
                    <a:pt x="4812558" y="0"/>
                  </a:lnTo>
                  <a:cubicBezTo>
                    <a:pt x="4961646" y="0"/>
                    <a:pt x="5082362" y="126521"/>
                    <a:pt x="5082362" y="282356"/>
                  </a:cubicBezTo>
                  <a:lnTo>
                    <a:pt x="5082362" y="564901"/>
                  </a:lnTo>
                  <a:cubicBezTo>
                    <a:pt x="5082362" y="720925"/>
                    <a:pt x="4961465" y="847257"/>
                    <a:pt x="4812558" y="847257"/>
                  </a:cubicBezTo>
                  <a:lnTo>
                    <a:pt x="269804" y="847257"/>
                  </a:lnTo>
                  <a:cubicBezTo>
                    <a:pt x="120897" y="847257"/>
                    <a:pt x="0" y="720735"/>
                    <a:pt x="0" y="564901"/>
                  </a:cubicBezTo>
                  <a:close/>
                </a:path>
              </a:pathLst>
            </a:custGeom>
            <a:solidFill>
              <a:srgbClr val="FAF5EB"/>
            </a:solidFill>
            <a:ln w="15240" cap="sq">
              <a:solidFill>
                <a:srgbClr val="3371A5"/>
              </a:solidFill>
              <a:prstDash val="solid"/>
              <a:miter/>
            </a:ln>
          </p:spPr>
        </p:sp>
      </p:grpSp>
      <p:grpSp>
        <p:nvGrpSpPr>
          <p:cNvPr name="Group 28" id="28"/>
          <p:cNvGrpSpPr/>
          <p:nvPr/>
        </p:nvGrpSpPr>
        <p:grpSpPr>
          <a:xfrm rot="0">
            <a:off x="1015467" y="338808"/>
            <a:ext cx="3800235" cy="510272"/>
            <a:chOff x="0" y="0"/>
            <a:chExt cx="5066980" cy="680363"/>
          </a:xfrm>
        </p:grpSpPr>
        <p:sp>
          <p:nvSpPr>
            <p:cNvPr name="Freeform 29" id="29"/>
            <p:cNvSpPr/>
            <p:nvPr/>
          </p:nvSpPr>
          <p:spPr>
            <a:xfrm flipH="false" flipV="false" rot="0">
              <a:off x="0" y="0"/>
              <a:ext cx="5066980" cy="680363"/>
            </a:xfrm>
            <a:custGeom>
              <a:avLst/>
              <a:gdLst/>
              <a:ahLst/>
              <a:cxnLst/>
              <a:rect r="r" b="b" t="t" l="l"/>
              <a:pathLst>
                <a:path h="680363" w="5066980">
                  <a:moveTo>
                    <a:pt x="0" y="0"/>
                  </a:moveTo>
                  <a:lnTo>
                    <a:pt x="5066980" y="0"/>
                  </a:lnTo>
                  <a:lnTo>
                    <a:pt x="5066980" y="680363"/>
                  </a:lnTo>
                  <a:lnTo>
                    <a:pt x="0" y="680363"/>
                  </a:lnTo>
                  <a:close/>
                </a:path>
              </a:pathLst>
            </a:custGeom>
            <a:blipFill>
              <a:blip r:embed="rId3">
                <a:alphaModFix amt="0"/>
              </a:blip>
              <a:stretch>
                <a:fillRect l="0" t="-56294" r="37126" b="-26181"/>
              </a:stretch>
            </a:blipFill>
          </p:spPr>
        </p:sp>
        <p:sp>
          <p:nvSpPr>
            <p:cNvPr name="TextBox 30" id="30"/>
            <p:cNvSpPr txBox="true"/>
            <p:nvPr/>
          </p:nvSpPr>
          <p:spPr>
            <a:xfrm>
              <a:off x="0" y="0"/>
              <a:ext cx="5066980"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11 — RESULTS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0392" y="1028700"/>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Cross-Benchmark Graphs: Low vs Medium Risk</a:t>
              </a:r>
            </a:p>
          </p:txBody>
        </p:sp>
      </p:grpSp>
      <p:sp>
        <p:nvSpPr>
          <p:cNvPr name="TextBox 5" id="5"/>
          <p:cNvSpPr txBox="true"/>
          <p:nvPr/>
        </p:nvSpPr>
        <p:spPr>
          <a:xfrm rot="0">
            <a:off x="850392" y="1741932"/>
            <a:ext cx="1652778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The paper reports low-risk and medium-risk portfolios against USD and shekel benchmarks over the same 1999–2002 period.</a:t>
            </a:r>
          </a:p>
        </p:txBody>
      </p:sp>
      <p:grpSp>
        <p:nvGrpSpPr>
          <p:cNvPr name="Group 6" id="6"/>
          <p:cNvGrpSpPr/>
          <p:nvPr/>
        </p:nvGrpSpPr>
        <p:grpSpPr>
          <a:xfrm rot="0">
            <a:off x="850392" y="2167128"/>
            <a:ext cx="7680960" cy="414821"/>
            <a:chOff x="0" y="0"/>
            <a:chExt cx="10241280" cy="553095"/>
          </a:xfrm>
        </p:grpSpPr>
        <p:sp>
          <p:nvSpPr>
            <p:cNvPr name="Freeform 7" id="7"/>
            <p:cNvSpPr/>
            <p:nvPr/>
          </p:nvSpPr>
          <p:spPr>
            <a:xfrm flipH="false" flipV="false" rot="0">
              <a:off x="0" y="0"/>
              <a:ext cx="10241280" cy="553095"/>
            </a:xfrm>
            <a:custGeom>
              <a:avLst/>
              <a:gdLst/>
              <a:ahLst/>
              <a:cxnLst/>
              <a:rect r="r" b="b" t="t" l="l"/>
              <a:pathLst>
                <a:path h="553095" w="10241280">
                  <a:moveTo>
                    <a:pt x="0" y="0"/>
                  </a:moveTo>
                  <a:lnTo>
                    <a:pt x="10241280" y="0"/>
                  </a:lnTo>
                  <a:lnTo>
                    <a:pt x="10241280" y="553095"/>
                  </a:lnTo>
                  <a:lnTo>
                    <a:pt x="0" y="553095"/>
                  </a:lnTo>
                  <a:close/>
                </a:path>
              </a:pathLst>
            </a:custGeom>
            <a:blipFill>
              <a:blip r:embed="rId3">
                <a:alphaModFix amt="0"/>
              </a:blip>
              <a:stretch>
                <a:fillRect l="0" t="-314500" r="0" b="-307082"/>
              </a:stretch>
            </a:blipFill>
          </p:spPr>
        </p:sp>
        <p:sp>
          <p:nvSpPr>
            <p:cNvPr name="TextBox 8" id="8"/>
            <p:cNvSpPr txBox="true"/>
            <p:nvPr/>
          </p:nvSpPr>
          <p:spPr>
            <a:xfrm>
              <a:off x="0" y="0"/>
              <a:ext cx="10241280" cy="553095"/>
            </a:xfrm>
            <a:prstGeom prst="rect">
              <a:avLst/>
            </a:prstGeom>
          </p:spPr>
          <p:txBody>
            <a:bodyPr anchor="ctr" rtlCol="false" tIns="0" lIns="0" bIns="0" rIns="0"/>
            <a:lstStyle/>
            <a:p>
              <a:pPr algn="ctr">
                <a:lnSpc>
                  <a:spcPts val="2639"/>
                </a:lnSpc>
              </a:pPr>
              <a:r>
                <a:rPr lang="en-US" sz="2199" b="true">
                  <a:solidFill>
                    <a:srgbClr val="2B3541"/>
                  </a:solidFill>
                  <a:latin typeface="Aptos Bold"/>
                  <a:ea typeface="Aptos Bold"/>
                  <a:cs typeface="Aptos Bold"/>
                  <a:sym typeface="Aptos Bold"/>
                </a:rPr>
                <a:t>US Dollar Benchmark</a:t>
              </a:r>
            </a:p>
          </p:txBody>
        </p:sp>
      </p:grpSp>
      <p:grpSp>
        <p:nvGrpSpPr>
          <p:cNvPr name="Group 9" id="9"/>
          <p:cNvGrpSpPr/>
          <p:nvPr/>
        </p:nvGrpSpPr>
        <p:grpSpPr>
          <a:xfrm rot="0">
            <a:off x="946134" y="2715006"/>
            <a:ext cx="7876933" cy="4869180"/>
            <a:chOff x="0" y="0"/>
            <a:chExt cx="10502577" cy="6492240"/>
          </a:xfrm>
        </p:grpSpPr>
        <p:sp>
          <p:nvSpPr>
            <p:cNvPr name="Freeform 10" id="10"/>
            <p:cNvSpPr/>
            <p:nvPr/>
          </p:nvSpPr>
          <p:spPr>
            <a:xfrm flipH="false" flipV="false" rot="0">
              <a:off x="0" y="0"/>
              <a:ext cx="10502577" cy="6492240"/>
            </a:xfrm>
            <a:custGeom>
              <a:avLst/>
              <a:gdLst/>
              <a:ahLst/>
              <a:cxnLst/>
              <a:rect r="r" b="b" t="t" l="l"/>
              <a:pathLst>
                <a:path h="6492240" w="10502577">
                  <a:moveTo>
                    <a:pt x="0" y="0"/>
                  </a:moveTo>
                  <a:lnTo>
                    <a:pt x="10502577" y="0"/>
                  </a:lnTo>
                  <a:lnTo>
                    <a:pt x="10502577" y="6492240"/>
                  </a:lnTo>
                  <a:lnTo>
                    <a:pt x="0" y="6492240"/>
                  </a:lnTo>
                  <a:lnTo>
                    <a:pt x="0" y="0"/>
                  </a:lnTo>
                  <a:close/>
                </a:path>
              </a:pathLst>
            </a:custGeom>
            <a:blipFill>
              <a:blip r:embed="rId4"/>
              <a:stretch>
                <a:fillRect l="-4683" t="0" r="-4683" b="0"/>
              </a:stretch>
            </a:blipFill>
          </p:spPr>
        </p:sp>
      </p:grpSp>
      <p:grpSp>
        <p:nvGrpSpPr>
          <p:cNvPr name="Group 11" id="11"/>
          <p:cNvGrpSpPr/>
          <p:nvPr/>
        </p:nvGrpSpPr>
        <p:grpSpPr>
          <a:xfrm rot="0">
            <a:off x="9248775" y="2189226"/>
            <a:ext cx="7680960" cy="414821"/>
            <a:chOff x="0" y="0"/>
            <a:chExt cx="10241280" cy="553095"/>
          </a:xfrm>
        </p:grpSpPr>
        <p:sp>
          <p:nvSpPr>
            <p:cNvPr name="Freeform 12" id="12"/>
            <p:cNvSpPr/>
            <p:nvPr/>
          </p:nvSpPr>
          <p:spPr>
            <a:xfrm flipH="false" flipV="false" rot="0">
              <a:off x="0" y="0"/>
              <a:ext cx="10241280" cy="553095"/>
            </a:xfrm>
            <a:custGeom>
              <a:avLst/>
              <a:gdLst/>
              <a:ahLst/>
              <a:cxnLst/>
              <a:rect r="r" b="b" t="t" l="l"/>
              <a:pathLst>
                <a:path h="553095" w="10241280">
                  <a:moveTo>
                    <a:pt x="0" y="0"/>
                  </a:moveTo>
                  <a:lnTo>
                    <a:pt x="10241280" y="0"/>
                  </a:lnTo>
                  <a:lnTo>
                    <a:pt x="10241280" y="553095"/>
                  </a:lnTo>
                  <a:lnTo>
                    <a:pt x="0" y="553095"/>
                  </a:lnTo>
                  <a:close/>
                </a:path>
              </a:pathLst>
            </a:custGeom>
            <a:blipFill>
              <a:blip r:embed="rId3">
                <a:alphaModFix amt="0"/>
              </a:blip>
              <a:stretch>
                <a:fillRect l="0" t="-314500" r="0" b="-307082"/>
              </a:stretch>
            </a:blipFill>
          </p:spPr>
        </p:sp>
        <p:sp>
          <p:nvSpPr>
            <p:cNvPr name="TextBox 13" id="13"/>
            <p:cNvSpPr txBox="true"/>
            <p:nvPr/>
          </p:nvSpPr>
          <p:spPr>
            <a:xfrm>
              <a:off x="0" y="0"/>
              <a:ext cx="10241280" cy="553095"/>
            </a:xfrm>
            <a:prstGeom prst="rect">
              <a:avLst/>
            </a:prstGeom>
          </p:spPr>
          <p:txBody>
            <a:bodyPr anchor="ctr" rtlCol="false" tIns="0" lIns="0" bIns="0" rIns="0"/>
            <a:lstStyle/>
            <a:p>
              <a:pPr algn="ctr">
                <a:lnSpc>
                  <a:spcPts val="2639"/>
                </a:lnSpc>
              </a:pPr>
              <a:r>
                <a:rPr lang="en-US" sz="2199" b="true">
                  <a:solidFill>
                    <a:srgbClr val="2B3541"/>
                  </a:solidFill>
                  <a:latin typeface="Aptos Bold"/>
                  <a:ea typeface="Aptos Bold"/>
                  <a:cs typeface="Aptos Bold"/>
                  <a:sym typeface="Aptos Bold"/>
                </a:rPr>
                <a:t>Shekel Benchmark</a:t>
              </a:r>
            </a:p>
          </p:txBody>
        </p:sp>
      </p:grpSp>
      <p:grpSp>
        <p:nvGrpSpPr>
          <p:cNvPr name="Group 14" id="14"/>
          <p:cNvGrpSpPr/>
          <p:nvPr/>
        </p:nvGrpSpPr>
        <p:grpSpPr>
          <a:xfrm rot="0">
            <a:off x="9505188" y="2718347"/>
            <a:ext cx="7475220" cy="4869180"/>
            <a:chOff x="0" y="0"/>
            <a:chExt cx="9966960" cy="6492240"/>
          </a:xfrm>
        </p:grpSpPr>
        <p:sp>
          <p:nvSpPr>
            <p:cNvPr name="Freeform 15" id="15"/>
            <p:cNvSpPr/>
            <p:nvPr/>
          </p:nvSpPr>
          <p:spPr>
            <a:xfrm flipH="false" flipV="false" rot="0">
              <a:off x="0" y="0"/>
              <a:ext cx="9966960" cy="6492240"/>
            </a:xfrm>
            <a:custGeom>
              <a:avLst/>
              <a:gdLst/>
              <a:ahLst/>
              <a:cxnLst/>
              <a:rect r="r" b="b" t="t" l="l"/>
              <a:pathLst>
                <a:path h="6492240" w="9966960">
                  <a:moveTo>
                    <a:pt x="0" y="0"/>
                  </a:moveTo>
                  <a:lnTo>
                    <a:pt x="9966960" y="0"/>
                  </a:lnTo>
                  <a:lnTo>
                    <a:pt x="9966960" y="6492240"/>
                  </a:lnTo>
                  <a:lnTo>
                    <a:pt x="0" y="6492240"/>
                  </a:lnTo>
                  <a:lnTo>
                    <a:pt x="0" y="0"/>
                  </a:lnTo>
                  <a:close/>
                </a:path>
              </a:pathLst>
            </a:custGeom>
            <a:blipFill>
              <a:blip r:embed="rId5"/>
              <a:stretch>
                <a:fillRect l="-4165" t="0" r="-4165" b="0"/>
              </a:stretch>
            </a:blipFill>
          </p:spPr>
        </p:sp>
      </p:grpSp>
      <p:grpSp>
        <p:nvGrpSpPr>
          <p:cNvPr name="Group 16" id="16"/>
          <p:cNvGrpSpPr/>
          <p:nvPr/>
        </p:nvGrpSpPr>
        <p:grpSpPr>
          <a:xfrm rot="0">
            <a:off x="950595" y="7831836"/>
            <a:ext cx="7946898" cy="1744962"/>
            <a:chOff x="0" y="0"/>
            <a:chExt cx="10595864" cy="2326617"/>
          </a:xfrm>
        </p:grpSpPr>
        <p:sp>
          <p:nvSpPr>
            <p:cNvPr name="Freeform 17" id="17"/>
            <p:cNvSpPr/>
            <p:nvPr/>
          </p:nvSpPr>
          <p:spPr>
            <a:xfrm flipH="false" flipV="false" rot="0">
              <a:off x="0" y="0"/>
              <a:ext cx="10595864" cy="2326617"/>
            </a:xfrm>
            <a:custGeom>
              <a:avLst/>
              <a:gdLst/>
              <a:ahLst/>
              <a:cxnLst/>
              <a:rect r="r" b="b" t="t" l="l"/>
              <a:pathLst>
                <a:path h="2326617" w="10595864">
                  <a:moveTo>
                    <a:pt x="0" y="450387"/>
                  </a:moveTo>
                  <a:cubicBezTo>
                    <a:pt x="0" y="201616"/>
                    <a:pt x="100457" y="0"/>
                    <a:pt x="224409" y="0"/>
                  </a:cubicBezTo>
                  <a:lnTo>
                    <a:pt x="10371455" y="0"/>
                  </a:lnTo>
                  <a:cubicBezTo>
                    <a:pt x="10495407" y="0"/>
                    <a:pt x="10595864" y="201616"/>
                    <a:pt x="10595864" y="450387"/>
                  </a:cubicBezTo>
                  <a:lnTo>
                    <a:pt x="10595864" y="1876230"/>
                  </a:lnTo>
                  <a:cubicBezTo>
                    <a:pt x="10595864" y="2125000"/>
                    <a:pt x="10495407" y="2326617"/>
                    <a:pt x="10371455" y="2326617"/>
                  </a:cubicBezTo>
                  <a:lnTo>
                    <a:pt x="224409" y="2326617"/>
                  </a:lnTo>
                  <a:cubicBezTo>
                    <a:pt x="100457" y="2326617"/>
                    <a:pt x="0" y="2125000"/>
                    <a:pt x="0" y="1876230"/>
                  </a:cubicBezTo>
                  <a:close/>
                </a:path>
              </a:pathLst>
            </a:custGeom>
            <a:solidFill>
              <a:srgbClr val="B7D9F4"/>
            </a:solidFill>
            <a:ln w="19050" cap="sq">
              <a:solidFill>
                <a:srgbClr val="B7D9F4"/>
              </a:solidFill>
              <a:prstDash val="solid"/>
              <a:miter/>
            </a:ln>
          </p:spPr>
        </p:sp>
      </p:grpSp>
      <p:grpSp>
        <p:nvGrpSpPr>
          <p:cNvPr name="Group 18" id="18"/>
          <p:cNvGrpSpPr/>
          <p:nvPr/>
        </p:nvGrpSpPr>
        <p:grpSpPr>
          <a:xfrm rot="0">
            <a:off x="1097280" y="8069580"/>
            <a:ext cx="7434072" cy="462361"/>
            <a:chOff x="0" y="0"/>
            <a:chExt cx="9912096" cy="616481"/>
          </a:xfrm>
        </p:grpSpPr>
        <p:sp>
          <p:nvSpPr>
            <p:cNvPr name="Freeform 19" id="19"/>
            <p:cNvSpPr/>
            <p:nvPr/>
          </p:nvSpPr>
          <p:spPr>
            <a:xfrm flipH="false" flipV="false" rot="0">
              <a:off x="0" y="0"/>
              <a:ext cx="9912096" cy="616481"/>
            </a:xfrm>
            <a:custGeom>
              <a:avLst/>
              <a:gdLst/>
              <a:ahLst/>
              <a:cxnLst/>
              <a:rect r="r" b="b" t="t" l="l"/>
              <a:pathLst>
                <a:path h="616481" w="9912096">
                  <a:moveTo>
                    <a:pt x="0" y="0"/>
                  </a:moveTo>
                  <a:lnTo>
                    <a:pt x="9912096" y="0"/>
                  </a:lnTo>
                  <a:lnTo>
                    <a:pt x="9912096" y="616481"/>
                  </a:lnTo>
                  <a:lnTo>
                    <a:pt x="0" y="616481"/>
                  </a:lnTo>
                  <a:close/>
                </a:path>
              </a:pathLst>
            </a:custGeom>
            <a:blipFill>
              <a:blip r:embed="rId3">
                <a:alphaModFix amt="0"/>
              </a:blip>
              <a:stretch>
                <a:fillRect l="0" t="-271759" r="0" b="-254821"/>
              </a:stretch>
            </a:blipFill>
          </p:spPr>
        </p:sp>
        <p:sp>
          <p:nvSpPr>
            <p:cNvPr name="TextBox 20" id="20"/>
            <p:cNvSpPr txBox="true"/>
            <p:nvPr/>
          </p:nvSpPr>
          <p:spPr>
            <a:xfrm>
              <a:off x="0" y="0"/>
              <a:ext cx="9912096" cy="616481"/>
            </a:xfrm>
            <a:prstGeom prst="rect">
              <a:avLst/>
            </a:prstGeom>
          </p:spPr>
          <p:txBody>
            <a:bodyPr anchor="ctr" rtlCol="false" tIns="0" lIns="0" bIns="0" rIns="0"/>
            <a:lstStyle/>
            <a:p>
              <a:pPr algn="l">
                <a:lnSpc>
                  <a:spcPts val="2945"/>
                </a:lnSpc>
              </a:pPr>
              <a:r>
                <a:rPr lang="en-US" sz="2454" b="true">
                  <a:solidFill>
                    <a:srgbClr val="2B3541"/>
                  </a:solidFill>
                  <a:latin typeface="Aptos Bold"/>
                  <a:ea typeface="Aptos Bold"/>
                  <a:cs typeface="Aptos Bold"/>
                  <a:sym typeface="Aptos Bold"/>
                </a:rPr>
                <a:t>Reported cumulative excess returns</a:t>
              </a:r>
            </a:p>
          </p:txBody>
        </p:sp>
      </p:grpSp>
      <p:grpSp>
        <p:nvGrpSpPr>
          <p:cNvPr name="Group 21" id="21"/>
          <p:cNvGrpSpPr/>
          <p:nvPr/>
        </p:nvGrpSpPr>
        <p:grpSpPr>
          <a:xfrm rot="0">
            <a:off x="9486138" y="7816127"/>
            <a:ext cx="7773162" cy="1760671"/>
            <a:chOff x="0" y="0"/>
            <a:chExt cx="10364216" cy="2347562"/>
          </a:xfrm>
        </p:grpSpPr>
        <p:sp>
          <p:nvSpPr>
            <p:cNvPr name="Freeform 22" id="22"/>
            <p:cNvSpPr/>
            <p:nvPr/>
          </p:nvSpPr>
          <p:spPr>
            <a:xfrm flipH="false" flipV="false" rot="0">
              <a:off x="0" y="0"/>
              <a:ext cx="10364216" cy="2347562"/>
            </a:xfrm>
            <a:custGeom>
              <a:avLst/>
              <a:gdLst/>
              <a:ahLst/>
              <a:cxnLst/>
              <a:rect r="r" b="b" t="t" l="l"/>
              <a:pathLst>
                <a:path h="2347562" w="10364216">
                  <a:moveTo>
                    <a:pt x="0" y="454441"/>
                  </a:moveTo>
                  <a:cubicBezTo>
                    <a:pt x="0" y="203431"/>
                    <a:pt x="104195" y="0"/>
                    <a:pt x="232760" y="0"/>
                  </a:cubicBezTo>
                  <a:lnTo>
                    <a:pt x="10131456" y="0"/>
                  </a:lnTo>
                  <a:cubicBezTo>
                    <a:pt x="10260021" y="0"/>
                    <a:pt x="10364216" y="203431"/>
                    <a:pt x="10364216" y="454441"/>
                  </a:cubicBezTo>
                  <a:lnTo>
                    <a:pt x="10364216" y="1893120"/>
                  </a:lnTo>
                  <a:cubicBezTo>
                    <a:pt x="10364216" y="2144131"/>
                    <a:pt x="10260021" y="2347562"/>
                    <a:pt x="10131456" y="2347562"/>
                  </a:cubicBezTo>
                  <a:lnTo>
                    <a:pt x="232760" y="2347562"/>
                  </a:lnTo>
                  <a:cubicBezTo>
                    <a:pt x="104195" y="2347562"/>
                    <a:pt x="0" y="2144131"/>
                    <a:pt x="0" y="1893120"/>
                  </a:cubicBezTo>
                  <a:close/>
                </a:path>
              </a:pathLst>
            </a:custGeom>
            <a:solidFill>
              <a:srgbClr val="F4E8CF"/>
            </a:solidFill>
            <a:ln w="19050" cap="sq">
              <a:solidFill>
                <a:srgbClr val="F4E8CF"/>
              </a:solidFill>
              <a:prstDash val="solid"/>
              <a:miter/>
            </a:ln>
          </p:spPr>
        </p:sp>
      </p:grpSp>
      <p:grpSp>
        <p:nvGrpSpPr>
          <p:cNvPr name="Group 23" id="23"/>
          <p:cNvGrpSpPr/>
          <p:nvPr/>
        </p:nvGrpSpPr>
        <p:grpSpPr>
          <a:xfrm rot="0">
            <a:off x="9598533" y="7991267"/>
            <a:ext cx="6981444" cy="462361"/>
            <a:chOff x="0" y="0"/>
            <a:chExt cx="9308592" cy="616481"/>
          </a:xfrm>
        </p:grpSpPr>
        <p:sp>
          <p:nvSpPr>
            <p:cNvPr name="Freeform 24" id="24"/>
            <p:cNvSpPr/>
            <p:nvPr/>
          </p:nvSpPr>
          <p:spPr>
            <a:xfrm flipH="false" flipV="false" rot="0">
              <a:off x="0" y="0"/>
              <a:ext cx="9308592" cy="616481"/>
            </a:xfrm>
            <a:custGeom>
              <a:avLst/>
              <a:gdLst/>
              <a:ahLst/>
              <a:cxnLst/>
              <a:rect r="r" b="b" t="t" l="l"/>
              <a:pathLst>
                <a:path h="616481" w="9308592">
                  <a:moveTo>
                    <a:pt x="0" y="0"/>
                  </a:moveTo>
                  <a:lnTo>
                    <a:pt x="9308592" y="0"/>
                  </a:lnTo>
                  <a:lnTo>
                    <a:pt x="9308592" y="616481"/>
                  </a:lnTo>
                  <a:lnTo>
                    <a:pt x="0" y="616481"/>
                  </a:lnTo>
                  <a:close/>
                </a:path>
              </a:pathLst>
            </a:custGeom>
            <a:blipFill>
              <a:blip r:embed="rId3">
                <a:alphaModFix amt="0"/>
              </a:blip>
              <a:stretch>
                <a:fillRect l="0" t="-252684" r="0" b="-235746"/>
              </a:stretch>
            </a:blipFill>
          </p:spPr>
        </p:sp>
        <p:sp>
          <p:nvSpPr>
            <p:cNvPr name="TextBox 25" id="25"/>
            <p:cNvSpPr txBox="true"/>
            <p:nvPr/>
          </p:nvSpPr>
          <p:spPr>
            <a:xfrm>
              <a:off x="0" y="0"/>
              <a:ext cx="9308592" cy="616481"/>
            </a:xfrm>
            <a:prstGeom prst="rect">
              <a:avLst/>
            </a:prstGeom>
          </p:spPr>
          <p:txBody>
            <a:bodyPr anchor="ctr" rtlCol="false" tIns="0" lIns="0" bIns="0" rIns="0"/>
            <a:lstStyle/>
            <a:p>
              <a:pPr algn="l">
                <a:lnSpc>
                  <a:spcPts val="2945"/>
                </a:lnSpc>
              </a:pPr>
              <a:r>
                <a:rPr lang="en-US" sz="2454" b="true">
                  <a:solidFill>
                    <a:srgbClr val="2B3541"/>
                  </a:solidFill>
                  <a:latin typeface="Aptos Bold"/>
                  <a:ea typeface="Aptos Bold"/>
                  <a:cs typeface="Aptos Bold"/>
                  <a:sym typeface="Aptos Bold"/>
                </a:rPr>
                <a:t>What the six-case check shows</a:t>
              </a:r>
            </a:p>
          </p:txBody>
        </p:sp>
      </p:grpSp>
      <p:grpSp>
        <p:nvGrpSpPr>
          <p:cNvPr name="Group 26" id="26"/>
          <p:cNvGrpSpPr/>
          <p:nvPr/>
        </p:nvGrpSpPr>
        <p:grpSpPr>
          <a:xfrm rot="0">
            <a:off x="842776" y="340163"/>
            <a:ext cx="4210085" cy="688537"/>
            <a:chOff x="0" y="0"/>
            <a:chExt cx="5180580" cy="847257"/>
          </a:xfrm>
        </p:grpSpPr>
        <p:sp>
          <p:nvSpPr>
            <p:cNvPr name="Freeform 27" id="27"/>
            <p:cNvSpPr/>
            <p:nvPr/>
          </p:nvSpPr>
          <p:spPr>
            <a:xfrm flipH="false" flipV="false" rot="0">
              <a:off x="0" y="0"/>
              <a:ext cx="5180432" cy="847257"/>
            </a:xfrm>
            <a:custGeom>
              <a:avLst/>
              <a:gdLst/>
              <a:ahLst/>
              <a:cxnLst/>
              <a:rect r="r" b="b" t="t" l="l"/>
              <a:pathLst>
                <a:path h="847257" w="5180432">
                  <a:moveTo>
                    <a:pt x="0" y="282356"/>
                  </a:moveTo>
                  <a:cubicBezTo>
                    <a:pt x="0" y="126521"/>
                    <a:pt x="123230" y="0"/>
                    <a:pt x="275010" y="0"/>
                  </a:cubicBezTo>
                  <a:lnTo>
                    <a:pt x="4905422" y="0"/>
                  </a:lnTo>
                  <a:cubicBezTo>
                    <a:pt x="5057387" y="0"/>
                    <a:pt x="5180432" y="126521"/>
                    <a:pt x="5180432" y="282356"/>
                  </a:cubicBezTo>
                  <a:lnTo>
                    <a:pt x="5180432" y="564901"/>
                  </a:lnTo>
                  <a:cubicBezTo>
                    <a:pt x="5180432" y="720925"/>
                    <a:pt x="5057203" y="847257"/>
                    <a:pt x="4905422" y="847257"/>
                  </a:cubicBezTo>
                  <a:lnTo>
                    <a:pt x="275010" y="847257"/>
                  </a:lnTo>
                  <a:cubicBezTo>
                    <a:pt x="123230" y="847257"/>
                    <a:pt x="0" y="720735"/>
                    <a:pt x="0" y="564901"/>
                  </a:cubicBezTo>
                  <a:close/>
                </a:path>
              </a:pathLst>
            </a:custGeom>
            <a:solidFill>
              <a:srgbClr val="FAF5EB"/>
            </a:solidFill>
            <a:ln w="15240" cap="sq">
              <a:solidFill>
                <a:srgbClr val="3371A5"/>
              </a:solidFill>
              <a:prstDash val="solid"/>
              <a:miter/>
            </a:ln>
          </p:spPr>
        </p:sp>
      </p:grpSp>
      <p:grpSp>
        <p:nvGrpSpPr>
          <p:cNvPr name="Group 28" id="28"/>
          <p:cNvGrpSpPr/>
          <p:nvPr/>
        </p:nvGrpSpPr>
        <p:grpSpPr>
          <a:xfrm rot="0">
            <a:off x="1011035" y="429295"/>
            <a:ext cx="3873565" cy="510272"/>
            <a:chOff x="0" y="0"/>
            <a:chExt cx="5164753" cy="680363"/>
          </a:xfrm>
        </p:grpSpPr>
        <p:sp>
          <p:nvSpPr>
            <p:cNvPr name="Freeform 29" id="29"/>
            <p:cNvSpPr/>
            <p:nvPr/>
          </p:nvSpPr>
          <p:spPr>
            <a:xfrm flipH="false" flipV="false" rot="0">
              <a:off x="0" y="0"/>
              <a:ext cx="5164754" cy="680363"/>
            </a:xfrm>
            <a:custGeom>
              <a:avLst/>
              <a:gdLst/>
              <a:ahLst/>
              <a:cxnLst/>
              <a:rect r="r" b="b" t="t" l="l"/>
              <a:pathLst>
                <a:path h="680363" w="5164754">
                  <a:moveTo>
                    <a:pt x="0" y="0"/>
                  </a:moveTo>
                  <a:lnTo>
                    <a:pt x="5164754" y="0"/>
                  </a:lnTo>
                  <a:lnTo>
                    <a:pt x="5164754" y="680363"/>
                  </a:lnTo>
                  <a:lnTo>
                    <a:pt x="0" y="680363"/>
                  </a:lnTo>
                  <a:close/>
                </a:path>
              </a:pathLst>
            </a:custGeom>
            <a:blipFill>
              <a:blip r:embed="rId3">
                <a:alphaModFix amt="0"/>
              </a:blip>
              <a:stretch>
                <a:fillRect l="0" t="-56294" r="38317" b="-26181"/>
              </a:stretch>
            </a:blipFill>
          </p:spPr>
        </p:sp>
        <p:sp>
          <p:nvSpPr>
            <p:cNvPr name="TextBox 30" id="30"/>
            <p:cNvSpPr txBox="true"/>
            <p:nvPr/>
          </p:nvSpPr>
          <p:spPr>
            <a:xfrm>
              <a:off x="0" y="0"/>
              <a:ext cx="5164753"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11 — RESULTS</a:t>
              </a:r>
            </a:p>
          </p:txBody>
        </p:sp>
      </p:grpSp>
      <p:sp>
        <p:nvSpPr>
          <p:cNvPr name="TextBox 31" id="31"/>
          <p:cNvSpPr txBox="true"/>
          <p:nvPr/>
        </p:nvSpPr>
        <p:spPr>
          <a:xfrm rot="0">
            <a:off x="1097280" y="8715375"/>
            <a:ext cx="7303462" cy="657225"/>
          </a:xfrm>
          <a:prstGeom prst="rect">
            <a:avLst/>
          </a:prstGeom>
        </p:spPr>
        <p:txBody>
          <a:bodyPr anchor="t" rtlCol="false" tIns="0" lIns="0" bIns="0" rIns="0">
            <a:spAutoFit/>
          </a:bodyPr>
          <a:lstStyle/>
          <a:p>
            <a:pPr algn="l">
              <a:lnSpc>
                <a:spcPts val="2699"/>
              </a:lnSpc>
            </a:pPr>
            <a:r>
              <a:rPr lang="en-US" sz="2249">
                <a:solidFill>
                  <a:srgbClr val="2B3541"/>
                </a:solidFill>
                <a:latin typeface="Aptos"/>
                <a:ea typeface="Aptos"/>
                <a:cs typeface="Aptos"/>
                <a:sym typeface="Aptos"/>
              </a:rPr>
              <a:t>USD benchmark: low +15.92%; medium +28.20%</a:t>
            </a:r>
          </a:p>
          <a:p>
            <a:pPr algn="l">
              <a:lnSpc>
                <a:spcPts val="2699"/>
              </a:lnSpc>
            </a:pPr>
            <a:r>
              <a:rPr lang="en-US" sz="2249">
                <a:solidFill>
                  <a:srgbClr val="2B3541"/>
                </a:solidFill>
                <a:latin typeface="Aptos"/>
                <a:ea typeface="Aptos"/>
                <a:cs typeface="Aptos"/>
                <a:sym typeface="Aptos"/>
              </a:rPr>
              <a:t>Shekel benchmark: low −10.57%; medium +4.56%</a:t>
            </a:r>
          </a:p>
        </p:txBody>
      </p:sp>
      <p:sp>
        <p:nvSpPr>
          <p:cNvPr name="TextBox 32" id="32"/>
          <p:cNvSpPr txBox="true"/>
          <p:nvPr/>
        </p:nvSpPr>
        <p:spPr>
          <a:xfrm rot="0">
            <a:off x="9598533" y="8463153"/>
            <a:ext cx="7104549" cy="990600"/>
          </a:xfrm>
          <a:prstGeom prst="rect">
            <a:avLst/>
          </a:prstGeom>
        </p:spPr>
        <p:txBody>
          <a:bodyPr anchor="t" rtlCol="false" tIns="0" lIns="0" bIns="0" rIns="0">
            <a:spAutoFit/>
          </a:bodyPr>
          <a:lstStyle/>
          <a:p>
            <a:pPr algn="l">
              <a:lnSpc>
                <a:spcPts val="2699"/>
              </a:lnSpc>
            </a:pPr>
            <a:r>
              <a:rPr lang="en-US" sz="2249">
                <a:solidFill>
                  <a:srgbClr val="2B3541"/>
                </a:solidFill>
                <a:latin typeface="Aptos"/>
                <a:ea typeface="Aptos"/>
                <a:cs typeface="Aptos"/>
                <a:sym typeface="Aptos"/>
              </a:rPr>
              <a:t>Five of six representative low/medium-risk portfolios beat their selected benchmark. The paper notes that the low-risk shekel case was the one exception.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0392" y="1034224"/>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Earlier Planning Process vs. After Opti-Money</a:t>
              </a:r>
            </a:p>
          </p:txBody>
        </p:sp>
      </p:grpSp>
      <p:sp>
        <p:nvSpPr>
          <p:cNvPr name="TextBox 5" id="5"/>
          <p:cNvSpPr txBox="true"/>
          <p:nvPr/>
        </p:nvSpPr>
        <p:spPr>
          <a:xfrm rot="0">
            <a:off x="850392" y="1779270"/>
            <a:ext cx="16527780" cy="666750"/>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The documented change is from judgment-led advice without a quantitative engine to systematic, scalable, model-based asset allocation.</a:t>
            </a:r>
          </a:p>
        </p:txBody>
      </p:sp>
      <p:grpSp>
        <p:nvGrpSpPr>
          <p:cNvPr name="Group 6" id="6"/>
          <p:cNvGrpSpPr/>
          <p:nvPr/>
        </p:nvGrpSpPr>
        <p:grpSpPr>
          <a:xfrm rot="0">
            <a:off x="842776" y="2665095"/>
            <a:ext cx="8635809" cy="4555696"/>
            <a:chOff x="0" y="0"/>
            <a:chExt cx="11514412" cy="6074261"/>
          </a:xfrm>
        </p:grpSpPr>
        <p:sp>
          <p:nvSpPr>
            <p:cNvPr name="Freeform 7" id="7"/>
            <p:cNvSpPr/>
            <p:nvPr/>
          </p:nvSpPr>
          <p:spPr>
            <a:xfrm flipH="false" flipV="false" rot="0">
              <a:off x="0" y="0"/>
              <a:ext cx="11514413" cy="6074262"/>
            </a:xfrm>
            <a:custGeom>
              <a:avLst/>
              <a:gdLst/>
              <a:ahLst/>
              <a:cxnLst/>
              <a:rect r="r" b="b" t="t" l="l"/>
              <a:pathLst>
                <a:path h="6074262" w="11514413">
                  <a:moveTo>
                    <a:pt x="0" y="196948"/>
                  </a:moveTo>
                  <a:cubicBezTo>
                    <a:pt x="0" y="88138"/>
                    <a:pt x="109554" y="0"/>
                    <a:pt x="244801" y="0"/>
                  </a:cubicBezTo>
                  <a:lnTo>
                    <a:pt x="11269611" y="0"/>
                  </a:lnTo>
                  <a:cubicBezTo>
                    <a:pt x="11404859" y="0"/>
                    <a:pt x="11514413" y="88138"/>
                    <a:pt x="11514413" y="196948"/>
                  </a:cubicBezTo>
                  <a:lnTo>
                    <a:pt x="11514413" y="5877314"/>
                  </a:lnTo>
                  <a:cubicBezTo>
                    <a:pt x="11514413" y="5986124"/>
                    <a:pt x="11404859" y="6074262"/>
                    <a:pt x="11269611" y="6074262"/>
                  </a:cubicBezTo>
                  <a:lnTo>
                    <a:pt x="244801" y="6074262"/>
                  </a:lnTo>
                  <a:cubicBezTo>
                    <a:pt x="109554" y="6074261"/>
                    <a:pt x="0" y="5986123"/>
                    <a:pt x="0" y="5877314"/>
                  </a:cubicBezTo>
                  <a:close/>
                </a:path>
              </a:pathLst>
            </a:custGeom>
            <a:solidFill>
              <a:srgbClr val="FAF5EB"/>
            </a:solidFill>
            <a:ln w="19050" cap="sq">
              <a:solidFill>
                <a:srgbClr val="D5D0C5"/>
              </a:solidFill>
              <a:prstDash val="solid"/>
              <a:miter/>
            </a:ln>
          </p:spPr>
        </p:sp>
      </p:grpSp>
      <p:grpSp>
        <p:nvGrpSpPr>
          <p:cNvPr name="Group 8" id="8"/>
          <p:cNvGrpSpPr/>
          <p:nvPr/>
        </p:nvGrpSpPr>
        <p:grpSpPr>
          <a:xfrm rot="0">
            <a:off x="1108714" y="2967285"/>
            <a:ext cx="7255764" cy="464027"/>
            <a:chOff x="0" y="0"/>
            <a:chExt cx="9674352" cy="618703"/>
          </a:xfrm>
        </p:grpSpPr>
        <p:sp>
          <p:nvSpPr>
            <p:cNvPr name="Freeform 9" id="9"/>
            <p:cNvSpPr/>
            <p:nvPr/>
          </p:nvSpPr>
          <p:spPr>
            <a:xfrm flipH="false" flipV="false" rot="0">
              <a:off x="0" y="0"/>
              <a:ext cx="9674352" cy="618703"/>
            </a:xfrm>
            <a:custGeom>
              <a:avLst/>
              <a:gdLst/>
              <a:ahLst/>
              <a:cxnLst/>
              <a:rect r="r" b="b" t="t" l="l"/>
              <a:pathLst>
                <a:path h="618703" w="9674352">
                  <a:moveTo>
                    <a:pt x="0" y="0"/>
                  </a:moveTo>
                  <a:lnTo>
                    <a:pt x="9674352" y="0"/>
                  </a:lnTo>
                  <a:lnTo>
                    <a:pt x="9674352" y="618703"/>
                  </a:lnTo>
                  <a:lnTo>
                    <a:pt x="0" y="618703"/>
                  </a:lnTo>
                  <a:close/>
                </a:path>
              </a:pathLst>
            </a:custGeom>
            <a:blipFill>
              <a:blip r:embed="rId3">
                <a:alphaModFix amt="0"/>
              </a:blip>
              <a:stretch>
                <a:fillRect l="0" t="-263295" r="0" b="-246060"/>
              </a:stretch>
            </a:blipFill>
          </p:spPr>
        </p:sp>
        <p:sp>
          <p:nvSpPr>
            <p:cNvPr name="TextBox 10" id="10"/>
            <p:cNvSpPr txBox="true"/>
            <p:nvPr/>
          </p:nvSpPr>
          <p:spPr>
            <a:xfrm>
              <a:off x="0" y="9525"/>
              <a:ext cx="9674352" cy="609178"/>
            </a:xfrm>
            <a:prstGeom prst="rect">
              <a:avLst/>
            </a:prstGeom>
          </p:spPr>
          <p:txBody>
            <a:bodyPr anchor="ctr" rtlCol="false" tIns="0" lIns="0" bIns="0" rIns="0"/>
            <a:lstStyle/>
            <a:p>
              <a:pPr algn="l">
                <a:lnSpc>
                  <a:spcPts val="2999"/>
                </a:lnSpc>
              </a:pPr>
              <a:r>
                <a:rPr lang="en-US" sz="2499" b="true">
                  <a:solidFill>
                    <a:srgbClr val="2B3541"/>
                  </a:solidFill>
                  <a:latin typeface="Aptos Bold"/>
                  <a:ea typeface="Aptos Bold"/>
                  <a:cs typeface="Aptos Bold"/>
                  <a:sym typeface="Aptos Bold"/>
                </a:rPr>
                <a:t>Earlier planning process</a:t>
              </a:r>
            </a:p>
          </p:txBody>
        </p:sp>
      </p:grpSp>
      <p:sp>
        <p:nvSpPr>
          <p:cNvPr name="TextBox 11" id="11"/>
          <p:cNvSpPr txBox="true"/>
          <p:nvPr/>
        </p:nvSpPr>
        <p:spPr>
          <a:xfrm rot="0">
            <a:off x="1108714" y="3766647"/>
            <a:ext cx="8015093" cy="3333750"/>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 CRMs used diversification principles and professional judgment.</a:t>
            </a:r>
          </a:p>
          <a:p>
            <a:pPr algn="l">
              <a:lnSpc>
                <a:spcPts val="2639"/>
              </a:lnSpc>
            </a:pPr>
            <a:r>
              <a:rPr lang="en-US" sz="2199">
                <a:solidFill>
                  <a:srgbClr val="2B3541"/>
                </a:solidFill>
                <a:latin typeface="Aptos"/>
                <a:ea typeface="Aptos"/>
                <a:cs typeface="Aptos"/>
                <a:sym typeface="Aptos"/>
              </a:rPr>
              <a:t>• No quantitative models/tools were available for systematic portfolio advice.</a:t>
            </a:r>
          </a:p>
          <a:p>
            <a:pPr algn="l">
              <a:lnSpc>
                <a:spcPts val="2639"/>
              </a:lnSpc>
            </a:pPr>
            <a:r>
              <a:rPr lang="en-US" sz="2199">
                <a:solidFill>
                  <a:srgbClr val="2B3541"/>
                </a:solidFill>
                <a:latin typeface="Aptos"/>
                <a:ea typeface="Aptos"/>
                <a:cs typeface="Aptos"/>
                <a:sym typeface="Aptos"/>
              </a:rPr>
              <a:t>• Portfolio construction depended more heavily on manual CRM judgment.</a:t>
            </a:r>
          </a:p>
          <a:p>
            <a:pPr algn="l">
              <a:lnSpc>
                <a:spcPts val="2639"/>
              </a:lnSpc>
            </a:pPr>
            <a:r>
              <a:rPr lang="en-US" sz="2199">
                <a:solidFill>
                  <a:srgbClr val="2B3541"/>
                </a:solidFill>
                <a:latin typeface="Aptos"/>
                <a:ea typeface="Aptos"/>
                <a:cs typeface="Aptos"/>
                <a:sym typeface="Aptos"/>
              </a:rPr>
              <a:t>• Complex nonlinear optimization could not realistically be performed live for every customer.</a:t>
            </a:r>
          </a:p>
          <a:p>
            <a:pPr algn="l">
              <a:lnSpc>
                <a:spcPts val="2639"/>
              </a:lnSpc>
            </a:pPr>
          </a:p>
          <a:p>
            <a:pPr algn="l">
              <a:lnSpc>
                <a:spcPts val="2639"/>
              </a:lnSpc>
            </a:pPr>
            <a:r>
              <a:rPr lang="en-US" sz="2199">
                <a:solidFill>
                  <a:srgbClr val="2B3541"/>
                </a:solidFill>
                <a:latin typeface="Aptos"/>
                <a:ea typeface="Aptos"/>
                <a:cs typeface="Aptos"/>
                <a:sym typeface="Aptos"/>
              </a:rPr>
              <a:t>The paper does not say the earlier process was “wrong”; the gap was the lack of quantitative and scalable decision support.</a:t>
            </a:r>
          </a:p>
        </p:txBody>
      </p:sp>
      <p:grpSp>
        <p:nvGrpSpPr>
          <p:cNvPr name="Group 12" id="12"/>
          <p:cNvGrpSpPr/>
          <p:nvPr/>
        </p:nvGrpSpPr>
        <p:grpSpPr>
          <a:xfrm rot="0">
            <a:off x="9909810" y="2715839"/>
            <a:ext cx="7631430" cy="4071456"/>
            <a:chOff x="0" y="0"/>
            <a:chExt cx="10175240" cy="5428608"/>
          </a:xfrm>
        </p:grpSpPr>
        <p:sp>
          <p:nvSpPr>
            <p:cNvPr name="Freeform 13" id="13"/>
            <p:cNvSpPr/>
            <p:nvPr/>
          </p:nvSpPr>
          <p:spPr>
            <a:xfrm flipH="false" flipV="false" rot="0">
              <a:off x="0" y="0"/>
              <a:ext cx="10175240" cy="5428609"/>
            </a:xfrm>
            <a:custGeom>
              <a:avLst/>
              <a:gdLst/>
              <a:ahLst/>
              <a:cxnLst/>
              <a:rect r="r" b="b" t="t" l="l"/>
              <a:pathLst>
                <a:path h="5428609" w="10175240">
                  <a:moveTo>
                    <a:pt x="0" y="176014"/>
                  </a:moveTo>
                  <a:cubicBezTo>
                    <a:pt x="0" y="78770"/>
                    <a:pt x="98552" y="0"/>
                    <a:pt x="220218" y="0"/>
                  </a:cubicBezTo>
                  <a:lnTo>
                    <a:pt x="9955022" y="0"/>
                  </a:lnTo>
                  <a:cubicBezTo>
                    <a:pt x="10076688" y="0"/>
                    <a:pt x="10175240" y="78770"/>
                    <a:pt x="10175240" y="176014"/>
                  </a:cubicBezTo>
                  <a:lnTo>
                    <a:pt x="10175240" y="5252595"/>
                  </a:lnTo>
                  <a:cubicBezTo>
                    <a:pt x="10175240" y="5349839"/>
                    <a:pt x="10076688" y="5428609"/>
                    <a:pt x="9955022" y="5428609"/>
                  </a:cubicBezTo>
                  <a:lnTo>
                    <a:pt x="220218" y="5428609"/>
                  </a:lnTo>
                  <a:cubicBezTo>
                    <a:pt x="98552" y="5428608"/>
                    <a:pt x="0" y="5349839"/>
                    <a:pt x="0" y="5252595"/>
                  </a:cubicBezTo>
                  <a:close/>
                </a:path>
              </a:pathLst>
            </a:custGeom>
            <a:solidFill>
              <a:srgbClr val="E3F0EE"/>
            </a:solidFill>
            <a:ln w="19050" cap="sq">
              <a:solidFill>
                <a:srgbClr val="D5D0C5"/>
              </a:solidFill>
              <a:prstDash val="solid"/>
              <a:miter/>
            </a:ln>
          </p:spPr>
        </p:sp>
      </p:grpSp>
      <p:grpSp>
        <p:nvGrpSpPr>
          <p:cNvPr name="Group 14" id="14"/>
          <p:cNvGrpSpPr/>
          <p:nvPr/>
        </p:nvGrpSpPr>
        <p:grpSpPr>
          <a:xfrm rot="0">
            <a:off x="10140696" y="2979993"/>
            <a:ext cx="7118604" cy="464027"/>
            <a:chOff x="0" y="0"/>
            <a:chExt cx="9491472" cy="618703"/>
          </a:xfrm>
        </p:grpSpPr>
        <p:sp>
          <p:nvSpPr>
            <p:cNvPr name="Freeform 15" id="15"/>
            <p:cNvSpPr/>
            <p:nvPr/>
          </p:nvSpPr>
          <p:spPr>
            <a:xfrm flipH="false" flipV="false" rot="0">
              <a:off x="0" y="0"/>
              <a:ext cx="9491472" cy="618703"/>
            </a:xfrm>
            <a:custGeom>
              <a:avLst/>
              <a:gdLst/>
              <a:ahLst/>
              <a:cxnLst/>
              <a:rect r="r" b="b" t="t" l="l"/>
              <a:pathLst>
                <a:path h="618703" w="9491472">
                  <a:moveTo>
                    <a:pt x="0" y="0"/>
                  </a:moveTo>
                  <a:lnTo>
                    <a:pt x="9491472" y="0"/>
                  </a:lnTo>
                  <a:lnTo>
                    <a:pt x="9491472" y="618703"/>
                  </a:lnTo>
                  <a:lnTo>
                    <a:pt x="0" y="618703"/>
                  </a:lnTo>
                  <a:close/>
                </a:path>
              </a:pathLst>
            </a:custGeom>
            <a:blipFill>
              <a:blip r:embed="rId3">
                <a:alphaModFix amt="0"/>
              </a:blip>
              <a:stretch>
                <a:fillRect l="0" t="-257536" r="0" b="-240300"/>
              </a:stretch>
            </a:blipFill>
          </p:spPr>
        </p:sp>
        <p:sp>
          <p:nvSpPr>
            <p:cNvPr name="TextBox 16" id="16"/>
            <p:cNvSpPr txBox="true"/>
            <p:nvPr/>
          </p:nvSpPr>
          <p:spPr>
            <a:xfrm>
              <a:off x="0" y="9525"/>
              <a:ext cx="9491472" cy="609178"/>
            </a:xfrm>
            <a:prstGeom prst="rect">
              <a:avLst/>
            </a:prstGeom>
          </p:spPr>
          <p:txBody>
            <a:bodyPr anchor="ctr" rtlCol="false" tIns="0" lIns="0" bIns="0" rIns="0"/>
            <a:lstStyle/>
            <a:p>
              <a:pPr algn="l">
                <a:lnSpc>
                  <a:spcPts val="2999"/>
                </a:lnSpc>
              </a:pPr>
              <a:r>
                <a:rPr lang="en-US" sz="2499" b="true">
                  <a:solidFill>
                    <a:srgbClr val="2B3541"/>
                  </a:solidFill>
                  <a:latin typeface="Aptos Bold"/>
                  <a:ea typeface="Aptos Bold"/>
                  <a:cs typeface="Aptos Bold"/>
                  <a:sym typeface="Aptos Bold"/>
                </a:rPr>
                <a:t>After Opti-Money</a:t>
              </a:r>
            </a:p>
          </p:txBody>
        </p:sp>
      </p:grpSp>
      <p:sp>
        <p:nvSpPr>
          <p:cNvPr name="TextBox 17" id="17"/>
          <p:cNvSpPr txBox="true"/>
          <p:nvPr/>
        </p:nvSpPr>
        <p:spPr>
          <a:xfrm rot="0">
            <a:off x="10140696" y="3767870"/>
            <a:ext cx="7118604" cy="2667000"/>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 Tailor-made asset allocation based on explicit customer inputs.</a:t>
            </a:r>
          </a:p>
          <a:p>
            <a:pPr algn="l">
              <a:lnSpc>
                <a:spcPts val="2639"/>
              </a:lnSpc>
            </a:pPr>
            <a:r>
              <a:rPr lang="en-US" sz="2199">
                <a:solidFill>
                  <a:srgbClr val="2B3541"/>
                </a:solidFill>
                <a:latin typeface="Aptos"/>
                <a:ea typeface="Aptos"/>
                <a:cs typeface="Aptos"/>
                <a:sym typeface="Aptos"/>
              </a:rPr>
              <a:t>• Instant portfolio retrieval through centralized precomputation.</a:t>
            </a:r>
          </a:p>
          <a:p>
            <a:pPr algn="l">
              <a:lnSpc>
                <a:spcPts val="2639"/>
              </a:lnSpc>
            </a:pPr>
            <a:r>
              <a:rPr lang="en-US" sz="2199">
                <a:solidFill>
                  <a:srgbClr val="2B3541"/>
                </a:solidFill>
                <a:latin typeface="Aptos"/>
                <a:ea typeface="Aptos"/>
                <a:cs typeface="Aptos"/>
                <a:sym typeface="Aptos"/>
              </a:rPr>
              <a:t>• Consistent treatment of risk and benchmarks across thousands of profiles.</a:t>
            </a:r>
          </a:p>
          <a:p>
            <a:pPr algn="l">
              <a:lnSpc>
                <a:spcPts val="2639"/>
              </a:lnSpc>
            </a:pPr>
            <a:r>
              <a:rPr lang="en-US" sz="2199">
                <a:solidFill>
                  <a:srgbClr val="2B3541"/>
                </a:solidFill>
                <a:latin typeface="Aptos"/>
                <a:ea typeface="Aptos"/>
                <a:cs typeface="Aptos"/>
                <a:sym typeface="Aptos"/>
              </a:rPr>
              <a:t>• Quantified performance and profitability measures.</a:t>
            </a:r>
          </a:p>
          <a:p>
            <a:pPr algn="l">
              <a:lnSpc>
                <a:spcPts val="2639"/>
              </a:lnSpc>
            </a:pPr>
            <a:r>
              <a:rPr lang="en-US" sz="2199">
                <a:solidFill>
                  <a:srgbClr val="2B3541"/>
                </a:solidFill>
                <a:latin typeface="Aptos"/>
                <a:ea typeface="Aptos"/>
                <a:cs typeface="Aptos"/>
                <a:sym typeface="Aptos"/>
              </a:rPr>
              <a:t>• Human CRM judgment remained in the loop.</a:t>
            </a:r>
          </a:p>
        </p:txBody>
      </p:sp>
      <p:grpSp>
        <p:nvGrpSpPr>
          <p:cNvPr name="Group 18" id="18"/>
          <p:cNvGrpSpPr/>
          <p:nvPr/>
        </p:nvGrpSpPr>
        <p:grpSpPr>
          <a:xfrm rot="0">
            <a:off x="859917" y="7535116"/>
            <a:ext cx="6583680" cy="450800"/>
            <a:chOff x="0" y="0"/>
            <a:chExt cx="8778240" cy="601067"/>
          </a:xfrm>
        </p:grpSpPr>
        <p:sp>
          <p:nvSpPr>
            <p:cNvPr name="Freeform 19" id="19"/>
            <p:cNvSpPr/>
            <p:nvPr/>
          </p:nvSpPr>
          <p:spPr>
            <a:xfrm flipH="false" flipV="false" rot="0">
              <a:off x="0" y="0"/>
              <a:ext cx="8778240" cy="601067"/>
            </a:xfrm>
            <a:custGeom>
              <a:avLst/>
              <a:gdLst/>
              <a:ahLst/>
              <a:cxnLst/>
              <a:rect r="r" b="b" t="t" l="l"/>
              <a:pathLst>
                <a:path h="601067" w="8778240">
                  <a:moveTo>
                    <a:pt x="0" y="0"/>
                  </a:moveTo>
                  <a:lnTo>
                    <a:pt x="8778240" y="0"/>
                  </a:lnTo>
                  <a:lnTo>
                    <a:pt x="8778240" y="601067"/>
                  </a:lnTo>
                  <a:lnTo>
                    <a:pt x="0" y="601067"/>
                  </a:lnTo>
                  <a:close/>
                </a:path>
              </a:pathLst>
            </a:custGeom>
            <a:blipFill>
              <a:blip r:embed="rId3">
                <a:alphaModFix amt="0"/>
              </a:blip>
              <a:stretch>
                <a:fillRect l="0" t="-238929" r="0" b="-230206"/>
              </a:stretch>
            </a:blipFill>
          </p:spPr>
        </p:sp>
        <p:sp>
          <p:nvSpPr>
            <p:cNvPr name="TextBox 20" id="20"/>
            <p:cNvSpPr txBox="true"/>
            <p:nvPr/>
          </p:nvSpPr>
          <p:spPr>
            <a:xfrm>
              <a:off x="0" y="0"/>
              <a:ext cx="8778240" cy="601067"/>
            </a:xfrm>
            <a:prstGeom prst="rect">
              <a:avLst/>
            </a:prstGeom>
          </p:spPr>
          <p:txBody>
            <a:bodyPr anchor="ctr" rtlCol="false" tIns="0" lIns="0" bIns="0" rIns="0"/>
            <a:lstStyle/>
            <a:p>
              <a:pPr algn="l">
                <a:lnSpc>
                  <a:spcPts val="2879"/>
                </a:lnSpc>
              </a:pPr>
              <a:r>
                <a:rPr lang="en-US" sz="2399" b="true">
                  <a:solidFill>
                    <a:srgbClr val="2B3541"/>
                  </a:solidFill>
                  <a:latin typeface="Aptos Bold"/>
                  <a:ea typeface="Aptos Bold"/>
                  <a:cs typeface="Aptos Bold"/>
                  <a:sym typeface="Aptos Bold"/>
                </a:rPr>
                <a:t>Measured impact in the 2002 case analysis</a:t>
              </a:r>
            </a:p>
          </p:txBody>
        </p:sp>
      </p:grpSp>
      <p:grpSp>
        <p:nvGrpSpPr>
          <p:cNvPr name="Group 21" id="21"/>
          <p:cNvGrpSpPr/>
          <p:nvPr/>
        </p:nvGrpSpPr>
        <p:grpSpPr>
          <a:xfrm rot="0">
            <a:off x="10547359" y="7549295"/>
            <a:ext cx="3223260" cy="795528"/>
            <a:chOff x="0" y="0"/>
            <a:chExt cx="4297680" cy="1060704"/>
          </a:xfrm>
        </p:grpSpPr>
        <p:sp>
          <p:nvSpPr>
            <p:cNvPr name="Freeform 22" id="22"/>
            <p:cNvSpPr/>
            <p:nvPr/>
          </p:nvSpPr>
          <p:spPr>
            <a:xfrm flipH="false" flipV="false" rot="0">
              <a:off x="0" y="0"/>
              <a:ext cx="4297680" cy="1060704"/>
            </a:xfrm>
            <a:custGeom>
              <a:avLst/>
              <a:gdLst/>
              <a:ahLst/>
              <a:cxnLst/>
              <a:rect r="r" b="b" t="t" l="l"/>
              <a:pathLst>
                <a:path h="1060704" w="4297680">
                  <a:moveTo>
                    <a:pt x="0" y="0"/>
                  </a:moveTo>
                  <a:lnTo>
                    <a:pt x="4297680" y="0"/>
                  </a:lnTo>
                  <a:lnTo>
                    <a:pt x="4297680" y="1060704"/>
                  </a:lnTo>
                  <a:lnTo>
                    <a:pt x="0" y="1060704"/>
                  </a:lnTo>
                  <a:close/>
                </a:path>
              </a:pathLst>
            </a:custGeom>
            <a:blipFill>
              <a:blip r:embed="rId3">
                <a:alphaModFix amt="0"/>
              </a:blip>
              <a:stretch>
                <a:fillRect l="0" t="-28947" r="0" b="-28947"/>
              </a:stretch>
            </a:blipFill>
          </p:spPr>
        </p:sp>
        <p:sp>
          <p:nvSpPr>
            <p:cNvPr name="TextBox 23" id="23"/>
            <p:cNvSpPr txBox="true"/>
            <p:nvPr/>
          </p:nvSpPr>
          <p:spPr>
            <a:xfrm>
              <a:off x="0" y="0"/>
              <a:ext cx="4297680" cy="1060704"/>
            </a:xfrm>
            <a:prstGeom prst="rect">
              <a:avLst/>
            </a:prstGeom>
          </p:spPr>
          <p:txBody>
            <a:bodyPr anchor="ctr" rtlCol="false" tIns="0" lIns="0" bIns="0" rIns="0"/>
            <a:lstStyle/>
            <a:p>
              <a:pPr algn="ctr">
                <a:lnSpc>
                  <a:spcPts val="5220"/>
                </a:lnSpc>
              </a:pPr>
              <a:r>
                <a:rPr lang="en-US" sz="4350">
                  <a:solidFill>
                    <a:srgbClr val="2B3541"/>
                  </a:solidFill>
                  <a:latin typeface="Aptos"/>
                  <a:ea typeface="Aptos"/>
                  <a:cs typeface="Aptos"/>
                  <a:sym typeface="Aptos"/>
                </a:rPr>
                <a:t>$31.7M</a:t>
              </a:r>
            </a:p>
          </p:txBody>
        </p:sp>
      </p:grpSp>
      <p:grpSp>
        <p:nvGrpSpPr>
          <p:cNvPr name="Group 24" id="24"/>
          <p:cNvGrpSpPr/>
          <p:nvPr/>
        </p:nvGrpSpPr>
        <p:grpSpPr>
          <a:xfrm rot="0">
            <a:off x="10547359" y="8285321"/>
            <a:ext cx="3223260" cy="384048"/>
            <a:chOff x="0" y="0"/>
            <a:chExt cx="4297680" cy="512064"/>
          </a:xfrm>
        </p:grpSpPr>
        <p:sp>
          <p:nvSpPr>
            <p:cNvPr name="Freeform 25" id="25"/>
            <p:cNvSpPr/>
            <p:nvPr/>
          </p:nvSpPr>
          <p:spPr>
            <a:xfrm flipH="false" flipV="false" rot="0">
              <a:off x="0" y="0"/>
              <a:ext cx="4297680" cy="512064"/>
            </a:xfrm>
            <a:custGeom>
              <a:avLst/>
              <a:gdLst/>
              <a:ahLst/>
              <a:cxnLst/>
              <a:rect r="r" b="b" t="t" l="l"/>
              <a:pathLst>
                <a:path h="512064" w="4297680">
                  <a:moveTo>
                    <a:pt x="0" y="0"/>
                  </a:moveTo>
                  <a:lnTo>
                    <a:pt x="4297680" y="0"/>
                  </a:lnTo>
                  <a:lnTo>
                    <a:pt x="4297680" y="512064"/>
                  </a:lnTo>
                  <a:lnTo>
                    <a:pt x="0" y="512064"/>
                  </a:lnTo>
                  <a:close/>
                </a:path>
              </a:pathLst>
            </a:custGeom>
            <a:blipFill>
              <a:blip r:embed="rId3">
                <a:alphaModFix amt="0"/>
              </a:blip>
              <a:stretch>
                <a:fillRect l="0" t="-113535" r="0" b="-113535"/>
              </a:stretch>
            </a:blipFill>
          </p:spPr>
        </p:sp>
        <p:sp>
          <p:nvSpPr>
            <p:cNvPr name="TextBox 26" id="26"/>
            <p:cNvSpPr txBox="true"/>
            <p:nvPr/>
          </p:nvSpPr>
          <p:spPr>
            <a:xfrm>
              <a:off x="0" y="9525"/>
              <a:ext cx="4297680" cy="502539"/>
            </a:xfrm>
            <a:prstGeom prst="rect">
              <a:avLst/>
            </a:prstGeom>
          </p:spPr>
          <p:txBody>
            <a:bodyPr anchor="ctr" rtlCol="false" tIns="0" lIns="0" bIns="0" rIns="0"/>
            <a:lstStyle/>
            <a:p>
              <a:pPr algn="ctr">
                <a:lnSpc>
                  <a:spcPts val="2195"/>
                </a:lnSpc>
              </a:pPr>
              <a:r>
                <a:rPr lang="en-US" sz="1829">
                  <a:solidFill>
                    <a:srgbClr val="2B3541"/>
                  </a:solidFill>
                  <a:latin typeface="Aptos"/>
                  <a:ea typeface="Aptos"/>
                  <a:cs typeface="Aptos"/>
                  <a:sym typeface="Aptos"/>
                </a:rPr>
                <a:t>Bank profit contribution</a:t>
              </a:r>
            </a:p>
          </p:txBody>
        </p:sp>
      </p:grpSp>
      <p:grpSp>
        <p:nvGrpSpPr>
          <p:cNvPr name="Group 27" id="27"/>
          <p:cNvGrpSpPr/>
          <p:nvPr/>
        </p:nvGrpSpPr>
        <p:grpSpPr>
          <a:xfrm rot="0">
            <a:off x="10547359" y="8669369"/>
            <a:ext cx="3223260" cy="480060"/>
            <a:chOff x="0" y="0"/>
            <a:chExt cx="4297680" cy="640080"/>
          </a:xfrm>
        </p:grpSpPr>
        <p:sp>
          <p:nvSpPr>
            <p:cNvPr name="Freeform 28" id="28"/>
            <p:cNvSpPr/>
            <p:nvPr/>
          </p:nvSpPr>
          <p:spPr>
            <a:xfrm flipH="false" flipV="false" rot="0">
              <a:off x="0" y="0"/>
              <a:ext cx="4297680" cy="640080"/>
            </a:xfrm>
            <a:custGeom>
              <a:avLst/>
              <a:gdLst/>
              <a:ahLst/>
              <a:cxnLst/>
              <a:rect r="r" b="b" t="t" l="l"/>
              <a:pathLst>
                <a:path h="640080" w="4297680">
                  <a:moveTo>
                    <a:pt x="0" y="0"/>
                  </a:moveTo>
                  <a:lnTo>
                    <a:pt x="4297680" y="0"/>
                  </a:lnTo>
                  <a:lnTo>
                    <a:pt x="4297680" y="640080"/>
                  </a:lnTo>
                  <a:lnTo>
                    <a:pt x="0" y="640080"/>
                  </a:lnTo>
                  <a:close/>
                </a:path>
              </a:pathLst>
            </a:custGeom>
            <a:blipFill>
              <a:blip r:embed="rId3">
                <a:alphaModFix amt="0"/>
              </a:blip>
              <a:stretch>
                <a:fillRect l="0" t="-80828" r="0" b="-80828"/>
              </a:stretch>
            </a:blipFill>
          </p:spPr>
        </p:sp>
        <p:sp>
          <p:nvSpPr>
            <p:cNvPr name="TextBox 29" id="29"/>
            <p:cNvSpPr txBox="true"/>
            <p:nvPr/>
          </p:nvSpPr>
          <p:spPr>
            <a:xfrm>
              <a:off x="0" y="0"/>
              <a:ext cx="4297680" cy="640080"/>
            </a:xfrm>
            <a:prstGeom prst="rect">
              <a:avLst/>
            </a:prstGeom>
          </p:spPr>
          <p:txBody>
            <a:bodyPr anchor="ctr" rtlCol="false" tIns="0" lIns="0" bIns="0" rIns="0"/>
            <a:lstStyle/>
            <a:p>
              <a:pPr algn="ctr">
                <a:lnSpc>
                  <a:spcPts val="1800"/>
                </a:lnSpc>
              </a:pPr>
              <a:r>
                <a:rPr lang="en-US" sz="1500">
                  <a:solidFill>
                    <a:srgbClr val="2B3541"/>
                  </a:solidFill>
                  <a:latin typeface="Aptos"/>
                  <a:ea typeface="Aptos"/>
                  <a:cs typeface="Aptos"/>
                  <a:sym typeface="Aptos"/>
                </a:rPr>
                <a:t>Estimated annual contribution in 2002</a:t>
              </a:r>
            </a:p>
          </p:txBody>
        </p:sp>
      </p:grpSp>
      <p:grpSp>
        <p:nvGrpSpPr>
          <p:cNvPr name="Group 30" id="30"/>
          <p:cNvGrpSpPr/>
          <p:nvPr/>
        </p:nvGrpSpPr>
        <p:grpSpPr>
          <a:xfrm rot="0">
            <a:off x="14093190" y="7549295"/>
            <a:ext cx="3223260" cy="795528"/>
            <a:chOff x="0" y="0"/>
            <a:chExt cx="4297680" cy="1060704"/>
          </a:xfrm>
        </p:grpSpPr>
        <p:sp>
          <p:nvSpPr>
            <p:cNvPr name="Freeform 31" id="31"/>
            <p:cNvSpPr/>
            <p:nvPr/>
          </p:nvSpPr>
          <p:spPr>
            <a:xfrm flipH="false" flipV="false" rot="0">
              <a:off x="0" y="0"/>
              <a:ext cx="4297680" cy="1060704"/>
            </a:xfrm>
            <a:custGeom>
              <a:avLst/>
              <a:gdLst/>
              <a:ahLst/>
              <a:cxnLst/>
              <a:rect r="r" b="b" t="t" l="l"/>
              <a:pathLst>
                <a:path h="1060704" w="4297680">
                  <a:moveTo>
                    <a:pt x="0" y="0"/>
                  </a:moveTo>
                  <a:lnTo>
                    <a:pt x="4297680" y="0"/>
                  </a:lnTo>
                  <a:lnTo>
                    <a:pt x="4297680" y="1060704"/>
                  </a:lnTo>
                  <a:lnTo>
                    <a:pt x="0" y="1060704"/>
                  </a:lnTo>
                  <a:close/>
                </a:path>
              </a:pathLst>
            </a:custGeom>
            <a:blipFill>
              <a:blip r:embed="rId3">
                <a:alphaModFix amt="0"/>
              </a:blip>
              <a:stretch>
                <a:fillRect l="0" t="-28947" r="0" b="-28947"/>
              </a:stretch>
            </a:blipFill>
          </p:spPr>
        </p:sp>
        <p:sp>
          <p:nvSpPr>
            <p:cNvPr name="TextBox 32" id="32"/>
            <p:cNvSpPr txBox="true"/>
            <p:nvPr/>
          </p:nvSpPr>
          <p:spPr>
            <a:xfrm>
              <a:off x="0" y="0"/>
              <a:ext cx="4297680" cy="1060704"/>
            </a:xfrm>
            <a:prstGeom prst="rect">
              <a:avLst/>
            </a:prstGeom>
          </p:spPr>
          <p:txBody>
            <a:bodyPr anchor="ctr" rtlCol="false" tIns="0" lIns="0" bIns="0" rIns="0"/>
            <a:lstStyle/>
            <a:p>
              <a:pPr algn="ctr">
                <a:lnSpc>
                  <a:spcPts val="5220"/>
                </a:lnSpc>
              </a:pPr>
              <a:r>
                <a:rPr lang="en-US" sz="4350">
                  <a:solidFill>
                    <a:srgbClr val="2B3541"/>
                  </a:solidFill>
                  <a:latin typeface="Aptos"/>
                  <a:ea typeface="Aptos"/>
                  <a:cs typeface="Aptos"/>
                  <a:sym typeface="Aptos"/>
                </a:rPr>
                <a:t>$244.2M</a:t>
              </a:r>
            </a:p>
          </p:txBody>
        </p:sp>
      </p:grpSp>
      <p:grpSp>
        <p:nvGrpSpPr>
          <p:cNvPr name="Group 33" id="33"/>
          <p:cNvGrpSpPr/>
          <p:nvPr/>
        </p:nvGrpSpPr>
        <p:grpSpPr>
          <a:xfrm rot="0">
            <a:off x="14093190" y="8317391"/>
            <a:ext cx="3223260" cy="384048"/>
            <a:chOff x="0" y="0"/>
            <a:chExt cx="4297680" cy="512064"/>
          </a:xfrm>
        </p:grpSpPr>
        <p:sp>
          <p:nvSpPr>
            <p:cNvPr name="Freeform 34" id="34"/>
            <p:cNvSpPr/>
            <p:nvPr/>
          </p:nvSpPr>
          <p:spPr>
            <a:xfrm flipH="false" flipV="false" rot="0">
              <a:off x="0" y="0"/>
              <a:ext cx="4297680" cy="512064"/>
            </a:xfrm>
            <a:custGeom>
              <a:avLst/>
              <a:gdLst/>
              <a:ahLst/>
              <a:cxnLst/>
              <a:rect r="r" b="b" t="t" l="l"/>
              <a:pathLst>
                <a:path h="512064" w="4297680">
                  <a:moveTo>
                    <a:pt x="0" y="0"/>
                  </a:moveTo>
                  <a:lnTo>
                    <a:pt x="4297680" y="0"/>
                  </a:lnTo>
                  <a:lnTo>
                    <a:pt x="4297680" y="512064"/>
                  </a:lnTo>
                  <a:lnTo>
                    <a:pt x="0" y="512064"/>
                  </a:lnTo>
                  <a:close/>
                </a:path>
              </a:pathLst>
            </a:custGeom>
            <a:blipFill>
              <a:blip r:embed="rId3">
                <a:alphaModFix amt="0"/>
              </a:blip>
              <a:stretch>
                <a:fillRect l="0" t="-113535" r="0" b="-113535"/>
              </a:stretch>
            </a:blipFill>
          </p:spPr>
        </p:sp>
        <p:sp>
          <p:nvSpPr>
            <p:cNvPr name="TextBox 35" id="35"/>
            <p:cNvSpPr txBox="true"/>
            <p:nvPr/>
          </p:nvSpPr>
          <p:spPr>
            <a:xfrm>
              <a:off x="0" y="9525"/>
              <a:ext cx="4297680" cy="502539"/>
            </a:xfrm>
            <a:prstGeom prst="rect">
              <a:avLst/>
            </a:prstGeom>
          </p:spPr>
          <p:txBody>
            <a:bodyPr anchor="ctr" rtlCol="false" tIns="0" lIns="0" bIns="0" rIns="0"/>
            <a:lstStyle/>
            <a:p>
              <a:pPr algn="ctr">
                <a:lnSpc>
                  <a:spcPts val="2195"/>
                </a:lnSpc>
              </a:pPr>
              <a:r>
                <a:rPr lang="en-US" sz="1829">
                  <a:solidFill>
                    <a:srgbClr val="2B3541"/>
                  </a:solidFill>
                  <a:latin typeface="Aptos"/>
                  <a:ea typeface="Aptos"/>
                  <a:cs typeface="Aptos"/>
                  <a:sym typeface="Aptos"/>
                </a:rPr>
                <a:t>Customer earnings</a:t>
              </a:r>
            </a:p>
          </p:txBody>
        </p:sp>
      </p:grpSp>
      <p:grpSp>
        <p:nvGrpSpPr>
          <p:cNvPr name="Group 36" id="36"/>
          <p:cNvGrpSpPr/>
          <p:nvPr/>
        </p:nvGrpSpPr>
        <p:grpSpPr>
          <a:xfrm rot="0">
            <a:off x="14093190" y="8669369"/>
            <a:ext cx="3223260" cy="512731"/>
            <a:chOff x="0" y="0"/>
            <a:chExt cx="4297680" cy="683642"/>
          </a:xfrm>
        </p:grpSpPr>
        <p:sp>
          <p:nvSpPr>
            <p:cNvPr name="Freeform 37" id="37"/>
            <p:cNvSpPr/>
            <p:nvPr/>
          </p:nvSpPr>
          <p:spPr>
            <a:xfrm flipH="false" flipV="false" rot="0">
              <a:off x="0" y="0"/>
              <a:ext cx="4297680" cy="683642"/>
            </a:xfrm>
            <a:custGeom>
              <a:avLst/>
              <a:gdLst/>
              <a:ahLst/>
              <a:cxnLst/>
              <a:rect r="r" b="b" t="t" l="l"/>
              <a:pathLst>
                <a:path h="683642" w="4297680">
                  <a:moveTo>
                    <a:pt x="0" y="0"/>
                  </a:moveTo>
                  <a:lnTo>
                    <a:pt x="4297680" y="0"/>
                  </a:lnTo>
                  <a:lnTo>
                    <a:pt x="4297680" y="683642"/>
                  </a:lnTo>
                  <a:lnTo>
                    <a:pt x="0" y="683642"/>
                  </a:lnTo>
                  <a:close/>
                </a:path>
              </a:pathLst>
            </a:custGeom>
            <a:blipFill>
              <a:blip r:embed="rId3">
                <a:alphaModFix amt="0"/>
              </a:blip>
              <a:stretch>
                <a:fillRect l="0" t="-75677" r="0" b="-69305"/>
              </a:stretch>
            </a:blipFill>
          </p:spPr>
        </p:sp>
        <p:sp>
          <p:nvSpPr>
            <p:cNvPr name="TextBox 38" id="38"/>
            <p:cNvSpPr txBox="true"/>
            <p:nvPr/>
          </p:nvSpPr>
          <p:spPr>
            <a:xfrm>
              <a:off x="0" y="0"/>
              <a:ext cx="4297680" cy="683642"/>
            </a:xfrm>
            <a:prstGeom prst="rect">
              <a:avLst/>
            </a:prstGeom>
          </p:spPr>
          <p:txBody>
            <a:bodyPr anchor="ctr" rtlCol="false" tIns="0" lIns="0" bIns="0" rIns="0"/>
            <a:lstStyle/>
            <a:p>
              <a:pPr algn="ctr">
                <a:lnSpc>
                  <a:spcPts val="1800"/>
                </a:lnSpc>
              </a:pPr>
              <a:r>
                <a:rPr lang="en-US" sz="1500">
                  <a:solidFill>
                    <a:srgbClr val="2B3541"/>
                  </a:solidFill>
                  <a:latin typeface="Aptos"/>
                  <a:ea typeface="Aptos"/>
                  <a:cs typeface="Aptos"/>
                  <a:sym typeface="Aptos"/>
                </a:rPr>
                <a:t>Estimated annual earnings above benchmarks</a:t>
              </a:r>
            </a:p>
          </p:txBody>
        </p:sp>
      </p:grpSp>
      <p:grpSp>
        <p:nvGrpSpPr>
          <p:cNvPr name="Group 39" id="39"/>
          <p:cNvGrpSpPr/>
          <p:nvPr/>
        </p:nvGrpSpPr>
        <p:grpSpPr>
          <a:xfrm rot="0">
            <a:off x="842776" y="8068910"/>
            <a:ext cx="8861972" cy="1489606"/>
            <a:chOff x="0" y="0"/>
            <a:chExt cx="11007345" cy="1850221"/>
          </a:xfrm>
        </p:grpSpPr>
        <p:sp>
          <p:nvSpPr>
            <p:cNvPr name="Freeform 40" id="40"/>
            <p:cNvSpPr/>
            <p:nvPr/>
          </p:nvSpPr>
          <p:spPr>
            <a:xfrm flipH="false" flipV="false" rot="0">
              <a:off x="0" y="0"/>
              <a:ext cx="11007345" cy="1850221"/>
            </a:xfrm>
            <a:custGeom>
              <a:avLst/>
              <a:gdLst/>
              <a:ahLst/>
              <a:cxnLst/>
              <a:rect r="r" b="b" t="t" l="l"/>
              <a:pathLst>
                <a:path h="1850221" w="11007345">
                  <a:moveTo>
                    <a:pt x="0" y="389486"/>
                  </a:moveTo>
                  <a:cubicBezTo>
                    <a:pt x="0" y="174518"/>
                    <a:pt x="95911" y="0"/>
                    <a:pt x="214052" y="0"/>
                  </a:cubicBezTo>
                  <a:lnTo>
                    <a:pt x="10793294" y="0"/>
                  </a:lnTo>
                  <a:cubicBezTo>
                    <a:pt x="10911435" y="0"/>
                    <a:pt x="11007345" y="174518"/>
                    <a:pt x="11007345" y="389486"/>
                  </a:cubicBezTo>
                  <a:lnTo>
                    <a:pt x="11007345" y="1460735"/>
                  </a:lnTo>
                  <a:cubicBezTo>
                    <a:pt x="11007345" y="1675703"/>
                    <a:pt x="10911435" y="1850221"/>
                    <a:pt x="10793294" y="1850221"/>
                  </a:cubicBezTo>
                  <a:lnTo>
                    <a:pt x="214052" y="1850221"/>
                  </a:lnTo>
                  <a:cubicBezTo>
                    <a:pt x="95911" y="1850221"/>
                    <a:pt x="0" y="1675703"/>
                    <a:pt x="0" y="1460735"/>
                  </a:cubicBezTo>
                  <a:close/>
                </a:path>
              </a:pathLst>
            </a:custGeom>
            <a:solidFill>
              <a:srgbClr val="B7D9F4"/>
            </a:solidFill>
            <a:ln w="19050" cap="sq">
              <a:solidFill>
                <a:srgbClr val="B7D9F4"/>
              </a:solidFill>
              <a:prstDash val="solid"/>
              <a:miter/>
            </a:ln>
          </p:spPr>
        </p:sp>
      </p:grpSp>
      <p:grpSp>
        <p:nvGrpSpPr>
          <p:cNvPr name="Group 41" id="41"/>
          <p:cNvGrpSpPr/>
          <p:nvPr/>
        </p:nvGrpSpPr>
        <p:grpSpPr>
          <a:xfrm rot="0">
            <a:off x="1095375" y="8202260"/>
            <a:ext cx="7857420" cy="1255142"/>
            <a:chOff x="0" y="0"/>
            <a:chExt cx="8855747" cy="1414614"/>
          </a:xfrm>
        </p:grpSpPr>
        <p:sp>
          <p:nvSpPr>
            <p:cNvPr name="Freeform 42" id="42"/>
            <p:cNvSpPr/>
            <p:nvPr/>
          </p:nvSpPr>
          <p:spPr>
            <a:xfrm flipH="false" flipV="false" rot="0">
              <a:off x="0" y="0"/>
              <a:ext cx="8855747" cy="1414614"/>
            </a:xfrm>
            <a:custGeom>
              <a:avLst/>
              <a:gdLst/>
              <a:ahLst/>
              <a:cxnLst/>
              <a:rect r="r" b="b" t="t" l="l"/>
              <a:pathLst>
                <a:path h="1414614" w="8855747">
                  <a:moveTo>
                    <a:pt x="0" y="0"/>
                  </a:moveTo>
                  <a:lnTo>
                    <a:pt x="8855747" y="0"/>
                  </a:lnTo>
                  <a:lnTo>
                    <a:pt x="8855747" y="1414614"/>
                  </a:lnTo>
                  <a:lnTo>
                    <a:pt x="0" y="1414614"/>
                  </a:lnTo>
                  <a:close/>
                </a:path>
              </a:pathLst>
            </a:custGeom>
            <a:blipFill>
              <a:blip r:embed="rId3">
                <a:alphaModFix amt="0"/>
              </a:blip>
              <a:stretch>
                <a:fillRect l="0" t="-83331" r="22145" b="-6601"/>
              </a:stretch>
            </a:blipFill>
          </p:spPr>
        </p:sp>
        <p:sp>
          <p:nvSpPr>
            <p:cNvPr name="TextBox 43" id="43"/>
            <p:cNvSpPr txBox="true"/>
            <p:nvPr/>
          </p:nvSpPr>
          <p:spPr>
            <a:xfrm>
              <a:off x="0" y="0"/>
              <a:ext cx="8855747" cy="1414614"/>
            </a:xfrm>
            <a:prstGeom prst="rect">
              <a:avLst/>
            </a:prstGeom>
          </p:spPr>
          <p:txBody>
            <a:bodyPr anchor="ctr" rtlCol="false" tIns="0" lIns="0" bIns="0" rIns="0"/>
            <a:lstStyle/>
            <a:p>
              <a:pPr algn="l">
                <a:lnSpc>
                  <a:spcPts val="2399"/>
                </a:lnSpc>
              </a:pPr>
              <a:r>
                <a:rPr lang="en-US" sz="1999">
                  <a:solidFill>
                    <a:srgbClr val="2B3541"/>
                  </a:solidFill>
                  <a:latin typeface="Aptos"/>
                  <a:ea typeface="Aptos"/>
                  <a:cs typeface="Aptos"/>
                  <a:sym typeface="Aptos"/>
                </a:rPr>
                <a:t>Scale: 63,225 customers used Opti-Money in 2002 across 133,393 consultation occasions. The average monthly profit/account for private-banking customers using Opti-Money was 422.0 shekels versus 224.2 without it.</a:t>
              </a:r>
            </a:p>
          </p:txBody>
        </p:sp>
      </p:grpSp>
      <p:grpSp>
        <p:nvGrpSpPr>
          <p:cNvPr name="Group 44" id="44"/>
          <p:cNvGrpSpPr/>
          <p:nvPr/>
        </p:nvGrpSpPr>
        <p:grpSpPr>
          <a:xfrm rot="0">
            <a:off x="842776" y="227768"/>
            <a:ext cx="4210085" cy="688537"/>
            <a:chOff x="0" y="0"/>
            <a:chExt cx="5180580" cy="847257"/>
          </a:xfrm>
        </p:grpSpPr>
        <p:sp>
          <p:nvSpPr>
            <p:cNvPr name="Freeform 45" id="45"/>
            <p:cNvSpPr/>
            <p:nvPr/>
          </p:nvSpPr>
          <p:spPr>
            <a:xfrm flipH="false" flipV="false" rot="0">
              <a:off x="0" y="0"/>
              <a:ext cx="5180432" cy="847257"/>
            </a:xfrm>
            <a:custGeom>
              <a:avLst/>
              <a:gdLst/>
              <a:ahLst/>
              <a:cxnLst/>
              <a:rect r="r" b="b" t="t" l="l"/>
              <a:pathLst>
                <a:path h="847257" w="5180432">
                  <a:moveTo>
                    <a:pt x="0" y="282356"/>
                  </a:moveTo>
                  <a:cubicBezTo>
                    <a:pt x="0" y="126521"/>
                    <a:pt x="123230" y="0"/>
                    <a:pt x="275010" y="0"/>
                  </a:cubicBezTo>
                  <a:lnTo>
                    <a:pt x="4905422" y="0"/>
                  </a:lnTo>
                  <a:cubicBezTo>
                    <a:pt x="5057387" y="0"/>
                    <a:pt x="5180432" y="126521"/>
                    <a:pt x="5180432" y="282356"/>
                  </a:cubicBezTo>
                  <a:lnTo>
                    <a:pt x="5180432" y="564901"/>
                  </a:lnTo>
                  <a:cubicBezTo>
                    <a:pt x="5180432" y="720925"/>
                    <a:pt x="5057203" y="847257"/>
                    <a:pt x="4905422" y="847257"/>
                  </a:cubicBezTo>
                  <a:lnTo>
                    <a:pt x="275010" y="847257"/>
                  </a:lnTo>
                  <a:cubicBezTo>
                    <a:pt x="123230" y="847257"/>
                    <a:pt x="0" y="720735"/>
                    <a:pt x="0" y="564901"/>
                  </a:cubicBezTo>
                  <a:close/>
                </a:path>
              </a:pathLst>
            </a:custGeom>
            <a:solidFill>
              <a:srgbClr val="FAF5EB"/>
            </a:solidFill>
            <a:ln w="15240" cap="sq">
              <a:solidFill>
                <a:srgbClr val="3371A5"/>
              </a:solidFill>
              <a:prstDash val="solid"/>
              <a:miter/>
            </a:ln>
          </p:spPr>
        </p:sp>
      </p:grpSp>
      <p:grpSp>
        <p:nvGrpSpPr>
          <p:cNvPr name="Group 46" id="46"/>
          <p:cNvGrpSpPr/>
          <p:nvPr/>
        </p:nvGrpSpPr>
        <p:grpSpPr>
          <a:xfrm rot="0">
            <a:off x="1011035" y="316900"/>
            <a:ext cx="3873565" cy="510272"/>
            <a:chOff x="0" y="0"/>
            <a:chExt cx="5164753" cy="680363"/>
          </a:xfrm>
        </p:grpSpPr>
        <p:sp>
          <p:nvSpPr>
            <p:cNvPr name="Freeform 47" id="47"/>
            <p:cNvSpPr/>
            <p:nvPr/>
          </p:nvSpPr>
          <p:spPr>
            <a:xfrm flipH="false" flipV="false" rot="0">
              <a:off x="0" y="0"/>
              <a:ext cx="5164754" cy="680363"/>
            </a:xfrm>
            <a:custGeom>
              <a:avLst/>
              <a:gdLst/>
              <a:ahLst/>
              <a:cxnLst/>
              <a:rect r="r" b="b" t="t" l="l"/>
              <a:pathLst>
                <a:path h="680363" w="5164754">
                  <a:moveTo>
                    <a:pt x="0" y="0"/>
                  </a:moveTo>
                  <a:lnTo>
                    <a:pt x="5164754" y="0"/>
                  </a:lnTo>
                  <a:lnTo>
                    <a:pt x="5164754" y="680363"/>
                  </a:lnTo>
                  <a:lnTo>
                    <a:pt x="0" y="680363"/>
                  </a:lnTo>
                  <a:close/>
                </a:path>
              </a:pathLst>
            </a:custGeom>
            <a:blipFill>
              <a:blip r:embed="rId3">
                <a:alphaModFix amt="0"/>
              </a:blip>
              <a:stretch>
                <a:fillRect l="0" t="-56294" r="38317" b="-26181"/>
              </a:stretch>
            </a:blipFill>
          </p:spPr>
        </p:sp>
        <p:sp>
          <p:nvSpPr>
            <p:cNvPr name="TextBox 48" id="48"/>
            <p:cNvSpPr txBox="true"/>
            <p:nvPr/>
          </p:nvSpPr>
          <p:spPr>
            <a:xfrm>
              <a:off x="0" y="0"/>
              <a:ext cx="5164753"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12 — BENEFITS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5EB"/>
        </a:solidFill>
      </p:bgPr>
    </p:bg>
    <p:spTree>
      <p:nvGrpSpPr>
        <p:cNvPr id="1" name=""/>
        <p:cNvGrpSpPr/>
        <p:nvPr/>
      </p:nvGrpSpPr>
      <p:grpSpPr>
        <a:xfrm>
          <a:off x="0" y="0"/>
          <a:ext cx="0" cy="0"/>
          <a:chOff x="0" y="0"/>
          <a:chExt cx="0" cy="0"/>
        </a:xfrm>
      </p:grpSpPr>
      <p:grpSp>
        <p:nvGrpSpPr>
          <p:cNvPr name="Group 2" id="2"/>
          <p:cNvGrpSpPr/>
          <p:nvPr/>
        </p:nvGrpSpPr>
        <p:grpSpPr>
          <a:xfrm rot="0">
            <a:off x="858018" y="1009840"/>
            <a:ext cx="16596360" cy="713232"/>
            <a:chOff x="0" y="0"/>
            <a:chExt cx="22128480" cy="950976"/>
          </a:xfrm>
        </p:grpSpPr>
        <p:sp>
          <p:nvSpPr>
            <p:cNvPr name="Freeform 3" id="3"/>
            <p:cNvSpPr/>
            <p:nvPr/>
          </p:nvSpPr>
          <p:spPr>
            <a:xfrm flipH="false" flipV="false" rot="0">
              <a:off x="0" y="0"/>
              <a:ext cx="22128480" cy="950976"/>
            </a:xfrm>
            <a:custGeom>
              <a:avLst/>
              <a:gdLst/>
              <a:ahLst/>
              <a:cxnLst/>
              <a:rect r="r" b="b" t="t" l="l"/>
              <a:pathLst>
                <a:path h="950976" w="22128480">
                  <a:moveTo>
                    <a:pt x="0" y="0"/>
                  </a:moveTo>
                  <a:lnTo>
                    <a:pt x="22128480" y="0"/>
                  </a:lnTo>
                  <a:lnTo>
                    <a:pt x="22128480" y="950976"/>
                  </a:lnTo>
                  <a:lnTo>
                    <a:pt x="0" y="950976"/>
                  </a:lnTo>
                  <a:close/>
                </a:path>
              </a:pathLst>
            </a:custGeom>
            <a:blipFill>
              <a:blip r:embed="rId3">
                <a:alphaModFix amt="0"/>
              </a:blip>
              <a:stretch>
                <a:fillRect l="0" t="-403401" r="0" b="-403401"/>
              </a:stretch>
            </a:blipFill>
          </p:spPr>
        </p:sp>
        <p:sp>
          <p:nvSpPr>
            <p:cNvPr name="TextBox 4" id="4"/>
            <p:cNvSpPr txBox="true"/>
            <p:nvPr/>
          </p:nvSpPr>
          <p:spPr>
            <a:xfrm>
              <a:off x="0" y="0"/>
              <a:ext cx="22128480" cy="950976"/>
            </a:xfrm>
            <a:prstGeom prst="rect">
              <a:avLst/>
            </a:prstGeom>
          </p:spPr>
          <p:txBody>
            <a:bodyPr anchor="ctr" rtlCol="false" tIns="0" lIns="0" bIns="0" rIns="0"/>
            <a:lstStyle/>
            <a:p>
              <a:pPr algn="l">
                <a:lnSpc>
                  <a:spcPts val="4079"/>
                </a:lnSpc>
              </a:pPr>
              <a:r>
                <a:rPr lang="en-US" sz="3399">
                  <a:solidFill>
                    <a:srgbClr val="051D3A"/>
                  </a:solidFill>
                  <a:latin typeface="Aptos"/>
                  <a:ea typeface="Aptos"/>
                  <a:cs typeface="Aptos"/>
                  <a:sym typeface="Aptos"/>
                </a:rPr>
                <a:t>What Should We Be Cautious About?</a:t>
              </a:r>
            </a:p>
          </p:txBody>
        </p:sp>
      </p:grpSp>
      <p:sp>
        <p:nvSpPr>
          <p:cNvPr name="TextBox 5" id="5"/>
          <p:cNvSpPr txBox="true"/>
          <p:nvPr/>
        </p:nvSpPr>
        <p:spPr>
          <a:xfrm rot="0">
            <a:off x="850392" y="1780222"/>
            <a:ext cx="16527780" cy="33337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All optimization models are imperfect; the case itself highlights assumptions, data dependence and implementation trade-offs.</a:t>
            </a:r>
          </a:p>
        </p:txBody>
      </p:sp>
      <p:grpSp>
        <p:nvGrpSpPr>
          <p:cNvPr name="Group 6" id="6"/>
          <p:cNvGrpSpPr/>
          <p:nvPr/>
        </p:nvGrpSpPr>
        <p:grpSpPr>
          <a:xfrm rot="0">
            <a:off x="797052" y="2544318"/>
            <a:ext cx="8153505" cy="5020418"/>
            <a:chOff x="0" y="0"/>
            <a:chExt cx="10871340" cy="6693891"/>
          </a:xfrm>
        </p:grpSpPr>
        <p:sp>
          <p:nvSpPr>
            <p:cNvPr name="Freeform 7" id="7"/>
            <p:cNvSpPr/>
            <p:nvPr/>
          </p:nvSpPr>
          <p:spPr>
            <a:xfrm flipH="false" flipV="false" rot="0">
              <a:off x="0" y="0"/>
              <a:ext cx="10871340" cy="6693891"/>
            </a:xfrm>
            <a:custGeom>
              <a:avLst/>
              <a:gdLst/>
              <a:ahLst/>
              <a:cxnLst/>
              <a:rect r="r" b="b" t="t" l="l"/>
              <a:pathLst>
                <a:path h="6693891" w="10871340">
                  <a:moveTo>
                    <a:pt x="0" y="184710"/>
                  </a:moveTo>
                  <a:cubicBezTo>
                    <a:pt x="0" y="82662"/>
                    <a:pt x="96612" y="0"/>
                    <a:pt x="215883" y="0"/>
                  </a:cubicBezTo>
                  <a:lnTo>
                    <a:pt x="10655457" y="0"/>
                  </a:lnTo>
                  <a:cubicBezTo>
                    <a:pt x="10774728" y="0"/>
                    <a:pt x="10871340" y="82662"/>
                    <a:pt x="10871340" y="184710"/>
                  </a:cubicBezTo>
                  <a:lnTo>
                    <a:pt x="10871340" y="6509181"/>
                  </a:lnTo>
                  <a:cubicBezTo>
                    <a:pt x="10871340" y="6611230"/>
                    <a:pt x="10774728" y="6693891"/>
                    <a:pt x="10655457" y="6693891"/>
                  </a:cubicBezTo>
                  <a:lnTo>
                    <a:pt x="215883" y="6693891"/>
                  </a:lnTo>
                  <a:cubicBezTo>
                    <a:pt x="96612" y="6693891"/>
                    <a:pt x="0" y="6611230"/>
                    <a:pt x="0" y="6509181"/>
                  </a:cubicBezTo>
                  <a:close/>
                </a:path>
              </a:pathLst>
            </a:custGeom>
            <a:solidFill>
              <a:srgbClr val="FAF5EB"/>
            </a:solidFill>
            <a:ln w="19050" cap="sq">
              <a:solidFill>
                <a:srgbClr val="D5D0C5"/>
              </a:solidFill>
              <a:prstDash val="solid"/>
              <a:miter/>
            </a:ln>
          </p:spPr>
        </p:sp>
      </p:grpSp>
      <p:grpSp>
        <p:nvGrpSpPr>
          <p:cNvPr name="Group 8" id="8"/>
          <p:cNvGrpSpPr/>
          <p:nvPr/>
        </p:nvGrpSpPr>
        <p:grpSpPr>
          <a:xfrm rot="0">
            <a:off x="1053465" y="2751729"/>
            <a:ext cx="7804404" cy="428048"/>
            <a:chOff x="0" y="0"/>
            <a:chExt cx="10405872" cy="570731"/>
          </a:xfrm>
        </p:grpSpPr>
        <p:sp>
          <p:nvSpPr>
            <p:cNvPr name="Freeform 9" id="9"/>
            <p:cNvSpPr/>
            <p:nvPr/>
          </p:nvSpPr>
          <p:spPr>
            <a:xfrm flipH="false" flipV="false" rot="0">
              <a:off x="0" y="0"/>
              <a:ext cx="10405872" cy="570731"/>
            </a:xfrm>
            <a:custGeom>
              <a:avLst/>
              <a:gdLst/>
              <a:ahLst/>
              <a:cxnLst/>
              <a:rect r="r" b="b" t="t" l="l"/>
              <a:pathLst>
                <a:path h="570731" w="10405872">
                  <a:moveTo>
                    <a:pt x="0" y="0"/>
                  </a:moveTo>
                  <a:lnTo>
                    <a:pt x="10405872" y="0"/>
                  </a:lnTo>
                  <a:lnTo>
                    <a:pt x="10405872" y="570731"/>
                  </a:lnTo>
                  <a:lnTo>
                    <a:pt x="0" y="570731"/>
                  </a:lnTo>
                  <a:close/>
                </a:path>
              </a:pathLst>
            </a:custGeom>
            <a:blipFill>
              <a:blip r:embed="rId3">
                <a:alphaModFix amt="0"/>
              </a:blip>
              <a:stretch>
                <a:fillRect l="0" t="-310401" r="0" b="-300122"/>
              </a:stretch>
            </a:blipFill>
          </p:spPr>
        </p:sp>
        <p:sp>
          <p:nvSpPr>
            <p:cNvPr name="TextBox 10" id="10"/>
            <p:cNvSpPr txBox="true"/>
            <p:nvPr/>
          </p:nvSpPr>
          <p:spPr>
            <a:xfrm>
              <a:off x="0" y="0"/>
              <a:ext cx="10405872" cy="570731"/>
            </a:xfrm>
            <a:prstGeom prst="rect">
              <a:avLst/>
            </a:prstGeom>
          </p:spPr>
          <p:txBody>
            <a:bodyPr anchor="ctr" rtlCol="false" tIns="0" lIns="0" bIns="0" rIns="0"/>
            <a:lstStyle/>
            <a:p>
              <a:pPr algn="l">
                <a:lnSpc>
                  <a:spcPts val="2759"/>
                </a:lnSpc>
              </a:pPr>
              <a:r>
                <a:rPr lang="en-US" sz="2299" b="true">
                  <a:solidFill>
                    <a:srgbClr val="2B3541"/>
                  </a:solidFill>
                  <a:latin typeface="Aptos Bold"/>
                  <a:ea typeface="Aptos Bold"/>
                  <a:cs typeface="Aptos Bold"/>
                  <a:sym typeface="Aptos Bold"/>
                </a:rPr>
                <a:t>Limitations / Assumptions</a:t>
              </a:r>
            </a:p>
          </p:txBody>
        </p:sp>
      </p:grpSp>
      <p:sp>
        <p:nvSpPr>
          <p:cNvPr name="TextBox 11" id="11"/>
          <p:cNvSpPr txBox="true"/>
          <p:nvPr/>
        </p:nvSpPr>
        <p:spPr>
          <a:xfrm rot="0">
            <a:off x="1028700" y="3359735"/>
            <a:ext cx="7360147" cy="3667125"/>
          </a:xfrm>
          <a:prstGeom prst="rect">
            <a:avLst/>
          </a:prstGeom>
        </p:spPr>
        <p:txBody>
          <a:bodyPr anchor="t" rtlCol="false" tIns="0" lIns="0" bIns="0" rIns="0">
            <a:spAutoFit/>
          </a:bodyPr>
          <a:lstStyle/>
          <a:p>
            <a:pPr algn="l">
              <a:lnSpc>
                <a:spcPts val="2639"/>
              </a:lnSpc>
            </a:pPr>
            <a:r>
              <a:rPr lang="en-US" sz="2199">
                <a:solidFill>
                  <a:srgbClr val="2B3541"/>
                </a:solidFill>
                <a:latin typeface="Aptos"/>
                <a:ea typeface="Aptos"/>
                <a:cs typeface="Aptos"/>
                <a:sym typeface="Aptos"/>
              </a:rPr>
              <a:t>• Expected returns and macro forecasts are exogenous and can be wrong.</a:t>
            </a:r>
          </a:p>
          <a:p>
            <a:pPr algn="l">
              <a:lnSpc>
                <a:spcPts val="2639"/>
              </a:lnSpc>
            </a:pPr>
            <a:r>
              <a:rPr lang="en-US" sz="2199">
                <a:solidFill>
                  <a:srgbClr val="2B3541"/>
                </a:solidFill>
                <a:latin typeface="Aptos"/>
                <a:ea typeface="Aptos"/>
                <a:cs typeface="Aptos"/>
                <a:sym typeface="Aptos"/>
              </a:rPr>
              <a:t>• Customer profiles are discretized into a limited set of parameter values, motivating thousands of precomputed frontiers.</a:t>
            </a:r>
          </a:p>
          <a:p>
            <a:pPr algn="l">
              <a:lnSpc>
                <a:spcPts val="2639"/>
              </a:lnSpc>
            </a:pPr>
            <a:r>
              <a:rPr lang="en-US" sz="2199">
                <a:solidFill>
                  <a:srgbClr val="2B3541"/>
                </a:solidFill>
                <a:latin typeface="Aptos"/>
                <a:ea typeface="Aptos"/>
                <a:cs typeface="Aptos"/>
                <a:sym typeface="Aptos"/>
              </a:rPr>
              <a:t>• Continuous nonlinear optimization + post-optimal rounding is an approximation to a full mixed-integer formulation.</a:t>
            </a:r>
          </a:p>
          <a:p>
            <a:pPr algn="l">
              <a:lnSpc>
                <a:spcPts val="2639"/>
              </a:lnSpc>
            </a:pPr>
            <a:r>
              <a:rPr lang="en-US" sz="2199">
                <a:solidFill>
                  <a:srgbClr val="2B3541"/>
                </a:solidFill>
                <a:latin typeface="Aptos"/>
                <a:ea typeface="Aptos"/>
                <a:cs typeface="Aptos"/>
                <a:sym typeface="Aptos"/>
              </a:rPr>
              <a:t>• The paper notes limited information on how CRMs select customers into the Opti-Money group.</a:t>
            </a:r>
          </a:p>
          <a:p>
            <a:pPr algn="l">
              <a:lnSpc>
                <a:spcPts val="2639"/>
              </a:lnSpc>
            </a:pPr>
            <a:r>
              <a:rPr lang="en-US" sz="2199">
                <a:solidFill>
                  <a:srgbClr val="2B3541"/>
                </a:solidFill>
                <a:latin typeface="Aptos"/>
                <a:ea typeface="Aptos"/>
                <a:cs typeface="Aptos"/>
                <a:sym typeface="Aptos"/>
              </a:rPr>
              <a:t>• Evaluation is historical (1999–2002); future performance stability is not established.</a:t>
            </a:r>
          </a:p>
        </p:txBody>
      </p:sp>
      <p:grpSp>
        <p:nvGrpSpPr>
          <p:cNvPr name="Group 12" id="12"/>
          <p:cNvGrpSpPr/>
          <p:nvPr/>
        </p:nvGrpSpPr>
        <p:grpSpPr>
          <a:xfrm rot="0">
            <a:off x="9756267" y="2544318"/>
            <a:ext cx="5486400" cy="428048"/>
            <a:chOff x="0" y="0"/>
            <a:chExt cx="7315200" cy="570731"/>
          </a:xfrm>
        </p:grpSpPr>
        <p:sp>
          <p:nvSpPr>
            <p:cNvPr name="Freeform 13" id="13"/>
            <p:cNvSpPr/>
            <p:nvPr/>
          </p:nvSpPr>
          <p:spPr>
            <a:xfrm flipH="false" flipV="false" rot="0">
              <a:off x="0" y="0"/>
              <a:ext cx="7315200" cy="570731"/>
            </a:xfrm>
            <a:custGeom>
              <a:avLst/>
              <a:gdLst/>
              <a:ahLst/>
              <a:cxnLst/>
              <a:rect r="r" b="b" t="t" l="l"/>
              <a:pathLst>
                <a:path h="570731" w="7315200">
                  <a:moveTo>
                    <a:pt x="0" y="0"/>
                  </a:moveTo>
                  <a:lnTo>
                    <a:pt x="7315200" y="0"/>
                  </a:lnTo>
                  <a:lnTo>
                    <a:pt x="7315200" y="570731"/>
                  </a:lnTo>
                  <a:lnTo>
                    <a:pt x="0" y="570731"/>
                  </a:lnTo>
                  <a:close/>
                </a:path>
              </a:pathLst>
            </a:custGeom>
            <a:blipFill>
              <a:blip r:embed="rId3">
                <a:alphaModFix amt="0"/>
              </a:blip>
              <a:stretch>
                <a:fillRect l="0" t="-201679" r="0" b="-197809"/>
              </a:stretch>
            </a:blipFill>
          </p:spPr>
        </p:sp>
        <p:sp>
          <p:nvSpPr>
            <p:cNvPr name="TextBox 14" id="14"/>
            <p:cNvSpPr txBox="true"/>
            <p:nvPr/>
          </p:nvSpPr>
          <p:spPr>
            <a:xfrm>
              <a:off x="0" y="0"/>
              <a:ext cx="7315200" cy="570731"/>
            </a:xfrm>
            <a:prstGeom prst="rect">
              <a:avLst/>
            </a:prstGeom>
          </p:spPr>
          <p:txBody>
            <a:bodyPr anchor="ctr" rtlCol="false" tIns="0" lIns="0" bIns="0" rIns="0"/>
            <a:lstStyle/>
            <a:p>
              <a:pPr algn="l">
                <a:lnSpc>
                  <a:spcPts val="2759"/>
                </a:lnSpc>
              </a:pPr>
              <a:r>
                <a:rPr lang="en-US" sz="2299" b="true">
                  <a:solidFill>
                    <a:srgbClr val="2B3541"/>
                  </a:solidFill>
                  <a:latin typeface="Aptos Bold"/>
                  <a:ea typeface="Aptos Bold"/>
                  <a:cs typeface="Aptos Bold"/>
                  <a:sym typeface="Aptos Bold"/>
                </a:rPr>
                <a:t>Final takeaways</a:t>
              </a:r>
            </a:p>
          </p:txBody>
        </p:sp>
      </p:grpSp>
      <p:grpSp>
        <p:nvGrpSpPr>
          <p:cNvPr name="Group 15" id="15"/>
          <p:cNvGrpSpPr/>
          <p:nvPr/>
        </p:nvGrpSpPr>
        <p:grpSpPr>
          <a:xfrm rot="0">
            <a:off x="9756267" y="3241167"/>
            <a:ext cx="7943710" cy="984131"/>
            <a:chOff x="0" y="0"/>
            <a:chExt cx="10591613" cy="1312175"/>
          </a:xfrm>
        </p:grpSpPr>
        <p:sp>
          <p:nvSpPr>
            <p:cNvPr name="Freeform 16" id="16"/>
            <p:cNvSpPr/>
            <p:nvPr/>
          </p:nvSpPr>
          <p:spPr>
            <a:xfrm flipH="false" flipV="false" rot="0">
              <a:off x="0" y="0"/>
              <a:ext cx="10591613" cy="1312175"/>
            </a:xfrm>
            <a:custGeom>
              <a:avLst/>
              <a:gdLst/>
              <a:ahLst/>
              <a:cxnLst/>
              <a:rect r="r" b="b" t="t" l="l"/>
              <a:pathLst>
                <a:path h="1312175" w="10591613">
                  <a:moveTo>
                    <a:pt x="0" y="271426"/>
                  </a:moveTo>
                  <a:cubicBezTo>
                    <a:pt x="0" y="121520"/>
                    <a:pt x="114360" y="0"/>
                    <a:pt x="255434" y="0"/>
                  </a:cubicBezTo>
                  <a:lnTo>
                    <a:pt x="10336179" y="0"/>
                  </a:lnTo>
                  <a:cubicBezTo>
                    <a:pt x="10477253" y="0"/>
                    <a:pt x="10591613" y="121520"/>
                    <a:pt x="10591613" y="271426"/>
                  </a:cubicBezTo>
                  <a:lnTo>
                    <a:pt x="10591613" y="1040749"/>
                  </a:lnTo>
                  <a:cubicBezTo>
                    <a:pt x="10591613" y="1190654"/>
                    <a:pt x="10477253" y="1312175"/>
                    <a:pt x="10336179" y="1312175"/>
                  </a:cubicBezTo>
                  <a:lnTo>
                    <a:pt x="255434" y="1312175"/>
                  </a:lnTo>
                  <a:cubicBezTo>
                    <a:pt x="114360" y="1312175"/>
                    <a:pt x="0" y="1190654"/>
                    <a:pt x="0" y="1040749"/>
                  </a:cubicBezTo>
                  <a:close/>
                </a:path>
              </a:pathLst>
            </a:custGeom>
            <a:solidFill>
              <a:srgbClr val="FAF5EB"/>
            </a:solidFill>
            <a:ln w="19050" cap="sq">
              <a:solidFill>
                <a:srgbClr val="D5D0C5"/>
              </a:solidFill>
              <a:prstDash val="solid"/>
              <a:miter/>
            </a:ln>
          </p:spPr>
        </p:sp>
      </p:grpSp>
      <p:grpSp>
        <p:nvGrpSpPr>
          <p:cNvPr name="Group 17" id="17"/>
          <p:cNvGrpSpPr/>
          <p:nvPr/>
        </p:nvGrpSpPr>
        <p:grpSpPr>
          <a:xfrm rot="0">
            <a:off x="9985248" y="3486370"/>
            <a:ext cx="411480" cy="414821"/>
            <a:chOff x="0" y="0"/>
            <a:chExt cx="548640" cy="553094"/>
          </a:xfrm>
        </p:grpSpPr>
        <p:sp>
          <p:nvSpPr>
            <p:cNvPr name="Freeform 18" id="18"/>
            <p:cNvSpPr/>
            <p:nvPr/>
          </p:nvSpPr>
          <p:spPr>
            <a:xfrm flipH="false" flipV="false" rot="0">
              <a:off x="0" y="0"/>
              <a:ext cx="548640" cy="553094"/>
            </a:xfrm>
            <a:custGeom>
              <a:avLst/>
              <a:gdLst/>
              <a:ahLst/>
              <a:cxnLst/>
              <a:rect r="r" b="b" t="t" l="l"/>
              <a:pathLst>
                <a:path h="553094" w="548640">
                  <a:moveTo>
                    <a:pt x="0" y="0"/>
                  </a:moveTo>
                  <a:lnTo>
                    <a:pt x="548640" y="0"/>
                  </a:lnTo>
                  <a:lnTo>
                    <a:pt x="548640" y="553094"/>
                  </a:lnTo>
                  <a:lnTo>
                    <a:pt x="0" y="553094"/>
                  </a:lnTo>
                  <a:close/>
                </a:path>
              </a:pathLst>
            </a:custGeom>
            <a:blipFill>
              <a:blip r:embed="rId3">
                <a:alphaModFix amt="0"/>
              </a:blip>
              <a:stretch>
                <a:fillRect l="-69749" t="0" r="-69749" b="7418"/>
              </a:stretch>
            </a:blipFill>
          </p:spPr>
        </p:sp>
        <p:sp>
          <p:nvSpPr>
            <p:cNvPr name="TextBox 19" id="19"/>
            <p:cNvSpPr txBox="true"/>
            <p:nvPr/>
          </p:nvSpPr>
          <p:spPr>
            <a:xfrm>
              <a:off x="0" y="0"/>
              <a:ext cx="548640" cy="553094"/>
            </a:xfrm>
            <a:prstGeom prst="rect">
              <a:avLst/>
            </a:prstGeom>
          </p:spPr>
          <p:txBody>
            <a:bodyPr anchor="ctr" rtlCol="false" tIns="0" lIns="0" bIns="0" rIns="0"/>
            <a:lstStyle/>
            <a:p>
              <a:pPr algn="ctr">
                <a:lnSpc>
                  <a:spcPts val="2639"/>
                </a:lnSpc>
              </a:pPr>
              <a:r>
                <a:rPr lang="en-US" sz="2199" b="true">
                  <a:solidFill>
                    <a:srgbClr val="3371A5"/>
                  </a:solidFill>
                  <a:latin typeface="Aptos Bold"/>
                  <a:ea typeface="Aptos Bold"/>
                  <a:cs typeface="Aptos Bold"/>
                  <a:sym typeface="Aptos Bold"/>
                </a:rPr>
                <a:t>1</a:t>
              </a:r>
            </a:p>
          </p:txBody>
        </p:sp>
      </p:grpSp>
      <p:grpSp>
        <p:nvGrpSpPr>
          <p:cNvPr name="Group 20" id="20"/>
          <p:cNvGrpSpPr/>
          <p:nvPr/>
        </p:nvGrpSpPr>
        <p:grpSpPr>
          <a:xfrm rot="0">
            <a:off x="10616184" y="3486370"/>
            <a:ext cx="1577340" cy="428048"/>
            <a:chOff x="0" y="0"/>
            <a:chExt cx="2103120" cy="570731"/>
          </a:xfrm>
        </p:grpSpPr>
        <p:sp>
          <p:nvSpPr>
            <p:cNvPr name="Freeform 21" id="21"/>
            <p:cNvSpPr/>
            <p:nvPr/>
          </p:nvSpPr>
          <p:spPr>
            <a:xfrm flipH="false" flipV="false" rot="0">
              <a:off x="0" y="0"/>
              <a:ext cx="2103120" cy="570731"/>
            </a:xfrm>
            <a:custGeom>
              <a:avLst/>
              <a:gdLst/>
              <a:ahLst/>
              <a:cxnLst/>
              <a:rect r="r" b="b" t="t" l="l"/>
              <a:pathLst>
                <a:path h="570731" w="2103120">
                  <a:moveTo>
                    <a:pt x="0" y="0"/>
                  </a:moveTo>
                  <a:lnTo>
                    <a:pt x="2103120" y="0"/>
                  </a:lnTo>
                  <a:lnTo>
                    <a:pt x="2103120" y="570731"/>
                  </a:lnTo>
                  <a:lnTo>
                    <a:pt x="0" y="570731"/>
                  </a:lnTo>
                  <a:close/>
                </a:path>
              </a:pathLst>
            </a:custGeom>
            <a:blipFill>
              <a:blip r:embed="rId3">
                <a:alphaModFix amt="0"/>
              </a:blip>
              <a:stretch>
                <a:fillRect l="0" t="-26941" r="0" b="-16661"/>
              </a:stretch>
            </a:blipFill>
          </p:spPr>
        </p:sp>
        <p:sp>
          <p:nvSpPr>
            <p:cNvPr name="TextBox 22" id="22"/>
            <p:cNvSpPr txBox="true"/>
            <p:nvPr/>
          </p:nvSpPr>
          <p:spPr>
            <a:xfrm>
              <a:off x="0" y="0"/>
              <a:ext cx="2103120" cy="570731"/>
            </a:xfrm>
            <a:prstGeom prst="rect">
              <a:avLst/>
            </a:prstGeom>
          </p:spPr>
          <p:txBody>
            <a:bodyPr anchor="ctr" rtlCol="false" tIns="0" lIns="0" bIns="0" rIns="0"/>
            <a:lstStyle/>
            <a:p>
              <a:pPr algn="l">
                <a:lnSpc>
                  <a:spcPts val="2759"/>
                </a:lnSpc>
              </a:pPr>
              <a:r>
                <a:rPr lang="en-US" sz="2299" b="true">
                  <a:solidFill>
                    <a:srgbClr val="2B3541"/>
                  </a:solidFill>
                  <a:latin typeface="Aptos Bold"/>
                  <a:ea typeface="Aptos Bold"/>
                  <a:cs typeface="Aptos Bold"/>
                  <a:sym typeface="Aptos Bold"/>
                </a:rPr>
                <a:t>Scope</a:t>
              </a:r>
            </a:p>
          </p:txBody>
        </p:sp>
      </p:grpSp>
      <p:grpSp>
        <p:nvGrpSpPr>
          <p:cNvPr name="Group 23" id="23"/>
          <p:cNvGrpSpPr/>
          <p:nvPr/>
        </p:nvGrpSpPr>
        <p:grpSpPr>
          <a:xfrm rot="0">
            <a:off x="12097512" y="3348549"/>
            <a:ext cx="5161788" cy="748196"/>
            <a:chOff x="0" y="0"/>
            <a:chExt cx="6882384" cy="997594"/>
          </a:xfrm>
        </p:grpSpPr>
        <p:sp>
          <p:nvSpPr>
            <p:cNvPr name="Freeform 24" id="24"/>
            <p:cNvSpPr/>
            <p:nvPr/>
          </p:nvSpPr>
          <p:spPr>
            <a:xfrm flipH="false" flipV="false" rot="0">
              <a:off x="0" y="0"/>
              <a:ext cx="6882384" cy="997594"/>
            </a:xfrm>
            <a:custGeom>
              <a:avLst/>
              <a:gdLst/>
              <a:ahLst/>
              <a:cxnLst/>
              <a:rect r="r" b="b" t="t" l="l"/>
              <a:pathLst>
                <a:path h="997594" w="6882384">
                  <a:moveTo>
                    <a:pt x="0" y="0"/>
                  </a:moveTo>
                  <a:lnTo>
                    <a:pt x="6882384" y="0"/>
                  </a:lnTo>
                  <a:lnTo>
                    <a:pt x="6882384" y="997594"/>
                  </a:lnTo>
                  <a:lnTo>
                    <a:pt x="0" y="997594"/>
                  </a:lnTo>
                  <a:close/>
                </a:path>
              </a:pathLst>
            </a:custGeom>
            <a:blipFill>
              <a:blip r:embed="rId3">
                <a:alphaModFix amt="0"/>
              </a:blip>
              <a:stretch>
                <a:fillRect l="0" t="-78449" r="17094" b="-44444"/>
              </a:stretch>
            </a:blipFill>
          </p:spPr>
        </p:sp>
        <p:sp>
          <p:nvSpPr>
            <p:cNvPr name="TextBox 25" id="25"/>
            <p:cNvSpPr txBox="true"/>
            <p:nvPr/>
          </p:nvSpPr>
          <p:spPr>
            <a:xfrm>
              <a:off x="0" y="0"/>
              <a:ext cx="6882384" cy="997594"/>
            </a:xfrm>
            <a:prstGeom prst="rect">
              <a:avLst/>
            </a:prstGeom>
          </p:spPr>
          <p:txBody>
            <a:bodyPr anchor="ctr" rtlCol="false" tIns="0" lIns="0" bIns="0" rIns="0"/>
            <a:lstStyle/>
            <a:p>
              <a:pPr algn="l">
                <a:lnSpc>
                  <a:spcPts val="2639"/>
                </a:lnSpc>
              </a:pPr>
              <a:r>
                <a:rPr lang="en-US" sz="2199">
                  <a:solidFill>
                    <a:srgbClr val="2B3541"/>
                  </a:solidFill>
                  <a:latin typeface="Aptos"/>
                  <a:ea typeface="Aptos"/>
                  <a:cs typeface="Aptos"/>
                  <a:sym typeface="Aptos"/>
                </a:rPr>
                <a:t>Personalized asset allocation for private-banking advisory.</a:t>
              </a:r>
            </a:p>
          </p:txBody>
        </p:sp>
      </p:grpSp>
      <p:grpSp>
        <p:nvGrpSpPr>
          <p:cNvPr name="Group 26" id="26"/>
          <p:cNvGrpSpPr/>
          <p:nvPr/>
        </p:nvGrpSpPr>
        <p:grpSpPr>
          <a:xfrm rot="0">
            <a:off x="9756267" y="4398259"/>
            <a:ext cx="7943710" cy="1031756"/>
            <a:chOff x="0" y="0"/>
            <a:chExt cx="10591613" cy="1375675"/>
          </a:xfrm>
        </p:grpSpPr>
        <p:sp>
          <p:nvSpPr>
            <p:cNvPr name="Freeform 27" id="27"/>
            <p:cNvSpPr/>
            <p:nvPr/>
          </p:nvSpPr>
          <p:spPr>
            <a:xfrm flipH="false" flipV="false" rot="0">
              <a:off x="0" y="0"/>
              <a:ext cx="10591613" cy="1375675"/>
            </a:xfrm>
            <a:custGeom>
              <a:avLst/>
              <a:gdLst/>
              <a:ahLst/>
              <a:cxnLst/>
              <a:rect r="r" b="b" t="t" l="l"/>
              <a:pathLst>
                <a:path h="1375675" w="10591613">
                  <a:moveTo>
                    <a:pt x="0" y="284561"/>
                  </a:moveTo>
                  <a:cubicBezTo>
                    <a:pt x="0" y="127401"/>
                    <a:pt x="114360" y="0"/>
                    <a:pt x="255434" y="0"/>
                  </a:cubicBezTo>
                  <a:lnTo>
                    <a:pt x="10336179" y="0"/>
                  </a:lnTo>
                  <a:cubicBezTo>
                    <a:pt x="10477253" y="0"/>
                    <a:pt x="10591613" y="127401"/>
                    <a:pt x="10591613" y="284561"/>
                  </a:cubicBezTo>
                  <a:lnTo>
                    <a:pt x="10591613" y="1091113"/>
                  </a:lnTo>
                  <a:cubicBezTo>
                    <a:pt x="10591613" y="1248274"/>
                    <a:pt x="10477253" y="1375675"/>
                    <a:pt x="10336179" y="1375675"/>
                  </a:cubicBezTo>
                  <a:lnTo>
                    <a:pt x="255434" y="1375675"/>
                  </a:lnTo>
                  <a:cubicBezTo>
                    <a:pt x="114360" y="1375675"/>
                    <a:pt x="0" y="1248274"/>
                    <a:pt x="0" y="1091113"/>
                  </a:cubicBezTo>
                  <a:close/>
                </a:path>
              </a:pathLst>
            </a:custGeom>
            <a:solidFill>
              <a:srgbClr val="FAF5EB"/>
            </a:solidFill>
            <a:ln w="19050" cap="sq">
              <a:solidFill>
                <a:srgbClr val="D5D0C5"/>
              </a:solidFill>
              <a:prstDash val="solid"/>
              <a:miter/>
            </a:ln>
          </p:spPr>
        </p:sp>
      </p:grpSp>
      <p:grpSp>
        <p:nvGrpSpPr>
          <p:cNvPr name="Group 28" id="28"/>
          <p:cNvGrpSpPr/>
          <p:nvPr/>
        </p:nvGrpSpPr>
        <p:grpSpPr>
          <a:xfrm rot="0">
            <a:off x="9985248" y="4671053"/>
            <a:ext cx="411480" cy="486713"/>
            <a:chOff x="0" y="0"/>
            <a:chExt cx="548640" cy="648950"/>
          </a:xfrm>
        </p:grpSpPr>
        <p:sp>
          <p:nvSpPr>
            <p:cNvPr name="Freeform 29" id="29"/>
            <p:cNvSpPr/>
            <p:nvPr/>
          </p:nvSpPr>
          <p:spPr>
            <a:xfrm flipH="false" flipV="false" rot="0">
              <a:off x="0" y="0"/>
              <a:ext cx="548640" cy="648950"/>
            </a:xfrm>
            <a:custGeom>
              <a:avLst/>
              <a:gdLst/>
              <a:ahLst/>
              <a:cxnLst/>
              <a:rect r="r" b="b" t="t" l="l"/>
              <a:pathLst>
                <a:path h="648950" w="548640">
                  <a:moveTo>
                    <a:pt x="0" y="0"/>
                  </a:moveTo>
                  <a:lnTo>
                    <a:pt x="548640" y="0"/>
                  </a:lnTo>
                  <a:lnTo>
                    <a:pt x="548640" y="648950"/>
                  </a:lnTo>
                  <a:lnTo>
                    <a:pt x="0" y="648950"/>
                  </a:lnTo>
                  <a:close/>
                </a:path>
              </a:pathLst>
            </a:custGeom>
            <a:blipFill>
              <a:blip r:embed="rId3">
                <a:alphaModFix amt="0"/>
              </a:blip>
              <a:stretch>
                <a:fillRect l="-69749" t="0" r="-69749" b="21093"/>
              </a:stretch>
            </a:blipFill>
          </p:spPr>
        </p:sp>
        <p:sp>
          <p:nvSpPr>
            <p:cNvPr name="TextBox 30" id="30"/>
            <p:cNvSpPr txBox="true"/>
            <p:nvPr/>
          </p:nvSpPr>
          <p:spPr>
            <a:xfrm>
              <a:off x="0" y="0"/>
              <a:ext cx="548640" cy="648950"/>
            </a:xfrm>
            <a:prstGeom prst="rect">
              <a:avLst/>
            </a:prstGeom>
          </p:spPr>
          <p:txBody>
            <a:bodyPr anchor="ctr" rtlCol="false" tIns="0" lIns="0" bIns="0" rIns="0"/>
            <a:lstStyle/>
            <a:p>
              <a:pPr algn="ctr" marL="0" indent="0" lvl="0">
                <a:lnSpc>
                  <a:spcPts val="2639"/>
                </a:lnSpc>
                <a:spcBef>
                  <a:spcPct val="0"/>
                </a:spcBef>
              </a:pPr>
              <a:r>
                <a:rPr lang="en-US" b="true" sz="2199" strike="noStrike" u="none">
                  <a:solidFill>
                    <a:srgbClr val="3371A5"/>
                  </a:solidFill>
                  <a:latin typeface="Aptos Bold"/>
                  <a:ea typeface="Aptos Bold"/>
                  <a:cs typeface="Aptos Bold"/>
                  <a:sym typeface="Aptos Bold"/>
                </a:rPr>
                <a:t>2</a:t>
              </a:r>
            </a:p>
          </p:txBody>
        </p:sp>
      </p:grpSp>
      <p:grpSp>
        <p:nvGrpSpPr>
          <p:cNvPr name="Group 31" id="31"/>
          <p:cNvGrpSpPr/>
          <p:nvPr/>
        </p:nvGrpSpPr>
        <p:grpSpPr>
          <a:xfrm rot="0">
            <a:off x="10616184" y="4670781"/>
            <a:ext cx="1577340" cy="486713"/>
            <a:chOff x="0" y="0"/>
            <a:chExt cx="2103120" cy="648951"/>
          </a:xfrm>
        </p:grpSpPr>
        <p:sp>
          <p:nvSpPr>
            <p:cNvPr name="Freeform 32" id="32"/>
            <p:cNvSpPr/>
            <p:nvPr/>
          </p:nvSpPr>
          <p:spPr>
            <a:xfrm flipH="false" flipV="false" rot="0">
              <a:off x="0" y="0"/>
              <a:ext cx="2103120" cy="648951"/>
            </a:xfrm>
            <a:custGeom>
              <a:avLst/>
              <a:gdLst/>
              <a:ahLst/>
              <a:cxnLst/>
              <a:rect r="r" b="b" t="t" l="l"/>
              <a:pathLst>
                <a:path h="648951" w="2103120">
                  <a:moveTo>
                    <a:pt x="0" y="0"/>
                  </a:moveTo>
                  <a:lnTo>
                    <a:pt x="2103120" y="0"/>
                  </a:lnTo>
                  <a:lnTo>
                    <a:pt x="2103120" y="648951"/>
                  </a:lnTo>
                  <a:lnTo>
                    <a:pt x="0" y="648951"/>
                  </a:lnTo>
                  <a:close/>
                </a:path>
              </a:pathLst>
            </a:custGeom>
            <a:blipFill>
              <a:blip r:embed="rId3">
                <a:alphaModFix amt="0"/>
              </a:blip>
              <a:stretch>
                <a:fillRect l="0" t="-23693" r="0" b="-2600"/>
              </a:stretch>
            </a:blipFill>
          </p:spPr>
        </p:sp>
        <p:sp>
          <p:nvSpPr>
            <p:cNvPr name="TextBox 33" id="33"/>
            <p:cNvSpPr txBox="true"/>
            <p:nvPr/>
          </p:nvSpPr>
          <p:spPr>
            <a:xfrm>
              <a:off x="0" y="0"/>
              <a:ext cx="2103120" cy="648951"/>
            </a:xfrm>
            <a:prstGeom prst="rect">
              <a:avLst/>
            </a:prstGeom>
          </p:spPr>
          <p:txBody>
            <a:bodyPr anchor="ctr" rtlCol="false" tIns="0" lIns="0" bIns="0" rIns="0"/>
            <a:lstStyle/>
            <a:p>
              <a:pPr algn="l" marL="0" indent="0" lvl="0">
                <a:lnSpc>
                  <a:spcPts val="2639"/>
                </a:lnSpc>
                <a:spcBef>
                  <a:spcPct val="0"/>
                </a:spcBef>
              </a:pPr>
              <a:r>
                <a:rPr lang="en-US" b="true" sz="2199" strike="noStrike" u="none">
                  <a:solidFill>
                    <a:srgbClr val="2B3541"/>
                  </a:solidFill>
                  <a:latin typeface="Aptos Bold"/>
                  <a:ea typeface="Aptos Bold"/>
                  <a:cs typeface="Aptos Bold"/>
                  <a:sym typeface="Aptos Bold"/>
                </a:rPr>
                <a:t>Method</a:t>
              </a:r>
            </a:p>
          </p:txBody>
        </p:sp>
      </p:grpSp>
      <p:grpSp>
        <p:nvGrpSpPr>
          <p:cNvPr name="Group 34" id="34"/>
          <p:cNvGrpSpPr/>
          <p:nvPr/>
        </p:nvGrpSpPr>
        <p:grpSpPr>
          <a:xfrm rot="0">
            <a:off x="12107037" y="4488737"/>
            <a:ext cx="5161788" cy="877865"/>
            <a:chOff x="0" y="0"/>
            <a:chExt cx="6882384" cy="1170486"/>
          </a:xfrm>
        </p:grpSpPr>
        <p:sp>
          <p:nvSpPr>
            <p:cNvPr name="Freeform 35" id="35"/>
            <p:cNvSpPr/>
            <p:nvPr/>
          </p:nvSpPr>
          <p:spPr>
            <a:xfrm flipH="false" flipV="false" rot="0">
              <a:off x="0" y="0"/>
              <a:ext cx="6882384" cy="1170486"/>
            </a:xfrm>
            <a:custGeom>
              <a:avLst/>
              <a:gdLst/>
              <a:ahLst/>
              <a:cxnLst/>
              <a:rect r="r" b="b" t="t" l="l"/>
              <a:pathLst>
                <a:path h="1170486" w="6882384">
                  <a:moveTo>
                    <a:pt x="0" y="0"/>
                  </a:moveTo>
                  <a:lnTo>
                    <a:pt x="6882384" y="0"/>
                  </a:lnTo>
                  <a:lnTo>
                    <a:pt x="6882384" y="1170486"/>
                  </a:lnTo>
                  <a:lnTo>
                    <a:pt x="0" y="1170486"/>
                  </a:lnTo>
                  <a:close/>
                </a:path>
              </a:pathLst>
            </a:custGeom>
            <a:blipFill>
              <a:blip r:embed="rId3">
                <a:alphaModFix amt="0"/>
              </a:blip>
              <a:stretch>
                <a:fillRect l="0" t="-66861" r="17094" b="-23108"/>
              </a:stretch>
            </a:blipFill>
          </p:spPr>
        </p:sp>
        <p:sp>
          <p:nvSpPr>
            <p:cNvPr name="TextBox 36" id="36"/>
            <p:cNvSpPr txBox="true"/>
            <p:nvPr/>
          </p:nvSpPr>
          <p:spPr>
            <a:xfrm>
              <a:off x="0" y="0"/>
              <a:ext cx="6882384" cy="1170486"/>
            </a:xfrm>
            <a:prstGeom prst="rect">
              <a:avLst/>
            </a:prstGeom>
          </p:spPr>
          <p:txBody>
            <a:bodyPr anchor="ctr" rtlCol="false" tIns="0" lIns="0" bIns="0" rIns="0"/>
            <a:lstStyle/>
            <a:p>
              <a:pPr algn="l" marL="0" indent="0" lvl="0">
                <a:lnSpc>
                  <a:spcPts val="2639"/>
                </a:lnSpc>
                <a:spcBef>
                  <a:spcPct val="0"/>
                </a:spcBef>
              </a:pPr>
              <a:r>
                <a:rPr lang="en-US" sz="2199" strike="noStrike" u="none">
                  <a:solidFill>
                    <a:srgbClr val="2B3541"/>
                  </a:solidFill>
                  <a:latin typeface="Aptos"/>
                  <a:ea typeface="Aptos"/>
                  <a:cs typeface="Aptos"/>
                  <a:sym typeface="Aptos"/>
                </a:rPr>
                <a:t>Modified Markowitz + nonlinear programming + efficient frontier.</a:t>
              </a:r>
            </a:p>
          </p:txBody>
        </p:sp>
      </p:grpSp>
      <p:grpSp>
        <p:nvGrpSpPr>
          <p:cNvPr name="Group 37" id="37"/>
          <p:cNvGrpSpPr/>
          <p:nvPr/>
        </p:nvGrpSpPr>
        <p:grpSpPr>
          <a:xfrm rot="0">
            <a:off x="9756267" y="5630040"/>
            <a:ext cx="7943710" cy="1080892"/>
            <a:chOff x="0" y="0"/>
            <a:chExt cx="10591613" cy="1441190"/>
          </a:xfrm>
        </p:grpSpPr>
        <p:sp>
          <p:nvSpPr>
            <p:cNvPr name="Freeform 38" id="38"/>
            <p:cNvSpPr/>
            <p:nvPr/>
          </p:nvSpPr>
          <p:spPr>
            <a:xfrm flipH="false" flipV="false" rot="0">
              <a:off x="0" y="0"/>
              <a:ext cx="10591613" cy="1441190"/>
            </a:xfrm>
            <a:custGeom>
              <a:avLst/>
              <a:gdLst/>
              <a:ahLst/>
              <a:cxnLst/>
              <a:rect r="r" b="b" t="t" l="l"/>
              <a:pathLst>
                <a:path h="1441190" w="10591613">
                  <a:moveTo>
                    <a:pt x="0" y="298113"/>
                  </a:moveTo>
                  <a:cubicBezTo>
                    <a:pt x="0" y="133468"/>
                    <a:pt x="114360" y="0"/>
                    <a:pt x="255434" y="0"/>
                  </a:cubicBezTo>
                  <a:lnTo>
                    <a:pt x="10336179" y="0"/>
                  </a:lnTo>
                  <a:cubicBezTo>
                    <a:pt x="10477253" y="0"/>
                    <a:pt x="10591613" y="133468"/>
                    <a:pt x="10591613" y="298113"/>
                  </a:cubicBezTo>
                  <a:lnTo>
                    <a:pt x="10591613" y="1143077"/>
                  </a:lnTo>
                  <a:cubicBezTo>
                    <a:pt x="10591613" y="1307721"/>
                    <a:pt x="10477253" y="1441190"/>
                    <a:pt x="10336179" y="1441190"/>
                  </a:cubicBezTo>
                  <a:lnTo>
                    <a:pt x="255434" y="1441190"/>
                  </a:lnTo>
                  <a:cubicBezTo>
                    <a:pt x="114360" y="1441190"/>
                    <a:pt x="0" y="1307721"/>
                    <a:pt x="0" y="1143077"/>
                  </a:cubicBezTo>
                  <a:close/>
                </a:path>
              </a:pathLst>
            </a:custGeom>
            <a:solidFill>
              <a:srgbClr val="FAF5EB"/>
            </a:solidFill>
            <a:ln w="19050" cap="sq">
              <a:solidFill>
                <a:srgbClr val="D5D0C5"/>
              </a:solidFill>
              <a:prstDash val="solid"/>
              <a:miter/>
            </a:ln>
          </p:spPr>
        </p:sp>
      </p:grpSp>
      <p:grpSp>
        <p:nvGrpSpPr>
          <p:cNvPr name="Group 39" id="39"/>
          <p:cNvGrpSpPr/>
          <p:nvPr/>
        </p:nvGrpSpPr>
        <p:grpSpPr>
          <a:xfrm rot="0">
            <a:off x="9985248" y="5875360"/>
            <a:ext cx="411480" cy="414821"/>
            <a:chOff x="0" y="0"/>
            <a:chExt cx="548640" cy="553094"/>
          </a:xfrm>
        </p:grpSpPr>
        <p:sp>
          <p:nvSpPr>
            <p:cNvPr name="Freeform 40" id="40"/>
            <p:cNvSpPr/>
            <p:nvPr/>
          </p:nvSpPr>
          <p:spPr>
            <a:xfrm flipH="false" flipV="false" rot="0">
              <a:off x="0" y="0"/>
              <a:ext cx="548640" cy="553094"/>
            </a:xfrm>
            <a:custGeom>
              <a:avLst/>
              <a:gdLst/>
              <a:ahLst/>
              <a:cxnLst/>
              <a:rect r="r" b="b" t="t" l="l"/>
              <a:pathLst>
                <a:path h="553094" w="548640">
                  <a:moveTo>
                    <a:pt x="0" y="0"/>
                  </a:moveTo>
                  <a:lnTo>
                    <a:pt x="548640" y="0"/>
                  </a:lnTo>
                  <a:lnTo>
                    <a:pt x="548640" y="553094"/>
                  </a:lnTo>
                  <a:lnTo>
                    <a:pt x="0" y="553094"/>
                  </a:lnTo>
                  <a:close/>
                </a:path>
              </a:pathLst>
            </a:custGeom>
            <a:blipFill>
              <a:blip r:embed="rId3">
                <a:alphaModFix amt="0"/>
              </a:blip>
              <a:stretch>
                <a:fillRect l="-69749" t="0" r="-69749" b="7418"/>
              </a:stretch>
            </a:blipFill>
          </p:spPr>
        </p:sp>
        <p:sp>
          <p:nvSpPr>
            <p:cNvPr name="TextBox 41" id="41"/>
            <p:cNvSpPr txBox="true"/>
            <p:nvPr/>
          </p:nvSpPr>
          <p:spPr>
            <a:xfrm>
              <a:off x="0" y="0"/>
              <a:ext cx="548640" cy="553094"/>
            </a:xfrm>
            <a:prstGeom prst="rect">
              <a:avLst/>
            </a:prstGeom>
          </p:spPr>
          <p:txBody>
            <a:bodyPr anchor="ctr" rtlCol="false" tIns="0" lIns="0" bIns="0" rIns="0"/>
            <a:lstStyle/>
            <a:p>
              <a:pPr algn="ctr" marL="0" indent="0" lvl="0">
                <a:lnSpc>
                  <a:spcPts val="2639"/>
                </a:lnSpc>
                <a:spcBef>
                  <a:spcPct val="0"/>
                </a:spcBef>
              </a:pPr>
              <a:r>
                <a:rPr lang="en-US" b="true" sz="2199" strike="noStrike" u="none">
                  <a:solidFill>
                    <a:srgbClr val="3371A5"/>
                  </a:solidFill>
                  <a:latin typeface="Aptos Bold"/>
                  <a:ea typeface="Aptos Bold"/>
                  <a:cs typeface="Aptos Bold"/>
                  <a:sym typeface="Aptos Bold"/>
                </a:rPr>
                <a:t>3</a:t>
              </a:r>
            </a:p>
          </p:txBody>
        </p:sp>
      </p:grpSp>
      <p:grpSp>
        <p:nvGrpSpPr>
          <p:cNvPr name="Group 42" id="42"/>
          <p:cNvGrpSpPr/>
          <p:nvPr/>
        </p:nvGrpSpPr>
        <p:grpSpPr>
          <a:xfrm rot="0">
            <a:off x="10616184" y="5862308"/>
            <a:ext cx="1577340" cy="414821"/>
            <a:chOff x="0" y="0"/>
            <a:chExt cx="2103120" cy="553095"/>
          </a:xfrm>
        </p:grpSpPr>
        <p:sp>
          <p:nvSpPr>
            <p:cNvPr name="Freeform 43" id="43"/>
            <p:cNvSpPr/>
            <p:nvPr/>
          </p:nvSpPr>
          <p:spPr>
            <a:xfrm flipH="false" flipV="false" rot="0">
              <a:off x="0" y="0"/>
              <a:ext cx="2103120" cy="553095"/>
            </a:xfrm>
            <a:custGeom>
              <a:avLst/>
              <a:gdLst/>
              <a:ahLst/>
              <a:cxnLst/>
              <a:rect r="r" b="b" t="t" l="l"/>
              <a:pathLst>
                <a:path h="553095" w="2103120">
                  <a:moveTo>
                    <a:pt x="0" y="0"/>
                  </a:moveTo>
                  <a:lnTo>
                    <a:pt x="2103120" y="0"/>
                  </a:lnTo>
                  <a:lnTo>
                    <a:pt x="2103120" y="553095"/>
                  </a:lnTo>
                  <a:lnTo>
                    <a:pt x="0" y="553095"/>
                  </a:lnTo>
                  <a:close/>
                </a:path>
              </a:pathLst>
            </a:custGeom>
            <a:blipFill>
              <a:blip r:embed="rId3">
                <a:alphaModFix amt="0"/>
              </a:blip>
              <a:stretch>
                <a:fillRect l="0" t="-27800" r="0" b="-20381"/>
              </a:stretch>
            </a:blipFill>
          </p:spPr>
        </p:sp>
        <p:sp>
          <p:nvSpPr>
            <p:cNvPr name="TextBox 44" id="44"/>
            <p:cNvSpPr txBox="true"/>
            <p:nvPr/>
          </p:nvSpPr>
          <p:spPr>
            <a:xfrm>
              <a:off x="0" y="0"/>
              <a:ext cx="2103120" cy="553095"/>
            </a:xfrm>
            <a:prstGeom prst="rect">
              <a:avLst/>
            </a:prstGeom>
          </p:spPr>
          <p:txBody>
            <a:bodyPr anchor="ctr" rtlCol="false" tIns="0" lIns="0" bIns="0" rIns="0"/>
            <a:lstStyle/>
            <a:p>
              <a:pPr algn="l" marL="0" indent="0" lvl="0">
                <a:lnSpc>
                  <a:spcPts val="2639"/>
                </a:lnSpc>
                <a:spcBef>
                  <a:spcPct val="0"/>
                </a:spcBef>
              </a:pPr>
              <a:r>
                <a:rPr lang="en-US" b="true" sz="2199" strike="noStrike" u="none">
                  <a:solidFill>
                    <a:srgbClr val="2B3541"/>
                  </a:solidFill>
                  <a:latin typeface="Aptos Bold"/>
                  <a:ea typeface="Aptos Bold"/>
                  <a:cs typeface="Aptos Bold"/>
                  <a:sym typeface="Aptos Bold"/>
                </a:rPr>
                <a:t>Data</a:t>
              </a:r>
            </a:p>
          </p:txBody>
        </p:sp>
      </p:grpSp>
      <p:grpSp>
        <p:nvGrpSpPr>
          <p:cNvPr name="Group 45" id="45"/>
          <p:cNvGrpSpPr/>
          <p:nvPr/>
        </p:nvGrpSpPr>
        <p:grpSpPr>
          <a:xfrm rot="0">
            <a:off x="12097512" y="5772237"/>
            <a:ext cx="5161788" cy="748196"/>
            <a:chOff x="0" y="0"/>
            <a:chExt cx="6882384" cy="997594"/>
          </a:xfrm>
        </p:grpSpPr>
        <p:sp>
          <p:nvSpPr>
            <p:cNvPr name="Freeform 46" id="46"/>
            <p:cNvSpPr/>
            <p:nvPr/>
          </p:nvSpPr>
          <p:spPr>
            <a:xfrm flipH="false" flipV="false" rot="0">
              <a:off x="0" y="0"/>
              <a:ext cx="6882384" cy="997594"/>
            </a:xfrm>
            <a:custGeom>
              <a:avLst/>
              <a:gdLst/>
              <a:ahLst/>
              <a:cxnLst/>
              <a:rect r="r" b="b" t="t" l="l"/>
              <a:pathLst>
                <a:path h="997594" w="6882384">
                  <a:moveTo>
                    <a:pt x="0" y="0"/>
                  </a:moveTo>
                  <a:lnTo>
                    <a:pt x="6882384" y="0"/>
                  </a:lnTo>
                  <a:lnTo>
                    <a:pt x="6882384" y="997594"/>
                  </a:lnTo>
                  <a:lnTo>
                    <a:pt x="0" y="997594"/>
                  </a:lnTo>
                  <a:close/>
                </a:path>
              </a:pathLst>
            </a:custGeom>
            <a:blipFill>
              <a:blip r:embed="rId3">
                <a:alphaModFix amt="0"/>
              </a:blip>
              <a:stretch>
                <a:fillRect l="0" t="-78449" r="17094" b="-44444"/>
              </a:stretch>
            </a:blipFill>
          </p:spPr>
        </p:sp>
        <p:sp>
          <p:nvSpPr>
            <p:cNvPr name="TextBox 47" id="47"/>
            <p:cNvSpPr txBox="true"/>
            <p:nvPr/>
          </p:nvSpPr>
          <p:spPr>
            <a:xfrm>
              <a:off x="0" y="0"/>
              <a:ext cx="6882384" cy="997594"/>
            </a:xfrm>
            <a:prstGeom prst="rect">
              <a:avLst/>
            </a:prstGeom>
          </p:spPr>
          <p:txBody>
            <a:bodyPr anchor="ctr" rtlCol="false" tIns="0" lIns="0" bIns="0" rIns="0"/>
            <a:lstStyle/>
            <a:p>
              <a:pPr algn="l" marL="0" indent="0" lvl="0">
                <a:lnSpc>
                  <a:spcPts val="2639"/>
                </a:lnSpc>
                <a:spcBef>
                  <a:spcPct val="0"/>
                </a:spcBef>
              </a:pPr>
              <a:r>
                <a:rPr lang="en-US" sz="2199" strike="noStrike" u="none">
                  <a:solidFill>
                    <a:srgbClr val="2B3541"/>
                  </a:solidFill>
                  <a:latin typeface="Aptos"/>
                  <a:ea typeface="Aptos"/>
                  <a:cs typeface="Aptos"/>
                  <a:sym typeface="Aptos"/>
                </a:rPr>
                <a:t>Customer inputs + bank forecasts + historical market returns.</a:t>
              </a:r>
            </a:p>
          </p:txBody>
        </p:sp>
      </p:grpSp>
      <p:grpSp>
        <p:nvGrpSpPr>
          <p:cNvPr name="Group 48" id="48"/>
          <p:cNvGrpSpPr/>
          <p:nvPr/>
        </p:nvGrpSpPr>
        <p:grpSpPr>
          <a:xfrm rot="0">
            <a:off x="9756267" y="6891908"/>
            <a:ext cx="7943710" cy="1030772"/>
            <a:chOff x="0" y="0"/>
            <a:chExt cx="10591613" cy="1374363"/>
          </a:xfrm>
        </p:grpSpPr>
        <p:sp>
          <p:nvSpPr>
            <p:cNvPr name="Freeform 49" id="49"/>
            <p:cNvSpPr/>
            <p:nvPr/>
          </p:nvSpPr>
          <p:spPr>
            <a:xfrm flipH="false" flipV="false" rot="0">
              <a:off x="0" y="0"/>
              <a:ext cx="10591613" cy="1374363"/>
            </a:xfrm>
            <a:custGeom>
              <a:avLst/>
              <a:gdLst/>
              <a:ahLst/>
              <a:cxnLst/>
              <a:rect r="r" b="b" t="t" l="l"/>
              <a:pathLst>
                <a:path h="1374363" w="10591613">
                  <a:moveTo>
                    <a:pt x="0" y="284290"/>
                  </a:moveTo>
                  <a:cubicBezTo>
                    <a:pt x="0" y="127280"/>
                    <a:pt x="114360" y="0"/>
                    <a:pt x="255434" y="0"/>
                  </a:cubicBezTo>
                  <a:lnTo>
                    <a:pt x="10336179" y="0"/>
                  </a:lnTo>
                  <a:cubicBezTo>
                    <a:pt x="10477253" y="0"/>
                    <a:pt x="10591613" y="127280"/>
                    <a:pt x="10591613" y="284290"/>
                  </a:cubicBezTo>
                  <a:lnTo>
                    <a:pt x="10591613" y="1090073"/>
                  </a:lnTo>
                  <a:cubicBezTo>
                    <a:pt x="10591613" y="1247083"/>
                    <a:pt x="10477253" y="1374363"/>
                    <a:pt x="10336179" y="1374363"/>
                  </a:cubicBezTo>
                  <a:lnTo>
                    <a:pt x="255434" y="1374363"/>
                  </a:lnTo>
                  <a:cubicBezTo>
                    <a:pt x="114360" y="1374363"/>
                    <a:pt x="0" y="1247083"/>
                    <a:pt x="0" y="1090073"/>
                  </a:cubicBezTo>
                  <a:close/>
                </a:path>
              </a:pathLst>
            </a:custGeom>
            <a:solidFill>
              <a:srgbClr val="FAF5EB"/>
            </a:solidFill>
            <a:ln w="19050" cap="sq">
              <a:solidFill>
                <a:srgbClr val="D5D0C5"/>
              </a:solidFill>
              <a:prstDash val="solid"/>
              <a:miter/>
            </a:ln>
          </p:spPr>
        </p:sp>
      </p:grpSp>
      <p:grpSp>
        <p:nvGrpSpPr>
          <p:cNvPr name="Group 50" id="50"/>
          <p:cNvGrpSpPr/>
          <p:nvPr/>
        </p:nvGrpSpPr>
        <p:grpSpPr>
          <a:xfrm rot="0">
            <a:off x="9985248" y="7120601"/>
            <a:ext cx="411480" cy="486249"/>
            <a:chOff x="0" y="0"/>
            <a:chExt cx="548640" cy="648332"/>
          </a:xfrm>
        </p:grpSpPr>
        <p:sp>
          <p:nvSpPr>
            <p:cNvPr name="Freeform 51" id="51"/>
            <p:cNvSpPr/>
            <p:nvPr/>
          </p:nvSpPr>
          <p:spPr>
            <a:xfrm flipH="false" flipV="false" rot="0">
              <a:off x="0" y="0"/>
              <a:ext cx="548640" cy="648332"/>
            </a:xfrm>
            <a:custGeom>
              <a:avLst/>
              <a:gdLst/>
              <a:ahLst/>
              <a:cxnLst/>
              <a:rect r="r" b="b" t="t" l="l"/>
              <a:pathLst>
                <a:path h="648332" w="548640">
                  <a:moveTo>
                    <a:pt x="0" y="0"/>
                  </a:moveTo>
                  <a:lnTo>
                    <a:pt x="548640" y="0"/>
                  </a:lnTo>
                  <a:lnTo>
                    <a:pt x="548640" y="648332"/>
                  </a:lnTo>
                  <a:lnTo>
                    <a:pt x="0" y="648332"/>
                  </a:lnTo>
                  <a:close/>
                </a:path>
              </a:pathLst>
            </a:custGeom>
            <a:blipFill>
              <a:blip r:embed="rId3">
                <a:alphaModFix amt="0"/>
              </a:blip>
              <a:stretch>
                <a:fillRect l="-69749" t="0" r="-69749" b="21018"/>
              </a:stretch>
            </a:blipFill>
          </p:spPr>
        </p:sp>
        <p:sp>
          <p:nvSpPr>
            <p:cNvPr name="TextBox 52" id="52"/>
            <p:cNvSpPr txBox="true"/>
            <p:nvPr/>
          </p:nvSpPr>
          <p:spPr>
            <a:xfrm>
              <a:off x="0" y="0"/>
              <a:ext cx="548640" cy="648332"/>
            </a:xfrm>
            <a:prstGeom prst="rect">
              <a:avLst/>
            </a:prstGeom>
          </p:spPr>
          <p:txBody>
            <a:bodyPr anchor="ctr" rtlCol="false" tIns="0" lIns="0" bIns="0" rIns="0"/>
            <a:lstStyle/>
            <a:p>
              <a:pPr algn="ctr" marL="0" indent="0" lvl="0">
                <a:lnSpc>
                  <a:spcPts val="2639"/>
                </a:lnSpc>
                <a:spcBef>
                  <a:spcPct val="0"/>
                </a:spcBef>
              </a:pPr>
              <a:r>
                <a:rPr lang="en-US" b="true" sz="2199" strike="noStrike" u="none">
                  <a:solidFill>
                    <a:srgbClr val="3371A5"/>
                  </a:solidFill>
                  <a:latin typeface="Aptos Bold"/>
                  <a:ea typeface="Aptos Bold"/>
                  <a:cs typeface="Aptos Bold"/>
                  <a:sym typeface="Aptos Bold"/>
                </a:rPr>
                <a:t>4</a:t>
              </a:r>
            </a:p>
          </p:txBody>
        </p:sp>
      </p:grpSp>
      <p:grpSp>
        <p:nvGrpSpPr>
          <p:cNvPr name="Group 53" id="53"/>
          <p:cNvGrpSpPr/>
          <p:nvPr/>
        </p:nvGrpSpPr>
        <p:grpSpPr>
          <a:xfrm rot="0">
            <a:off x="10616184" y="6925075"/>
            <a:ext cx="1577340" cy="877028"/>
            <a:chOff x="0" y="0"/>
            <a:chExt cx="2103120" cy="1169370"/>
          </a:xfrm>
        </p:grpSpPr>
        <p:sp>
          <p:nvSpPr>
            <p:cNvPr name="Freeform 54" id="54"/>
            <p:cNvSpPr/>
            <p:nvPr/>
          </p:nvSpPr>
          <p:spPr>
            <a:xfrm flipH="false" flipV="false" rot="0">
              <a:off x="0" y="0"/>
              <a:ext cx="2103120" cy="1169370"/>
            </a:xfrm>
            <a:custGeom>
              <a:avLst/>
              <a:gdLst/>
              <a:ahLst/>
              <a:cxnLst/>
              <a:rect r="r" b="b" t="t" l="l"/>
              <a:pathLst>
                <a:path h="1169370" w="2103120">
                  <a:moveTo>
                    <a:pt x="0" y="0"/>
                  </a:moveTo>
                  <a:lnTo>
                    <a:pt x="2103120" y="0"/>
                  </a:lnTo>
                  <a:lnTo>
                    <a:pt x="2103120" y="1169370"/>
                  </a:lnTo>
                  <a:lnTo>
                    <a:pt x="0" y="1169370"/>
                  </a:lnTo>
                  <a:close/>
                </a:path>
              </a:pathLst>
            </a:custGeom>
            <a:blipFill>
              <a:blip r:embed="rId3">
                <a:alphaModFix amt="0"/>
              </a:blip>
              <a:stretch>
                <a:fillRect l="0" t="-13149" r="0" b="43061"/>
              </a:stretch>
            </a:blipFill>
          </p:spPr>
        </p:sp>
        <p:sp>
          <p:nvSpPr>
            <p:cNvPr name="TextBox 55" id="55"/>
            <p:cNvSpPr txBox="true"/>
            <p:nvPr/>
          </p:nvSpPr>
          <p:spPr>
            <a:xfrm>
              <a:off x="0" y="0"/>
              <a:ext cx="2103120" cy="1169370"/>
            </a:xfrm>
            <a:prstGeom prst="rect">
              <a:avLst/>
            </a:prstGeom>
          </p:spPr>
          <p:txBody>
            <a:bodyPr anchor="ctr" rtlCol="false" tIns="0" lIns="0" bIns="0" rIns="0"/>
            <a:lstStyle/>
            <a:p>
              <a:pPr algn="l" marL="0" indent="0" lvl="0">
                <a:lnSpc>
                  <a:spcPts val="2639"/>
                </a:lnSpc>
                <a:spcBef>
                  <a:spcPct val="0"/>
                </a:spcBef>
              </a:pPr>
              <a:r>
                <a:rPr lang="en-US" b="true" sz="2199" strike="noStrike" u="none">
                  <a:solidFill>
                    <a:srgbClr val="2B3541"/>
                  </a:solidFill>
                  <a:latin typeface="Aptos Bold"/>
                  <a:ea typeface="Aptos Bold"/>
                  <a:cs typeface="Aptos Bold"/>
                  <a:sym typeface="Aptos Bold"/>
                </a:rPr>
                <a:t>Decision quality</a:t>
              </a:r>
            </a:p>
          </p:txBody>
        </p:sp>
      </p:grpSp>
      <p:grpSp>
        <p:nvGrpSpPr>
          <p:cNvPr name="Group 56" id="56"/>
          <p:cNvGrpSpPr/>
          <p:nvPr/>
        </p:nvGrpSpPr>
        <p:grpSpPr>
          <a:xfrm rot="0">
            <a:off x="12097512" y="7017780"/>
            <a:ext cx="5280660" cy="877027"/>
            <a:chOff x="0" y="0"/>
            <a:chExt cx="7040880" cy="1169370"/>
          </a:xfrm>
        </p:grpSpPr>
        <p:sp>
          <p:nvSpPr>
            <p:cNvPr name="Freeform 57" id="57"/>
            <p:cNvSpPr/>
            <p:nvPr/>
          </p:nvSpPr>
          <p:spPr>
            <a:xfrm flipH="false" flipV="false" rot="0">
              <a:off x="0" y="0"/>
              <a:ext cx="7040880" cy="1169370"/>
            </a:xfrm>
            <a:custGeom>
              <a:avLst/>
              <a:gdLst/>
              <a:ahLst/>
              <a:cxnLst/>
              <a:rect r="r" b="b" t="t" l="l"/>
              <a:pathLst>
                <a:path h="1169370" w="7040880">
                  <a:moveTo>
                    <a:pt x="0" y="0"/>
                  </a:moveTo>
                  <a:lnTo>
                    <a:pt x="7040880" y="0"/>
                  </a:lnTo>
                  <a:lnTo>
                    <a:pt x="7040880" y="1169370"/>
                  </a:lnTo>
                  <a:lnTo>
                    <a:pt x="0" y="1169370"/>
                  </a:lnTo>
                  <a:close/>
                </a:path>
              </a:pathLst>
            </a:custGeom>
            <a:blipFill>
              <a:blip r:embed="rId3">
                <a:alphaModFix amt="0"/>
              </a:blip>
              <a:stretch>
                <a:fillRect l="0" t="-66925" r="18961" b="-23226"/>
              </a:stretch>
            </a:blipFill>
          </p:spPr>
        </p:sp>
        <p:sp>
          <p:nvSpPr>
            <p:cNvPr name="TextBox 58" id="58"/>
            <p:cNvSpPr txBox="true"/>
            <p:nvPr/>
          </p:nvSpPr>
          <p:spPr>
            <a:xfrm>
              <a:off x="0" y="0"/>
              <a:ext cx="7040880" cy="1169370"/>
            </a:xfrm>
            <a:prstGeom prst="rect">
              <a:avLst/>
            </a:prstGeom>
          </p:spPr>
          <p:txBody>
            <a:bodyPr anchor="ctr" rtlCol="false" tIns="0" lIns="0" bIns="0" rIns="0"/>
            <a:lstStyle/>
            <a:p>
              <a:pPr algn="l" marL="0" indent="0" lvl="0">
                <a:lnSpc>
                  <a:spcPts val="2639"/>
                </a:lnSpc>
                <a:spcBef>
                  <a:spcPct val="0"/>
                </a:spcBef>
              </a:pPr>
              <a:r>
                <a:rPr lang="en-US" sz="2199" strike="noStrike" u="none">
                  <a:solidFill>
                    <a:srgbClr val="2B3541"/>
                  </a:solidFill>
                  <a:latin typeface="Aptos"/>
                  <a:ea typeface="Aptos"/>
                  <a:cs typeface="Aptos"/>
                  <a:sym typeface="Aptos"/>
                </a:rPr>
                <a:t>Benchmark performance + risk/return + bank profitability.</a:t>
              </a:r>
            </a:p>
          </p:txBody>
        </p:sp>
      </p:grpSp>
      <p:grpSp>
        <p:nvGrpSpPr>
          <p:cNvPr name="Group 59" id="59"/>
          <p:cNvGrpSpPr/>
          <p:nvPr/>
        </p:nvGrpSpPr>
        <p:grpSpPr>
          <a:xfrm rot="0">
            <a:off x="9756267" y="8094130"/>
            <a:ext cx="7943710" cy="879356"/>
            <a:chOff x="0" y="0"/>
            <a:chExt cx="10591613" cy="1172475"/>
          </a:xfrm>
        </p:grpSpPr>
        <p:sp>
          <p:nvSpPr>
            <p:cNvPr name="Freeform 60" id="60"/>
            <p:cNvSpPr/>
            <p:nvPr/>
          </p:nvSpPr>
          <p:spPr>
            <a:xfrm flipH="false" flipV="false" rot="0">
              <a:off x="0" y="0"/>
              <a:ext cx="10591613" cy="1172475"/>
            </a:xfrm>
            <a:custGeom>
              <a:avLst/>
              <a:gdLst/>
              <a:ahLst/>
              <a:cxnLst/>
              <a:rect r="r" b="b" t="t" l="l"/>
              <a:pathLst>
                <a:path h="1172475" w="10591613">
                  <a:moveTo>
                    <a:pt x="0" y="242529"/>
                  </a:moveTo>
                  <a:cubicBezTo>
                    <a:pt x="0" y="108583"/>
                    <a:pt x="114360" y="0"/>
                    <a:pt x="255434" y="0"/>
                  </a:cubicBezTo>
                  <a:lnTo>
                    <a:pt x="10336179" y="0"/>
                  </a:lnTo>
                  <a:cubicBezTo>
                    <a:pt x="10477253" y="0"/>
                    <a:pt x="10591613" y="108583"/>
                    <a:pt x="10591613" y="242529"/>
                  </a:cubicBezTo>
                  <a:lnTo>
                    <a:pt x="10591613" y="929946"/>
                  </a:lnTo>
                  <a:cubicBezTo>
                    <a:pt x="10591613" y="1063892"/>
                    <a:pt x="10477253" y="1172475"/>
                    <a:pt x="10336179" y="1172475"/>
                  </a:cubicBezTo>
                  <a:lnTo>
                    <a:pt x="255434" y="1172475"/>
                  </a:lnTo>
                  <a:cubicBezTo>
                    <a:pt x="114360" y="1172475"/>
                    <a:pt x="0" y="1063892"/>
                    <a:pt x="0" y="929946"/>
                  </a:cubicBezTo>
                  <a:close/>
                </a:path>
              </a:pathLst>
            </a:custGeom>
            <a:solidFill>
              <a:srgbClr val="FAF5EB"/>
            </a:solidFill>
            <a:ln w="19050" cap="sq">
              <a:solidFill>
                <a:srgbClr val="D5D0C5"/>
              </a:solidFill>
              <a:prstDash val="solid"/>
              <a:miter/>
            </a:ln>
          </p:spPr>
        </p:sp>
      </p:grpSp>
      <p:grpSp>
        <p:nvGrpSpPr>
          <p:cNvPr name="Group 61" id="61"/>
          <p:cNvGrpSpPr/>
          <p:nvPr/>
        </p:nvGrpSpPr>
        <p:grpSpPr>
          <a:xfrm rot="0">
            <a:off x="9985248" y="8306366"/>
            <a:ext cx="411480" cy="414821"/>
            <a:chOff x="0" y="0"/>
            <a:chExt cx="548640" cy="553094"/>
          </a:xfrm>
        </p:grpSpPr>
        <p:sp>
          <p:nvSpPr>
            <p:cNvPr name="Freeform 62" id="62"/>
            <p:cNvSpPr/>
            <p:nvPr/>
          </p:nvSpPr>
          <p:spPr>
            <a:xfrm flipH="false" flipV="false" rot="0">
              <a:off x="0" y="0"/>
              <a:ext cx="548640" cy="553094"/>
            </a:xfrm>
            <a:custGeom>
              <a:avLst/>
              <a:gdLst/>
              <a:ahLst/>
              <a:cxnLst/>
              <a:rect r="r" b="b" t="t" l="l"/>
              <a:pathLst>
                <a:path h="553094" w="548640">
                  <a:moveTo>
                    <a:pt x="0" y="0"/>
                  </a:moveTo>
                  <a:lnTo>
                    <a:pt x="548640" y="0"/>
                  </a:lnTo>
                  <a:lnTo>
                    <a:pt x="548640" y="553094"/>
                  </a:lnTo>
                  <a:lnTo>
                    <a:pt x="0" y="553094"/>
                  </a:lnTo>
                  <a:close/>
                </a:path>
              </a:pathLst>
            </a:custGeom>
            <a:blipFill>
              <a:blip r:embed="rId3">
                <a:alphaModFix amt="0"/>
              </a:blip>
              <a:stretch>
                <a:fillRect l="-69749" t="0" r="-69749" b="7418"/>
              </a:stretch>
            </a:blipFill>
          </p:spPr>
        </p:sp>
        <p:sp>
          <p:nvSpPr>
            <p:cNvPr name="TextBox 63" id="63"/>
            <p:cNvSpPr txBox="true"/>
            <p:nvPr/>
          </p:nvSpPr>
          <p:spPr>
            <a:xfrm>
              <a:off x="0" y="0"/>
              <a:ext cx="548640" cy="553094"/>
            </a:xfrm>
            <a:prstGeom prst="rect">
              <a:avLst/>
            </a:prstGeom>
          </p:spPr>
          <p:txBody>
            <a:bodyPr anchor="ctr" rtlCol="false" tIns="0" lIns="0" bIns="0" rIns="0"/>
            <a:lstStyle/>
            <a:p>
              <a:pPr algn="ctr" marL="0" indent="0" lvl="0">
                <a:lnSpc>
                  <a:spcPts val="2639"/>
                </a:lnSpc>
                <a:spcBef>
                  <a:spcPct val="0"/>
                </a:spcBef>
              </a:pPr>
              <a:r>
                <a:rPr lang="en-US" b="true" sz="2199" strike="noStrike" u="none">
                  <a:solidFill>
                    <a:srgbClr val="3371A5"/>
                  </a:solidFill>
                  <a:latin typeface="Aptos Bold"/>
                  <a:ea typeface="Aptos Bold"/>
                  <a:cs typeface="Aptos Bold"/>
                  <a:sym typeface="Aptos Bold"/>
                </a:rPr>
                <a:t>5</a:t>
              </a:r>
            </a:p>
          </p:txBody>
        </p:sp>
      </p:grpSp>
      <p:grpSp>
        <p:nvGrpSpPr>
          <p:cNvPr name="Group 64" id="64"/>
          <p:cNvGrpSpPr/>
          <p:nvPr/>
        </p:nvGrpSpPr>
        <p:grpSpPr>
          <a:xfrm rot="0">
            <a:off x="10616184" y="8326397"/>
            <a:ext cx="1577340" cy="414821"/>
            <a:chOff x="0" y="0"/>
            <a:chExt cx="2103120" cy="553095"/>
          </a:xfrm>
        </p:grpSpPr>
        <p:sp>
          <p:nvSpPr>
            <p:cNvPr name="Freeform 65" id="65"/>
            <p:cNvSpPr/>
            <p:nvPr/>
          </p:nvSpPr>
          <p:spPr>
            <a:xfrm flipH="false" flipV="false" rot="0">
              <a:off x="0" y="0"/>
              <a:ext cx="2103120" cy="553095"/>
            </a:xfrm>
            <a:custGeom>
              <a:avLst/>
              <a:gdLst/>
              <a:ahLst/>
              <a:cxnLst/>
              <a:rect r="r" b="b" t="t" l="l"/>
              <a:pathLst>
                <a:path h="553095" w="2103120">
                  <a:moveTo>
                    <a:pt x="0" y="0"/>
                  </a:moveTo>
                  <a:lnTo>
                    <a:pt x="2103120" y="0"/>
                  </a:lnTo>
                  <a:lnTo>
                    <a:pt x="2103120" y="553095"/>
                  </a:lnTo>
                  <a:lnTo>
                    <a:pt x="0" y="553095"/>
                  </a:lnTo>
                  <a:close/>
                </a:path>
              </a:pathLst>
            </a:custGeom>
            <a:blipFill>
              <a:blip r:embed="rId3">
                <a:alphaModFix amt="0"/>
              </a:blip>
              <a:stretch>
                <a:fillRect l="0" t="-27800" r="0" b="-20381"/>
              </a:stretch>
            </a:blipFill>
          </p:spPr>
        </p:sp>
        <p:sp>
          <p:nvSpPr>
            <p:cNvPr name="TextBox 66" id="66"/>
            <p:cNvSpPr txBox="true"/>
            <p:nvPr/>
          </p:nvSpPr>
          <p:spPr>
            <a:xfrm>
              <a:off x="0" y="0"/>
              <a:ext cx="2103120" cy="553095"/>
            </a:xfrm>
            <a:prstGeom prst="rect">
              <a:avLst/>
            </a:prstGeom>
          </p:spPr>
          <p:txBody>
            <a:bodyPr anchor="ctr" rtlCol="false" tIns="0" lIns="0" bIns="0" rIns="0"/>
            <a:lstStyle/>
            <a:p>
              <a:pPr algn="l" marL="0" indent="0" lvl="0">
                <a:lnSpc>
                  <a:spcPts val="2639"/>
                </a:lnSpc>
                <a:spcBef>
                  <a:spcPct val="0"/>
                </a:spcBef>
              </a:pPr>
              <a:r>
                <a:rPr lang="en-US" b="true" sz="2199" strike="noStrike" u="none">
                  <a:solidFill>
                    <a:srgbClr val="2B3541"/>
                  </a:solidFill>
                  <a:latin typeface="Aptos Bold"/>
                  <a:ea typeface="Aptos Bold"/>
                  <a:cs typeface="Aptos Bold"/>
                  <a:sym typeface="Aptos Bold"/>
                </a:rPr>
                <a:t>OR lesson</a:t>
              </a:r>
            </a:p>
          </p:txBody>
        </p:sp>
      </p:grpSp>
      <p:grpSp>
        <p:nvGrpSpPr>
          <p:cNvPr name="Group 67" id="67"/>
          <p:cNvGrpSpPr/>
          <p:nvPr/>
        </p:nvGrpSpPr>
        <p:grpSpPr>
          <a:xfrm rot="0">
            <a:off x="12097512" y="8222866"/>
            <a:ext cx="5161788" cy="748196"/>
            <a:chOff x="0" y="0"/>
            <a:chExt cx="6882384" cy="997594"/>
          </a:xfrm>
        </p:grpSpPr>
        <p:sp>
          <p:nvSpPr>
            <p:cNvPr name="Freeform 68" id="68"/>
            <p:cNvSpPr/>
            <p:nvPr/>
          </p:nvSpPr>
          <p:spPr>
            <a:xfrm flipH="false" flipV="false" rot="0">
              <a:off x="0" y="0"/>
              <a:ext cx="6882384" cy="997594"/>
            </a:xfrm>
            <a:custGeom>
              <a:avLst/>
              <a:gdLst/>
              <a:ahLst/>
              <a:cxnLst/>
              <a:rect r="r" b="b" t="t" l="l"/>
              <a:pathLst>
                <a:path h="997594" w="6882384">
                  <a:moveTo>
                    <a:pt x="0" y="0"/>
                  </a:moveTo>
                  <a:lnTo>
                    <a:pt x="6882384" y="0"/>
                  </a:lnTo>
                  <a:lnTo>
                    <a:pt x="6882384" y="997594"/>
                  </a:lnTo>
                  <a:lnTo>
                    <a:pt x="0" y="997594"/>
                  </a:lnTo>
                  <a:close/>
                </a:path>
              </a:pathLst>
            </a:custGeom>
            <a:blipFill>
              <a:blip r:embed="rId3">
                <a:alphaModFix amt="0"/>
              </a:blip>
              <a:stretch>
                <a:fillRect l="0" t="-78449" r="17094" b="-44444"/>
              </a:stretch>
            </a:blipFill>
          </p:spPr>
        </p:sp>
        <p:sp>
          <p:nvSpPr>
            <p:cNvPr name="TextBox 69" id="69"/>
            <p:cNvSpPr txBox="true"/>
            <p:nvPr/>
          </p:nvSpPr>
          <p:spPr>
            <a:xfrm>
              <a:off x="0" y="0"/>
              <a:ext cx="6882384" cy="997594"/>
            </a:xfrm>
            <a:prstGeom prst="rect">
              <a:avLst/>
            </a:prstGeom>
          </p:spPr>
          <p:txBody>
            <a:bodyPr anchor="ctr" rtlCol="false" tIns="0" lIns="0" bIns="0" rIns="0"/>
            <a:lstStyle/>
            <a:p>
              <a:pPr algn="l" marL="0" indent="0" lvl="0">
                <a:lnSpc>
                  <a:spcPts val="2639"/>
                </a:lnSpc>
                <a:spcBef>
                  <a:spcPct val="0"/>
                </a:spcBef>
              </a:pPr>
              <a:r>
                <a:rPr lang="en-US" sz="2199" strike="noStrike" u="none">
                  <a:solidFill>
                    <a:srgbClr val="2B3541"/>
                  </a:solidFill>
                  <a:latin typeface="Aptos"/>
                  <a:ea typeface="Aptos"/>
                  <a:cs typeface="Aptos"/>
                  <a:sym typeface="Aptos"/>
                </a:rPr>
                <a:t>Optimize the decision, but keep the human in the loop.</a:t>
              </a:r>
            </a:p>
          </p:txBody>
        </p:sp>
      </p:grpSp>
      <p:grpSp>
        <p:nvGrpSpPr>
          <p:cNvPr name="Group 70" id="70"/>
          <p:cNvGrpSpPr/>
          <p:nvPr/>
        </p:nvGrpSpPr>
        <p:grpSpPr>
          <a:xfrm rot="0">
            <a:off x="819914" y="7922680"/>
            <a:ext cx="8107781" cy="1819040"/>
            <a:chOff x="0" y="0"/>
            <a:chExt cx="10810375" cy="2425387"/>
          </a:xfrm>
        </p:grpSpPr>
        <p:sp>
          <p:nvSpPr>
            <p:cNvPr name="Freeform 71" id="71"/>
            <p:cNvSpPr/>
            <p:nvPr/>
          </p:nvSpPr>
          <p:spPr>
            <a:xfrm flipH="false" flipV="false" rot="0">
              <a:off x="0" y="0"/>
              <a:ext cx="10810374" cy="2425387"/>
            </a:xfrm>
            <a:custGeom>
              <a:avLst/>
              <a:gdLst/>
              <a:ahLst/>
              <a:cxnLst/>
              <a:rect r="r" b="b" t="t" l="l"/>
              <a:pathLst>
                <a:path h="2425387" w="10810374">
                  <a:moveTo>
                    <a:pt x="0" y="334653"/>
                  </a:moveTo>
                  <a:cubicBezTo>
                    <a:pt x="0" y="149743"/>
                    <a:pt x="77815" y="0"/>
                    <a:pt x="173905" y="0"/>
                  </a:cubicBezTo>
                  <a:lnTo>
                    <a:pt x="10636470" y="0"/>
                  </a:lnTo>
                  <a:cubicBezTo>
                    <a:pt x="10732412" y="0"/>
                    <a:pt x="10810374" y="149743"/>
                    <a:pt x="10810374" y="334653"/>
                  </a:cubicBezTo>
                  <a:lnTo>
                    <a:pt x="10810374" y="2090733"/>
                  </a:lnTo>
                  <a:cubicBezTo>
                    <a:pt x="10810374" y="2275360"/>
                    <a:pt x="10732560" y="2425387"/>
                    <a:pt x="10636470" y="2425387"/>
                  </a:cubicBezTo>
                  <a:lnTo>
                    <a:pt x="173905" y="2425387"/>
                  </a:lnTo>
                  <a:cubicBezTo>
                    <a:pt x="77815" y="2425387"/>
                    <a:pt x="0" y="2275643"/>
                    <a:pt x="0" y="2090733"/>
                  </a:cubicBezTo>
                  <a:close/>
                </a:path>
              </a:pathLst>
            </a:custGeom>
            <a:solidFill>
              <a:srgbClr val="F4E8CF"/>
            </a:solidFill>
            <a:ln w="19050" cap="sq">
              <a:solidFill>
                <a:srgbClr val="F4E8CF"/>
              </a:solidFill>
              <a:prstDash val="solid"/>
              <a:miter/>
            </a:ln>
          </p:spPr>
        </p:sp>
      </p:grpSp>
      <p:sp>
        <p:nvSpPr>
          <p:cNvPr name="AutoShape 72" id="72"/>
          <p:cNvSpPr/>
          <p:nvPr/>
        </p:nvSpPr>
        <p:spPr>
          <a:xfrm flipH="true" flipV="true">
            <a:off x="1134409" y="8124727"/>
            <a:ext cx="9525" cy="1408129"/>
          </a:xfrm>
          <a:prstGeom prst="line">
            <a:avLst/>
          </a:prstGeom>
          <a:ln cap="rnd" w="19050">
            <a:solidFill>
              <a:srgbClr val="3371A5"/>
            </a:solidFill>
            <a:prstDash val="solid"/>
            <a:headEnd type="none" len="sm" w="sm"/>
            <a:tailEnd type="none" len="sm" w="sm"/>
          </a:ln>
        </p:spPr>
      </p:sp>
      <p:grpSp>
        <p:nvGrpSpPr>
          <p:cNvPr name="Group 73" id="73"/>
          <p:cNvGrpSpPr/>
          <p:nvPr/>
        </p:nvGrpSpPr>
        <p:grpSpPr>
          <a:xfrm rot="0">
            <a:off x="1349730" y="8124727"/>
            <a:ext cx="7263855" cy="1414946"/>
            <a:chOff x="0" y="0"/>
            <a:chExt cx="9685141" cy="1886595"/>
          </a:xfrm>
        </p:grpSpPr>
        <p:sp>
          <p:nvSpPr>
            <p:cNvPr name="Freeform 74" id="74"/>
            <p:cNvSpPr/>
            <p:nvPr/>
          </p:nvSpPr>
          <p:spPr>
            <a:xfrm flipH="false" flipV="false" rot="0">
              <a:off x="0" y="0"/>
              <a:ext cx="9685141" cy="1886595"/>
            </a:xfrm>
            <a:custGeom>
              <a:avLst/>
              <a:gdLst/>
              <a:ahLst/>
              <a:cxnLst/>
              <a:rect r="r" b="b" t="t" l="l"/>
              <a:pathLst>
                <a:path h="1886595" w="9685141">
                  <a:moveTo>
                    <a:pt x="0" y="0"/>
                  </a:moveTo>
                  <a:lnTo>
                    <a:pt x="9685141" y="0"/>
                  </a:lnTo>
                  <a:lnTo>
                    <a:pt x="9685141" y="1886595"/>
                  </a:lnTo>
                  <a:lnTo>
                    <a:pt x="0" y="1886595"/>
                  </a:lnTo>
                  <a:close/>
                </a:path>
              </a:pathLst>
            </a:custGeom>
            <a:blipFill>
              <a:blip r:embed="rId3">
                <a:alphaModFix amt="0"/>
              </a:blip>
              <a:stretch>
                <a:fillRect l="0" t="-68467" r="13140" b="-5303"/>
              </a:stretch>
            </a:blipFill>
          </p:spPr>
        </p:sp>
        <p:sp>
          <p:nvSpPr>
            <p:cNvPr name="TextBox 75" id="75"/>
            <p:cNvSpPr txBox="true"/>
            <p:nvPr/>
          </p:nvSpPr>
          <p:spPr>
            <a:xfrm>
              <a:off x="0" y="0"/>
              <a:ext cx="9685141" cy="1886595"/>
            </a:xfrm>
            <a:prstGeom prst="rect">
              <a:avLst/>
            </a:prstGeom>
          </p:spPr>
          <p:txBody>
            <a:bodyPr anchor="ctr" rtlCol="false" tIns="0" lIns="0" bIns="0" rIns="0"/>
            <a:lstStyle/>
            <a:p>
              <a:pPr algn="l">
                <a:lnSpc>
                  <a:spcPts val="2639"/>
                </a:lnSpc>
              </a:pPr>
              <a:r>
                <a:rPr lang="en-US" sz="2199">
                  <a:solidFill>
                    <a:srgbClr val="2B3541"/>
                  </a:solidFill>
                  <a:latin typeface="Aptos"/>
                  <a:ea typeface="Aptos"/>
                  <a:cs typeface="Aptos"/>
                  <a:sym typeface="Aptos"/>
                </a:rPr>
                <a:t>Evaluation caveat: the bank itself acknowledges uncertainty about customer selection into the Opti-Money user group, so comparisons of profitability should be interpreted as observational case-study evidence.</a:t>
              </a:r>
            </a:p>
          </p:txBody>
        </p:sp>
      </p:grpSp>
      <p:grpSp>
        <p:nvGrpSpPr>
          <p:cNvPr name="Group 76" id="76"/>
          <p:cNvGrpSpPr/>
          <p:nvPr/>
        </p:nvGrpSpPr>
        <p:grpSpPr>
          <a:xfrm rot="0">
            <a:off x="842776" y="265868"/>
            <a:ext cx="7297064" cy="688537"/>
            <a:chOff x="0" y="0"/>
            <a:chExt cx="8979159" cy="847257"/>
          </a:xfrm>
        </p:grpSpPr>
        <p:sp>
          <p:nvSpPr>
            <p:cNvPr name="Freeform 77" id="77"/>
            <p:cNvSpPr/>
            <p:nvPr/>
          </p:nvSpPr>
          <p:spPr>
            <a:xfrm flipH="false" flipV="false" rot="0">
              <a:off x="0" y="0"/>
              <a:ext cx="8978903" cy="847257"/>
            </a:xfrm>
            <a:custGeom>
              <a:avLst/>
              <a:gdLst/>
              <a:ahLst/>
              <a:cxnLst/>
              <a:rect r="r" b="b" t="t" l="l"/>
              <a:pathLst>
                <a:path h="847257" w="8978903">
                  <a:moveTo>
                    <a:pt x="0" y="282356"/>
                  </a:moveTo>
                  <a:cubicBezTo>
                    <a:pt x="0" y="126521"/>
                    <a:pt x="213586" y="0"/>
                    <a:pt x="476657" y="0"/>
                  </a:cubicBezTo>
                  <a:lnTo>
                    <a:pt x="8502246" y="0"/>
                  </a:lnTo>
                  <a:cubicBezTo>
                    <a:pt x="8765637" y="0"/>
                    <a:pt x="8978903" y="126521"/>
                    <a:pt x="8978903" y="282356"/>
                  </a:cubicBezTo>
                  <a:lnTo>
                    <a:pt x="8978903" y="564901"/>
                  </a:lnTo>
                  <a:cubicBezTo>
                    <a:pt x="8978903" y="720925"/>
                    <a:pt x="8765318" y="847257"/>
                    <a:pt x="8502246" y="847257"/>
                  </a:cubicBezTo>
                  <a:lnTo>
                    <a:pt x="476657" y="847257"/>
                  </a:lnTo>
                  <a:cubicBezTo>
                    <a:pt x="213586" y="847257"/>
                    <a:pt x="0" y="720735"/>
                    <a:pt x="0" y="564901"/>
                  </a:cubicBezTo>
                  <a:close/>
                </a:path>
              </a:pathLst>
            </a:custGeom>
            <a:solidFill>
              <a:srgbClr val="FAF5EB"/>
            </a:solidFill>
            <a:ln w="15240" cap="sq">
              <a:solidFill>
                <a:srgbClr val="3371A5"/>
              </a:solidFill>
              <a:prstDash val="solid"/>
              <a:miter/>
            </a:ln>
          </p:spPr>
        </p:sp>
      </p:grpSp>
      <p:grpSp>
        <p:nvGrpSpPr>
          <p:cNvPr name="Group 78" id="78"/>
          <p:cNvGrpSpPr/>
          <p:nvPr/>
        </p:nvGrpSpPr>
        <p:grpSpPr>
          <a:xfrm rot="0">
            <a:off x="1134409" y="355000"/>
            <a:ext cx="6713796" cy="510272"/>
            <a:chOff x="0" y="0"/>
            <a:chExt cx="8951728" cy="680363"/>
          </a:xfrm>
        </p:grpSpPr>
        <p:sp>
          <p:nvSpPr>
            <p:cNvPr name="Freeform 79" id="79"/>
            <p:cNvSpPr/>
            <p:nvPr/>
          </p:nvSpPr>
          <p:spPr>
            <a:xfrm flipH="false" flipV="false" rot="0">
              <a:off x="0" y="0"/>
              <a:ext cx="8951729" cy="680363"/>
            </a:xfrm>
            <a:custGeom>
              <a:avLst/>
              <a:gdLst/>
              <a:ahLst/>
              <a:cxnLst/>
              <a:rect r="r" b="b" t="t" l="l"/>
              <a:pathLst>
                <a:path h="680363" w="8951729">
                  <a:moveTo>
                    <a:pt x="0" y="0"/>
                  </a:moveTo>
                  <a:lnTo>
                    <a:pt x="8951729" y="0"/>
                  </a:lnTo>
                  <a:lnTo>
                    <a:pt x="8951729" y="680363"/>
                  </a:lnTo>
                  <a:lnTo>
                    <a:pt x="0" y="680363"/>
                  </a:lnTo>
                  <a:close/>
                </a:path>
              </a:pathLst>
            </a:custGeom>
            <a:blipFill>
              <a:blip r:embed="rId3">
                <a:alphaModFix amt="0"/>
              </a:blip>
              <a:stretch>
                <a:fillRect l="0" t="-56294" r="64411" b="-26181"/>
              </a:stretch>
            </a:blipFill>
          </p:spPr>
        </p:sp>
        <p:sp>
          <p:nvSpPr>
            <p:cNvPr name="TextBox 80" id="80"/>
            <p:cNvSpPr txBox="true"/>
            <p:nvPr/>
          </p:nvSpPr>
          <p:spPr>
            <a:xfrm>
              <a:off x="0" y="0"/>
              <a:ext cx="8951728" cy="680363"/>
            </a:xfrm>
            <a:prstGeom prst="rect">
              <a:avLst/>
            </a:prstGeom>
          </p:spPr>
          <p:txBody>
            <a:bodyPr anchor="ctr" rtlCol="false" tIns="0" lIns="0" bIns="0" rIns="0"/>
            <a:lstStyle/>
            <a:p>
              <a:pPr algn="l">
                <a:lnSpc>
                  <a:spcPts val="3264"/>
                </a:lnSpc>
              </a:pPr>
              <a:r>
                <a:rPr lang="en-US" sz="2720" b="true">
                  <a:solidFill>
                    <a:srgbClr val="3371A5"/>
                  </a:solidFill>
                  <a:latin typeface="Aptos Bold"/>
                  <a:ea typeface="Aptos Bold"/>
                  <a:cs typeface="Aptos Bold"/>
                  <a:sym typeface="Aptos Bold"/>
                </a:rPr>
                <a:t>SECTION 13 — LIMITATIONS &amp; TAKEAWAYS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DAHVt5paRVs</dc:identifier>
  <dcterms:modified xsi:type="dcterms:W3CDTF">2011-08-01T06:04:30Z</dcterms:modified>
  <cp:revision>1</cp:revision>
  <dc:title>Opti-Money_Bank_Hapoalim_15_Slides_Template_Style.pptx</dc:title>
</cp:coreProperties>
</file>